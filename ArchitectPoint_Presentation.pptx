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8db0af7-1b1b-d900-f959-7d6e6dce5fe7}">
          <p14:sldIdLst>
            <p14:sldId id="256"/>
            <p14:sldId id="257"/>
          </p14:sldIdLst>
        </p14:section>
        <p14:section name="The team" id="{e80daa11-e43f-8b76-e9da-987a8adb0824}">
          <p14:sldIdLst>
            <p14:sldId id="258"/>
            <p14:sldId id="259"/>
          </p14:sldIdLst>
        </p14:section>
        <p14:section name="The project" id="{5484e9db-af56-5551-0a63-08c314b1a32d}">
          <p14:sldIdLst>
            <p14:sldId id="260"/>
            <p14:sldId id="261"/>
            <p14:sldId id="262"/>
            <p14:sldId id="263"/>
            <p14:sldId id="264"/>
            <p14:sldId id="265"/>
          </p14:sldIdLst>
        </p14:section>
        <p14:section name="Architecture &amp; tech" id="{89011dca-4408-2667-d9d1-98e5d708196b}">
          <p14:sldIdLst>
            <p14:sldId id="266"/>
            <p14:sldId id="267"/>
            <p14:sldId id="268"/>
            <p14:sldId id="269"/>
            <p14:sldId id="270"/>
            <p14:sldId id="271"/>
          </p14:sldIdLst>
        </p14:section>
        <p14:section name="Journey &amp; road ahead" id="{d97468c3-dc75-4832-80e9-7cdb336bad3a}">
          <p14:sldIdLst>
            <p14:sldId id="272"/>
            <p14:sldId id="273"/>
            <p14:sldId id="274"/>
            <p14:sldId id="275"/>
          </p14:sldIdLst>
        </p14:section>
        <p14:section name="Closing" id="{fc234bf7-32b1-4d42-3312-97969c6a1459}">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1A"/>
                </a:solidFill>
                <a:latin typeface="+mn-lt"/>
              </a:defRPr>
            </a:pPr>
            <a:r>
              <a:rPr sz="1400" b="0" i="0" u="none" strike="noStrike">
                <a:solidFill>
                  <a:srgbClr val="1A1A1A"/>
                </a:solidFill>
                <a:latin typeface="+mn-lt"/>
              </a:rPr>
              <a:t>Endpoints per controller</a:t>
            </a:r>
          </a:p>
        </c:rich>
      </c:tx>
      <c:layout/>
      <c:overlay val="0"/>
    </c:title>
    <c:autoTitleDeleted val="0"/>
    <c:plotArea>
      <c:layout/>
      <c:barChart>
        <c:barDir val="bar"/>
        <c:grouping val="clustered"/>
        <c:varyColors val="0"/>
        <c:ser>
          <c:idx val="0"/>
          <c:order val="0"/>
          <c:tx>
            <c:strRef>
              <c:f>Sheet1!$B$1</c:f>
              <c:strCache>
                <c:ptCount val="1"/>
                <c:pt idx="0">
                  <c:v>Endpoints</c:v>
                </c:pt>
              </c:strCache>
            </c:strRef>
          </c:tx>
          <c:spPr>
            <a:solidFill>
              <a:srgbClr val="F15A22"/>
            </a:solidFill>
            <a:effectLst/>
          </c:spPr>
          <c:invertIfNegative val="0"/>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Sheet1!$A$2:$A$7</c:f>
              <c:multiLvlStrCache>
                <c:ptCount val="6"/>
                <c:lvl>
                  <c:pt idx="0">
                    <c:v>Architect</c:v>
                  </c:pt>
                  <c:pt idx="1">
                    <c:v>Inquiry</c:v>
                  </c:pt>
                  <c:pt idx="2">
                    <c:v>Feedback</c:v>
                  </c:pt>
                  <c:pt idx="3">
                    <c:v>Auth</c:v>
                  </c:pt>
                  <c:pt idx="4">
                    <c:v>AI (Archie)</c:v>
                  </c:pt>
                  <c:pt idx="5">
                    <c:v>OTP</c:v>
                  </c:pt>
                </c:lvl>
              </c:multiLvlStrCache>
            </c:multiLvlStrRef>
          </c:cat>
          <c:val>
            <c:numRef>
              <c:f>Sheet1!$B$2:$B$7</c:f>
              <c:numCache>
                <c:formatCode>General</c:formatCode>
                <c:ptCount val="6"/>
                <c:pt idx="0">
                  <c:v>7</c:v>
                </c:pt>
                <c:pt idx="1">
                  <c:v>6</c:v>
                </c:pt>
                <c:pt idx="2">
                  <c:v>6</c:v>
                </c:pt>
                <c:pt idx="3">
                  <c:v>4</c:v>
                </c:pt>
                <c:pt idx="4">
                  <c:v>3</c:v>
                </c:pt>
                <c:pt idx="5">
                  <c:v>2</c:v>
                </c:pt>
              </c:numCache>
            </c:numRef>
          </c:val>
        </c:ser>
        <c:dLbls>
          <c:numFmt formatCode="#,##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ArchitectPoint: a web platform where clients find architects, send inquiries, follow up and give feedback, with an AI assistant called Archie. Built by Team Spring Warriors.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who we are, what we built, how it works, and what we learned and plan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Swaminathan S guided us. Prashant led the team. Each member owned a feature end to end across frontend and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pain points we heard. Right: how each one maps to a feature in ArchitectPoint.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core modules plus the new AI assistant, which works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Archie reads our own database (architects, inquiries, feedback) and answers with the Groq AI. Drafts are checked by the backend and only sent when the user presses Send. The API key is kept out of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find and contact architects; admins manage the platform. Both can use Archie, but Archie only shows each role the data it is allowed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 from the running app: the user home page, the architect directory and the admin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runs the Angular app. Every API call carries a JWT. Spring Boot checks the token and role, runs the business rules and stores data in MySQL. It also calls Gmail for OTP mails and Groq for Archie.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tools are open source or have a free tier. Groq gives fast responses for the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tables. Deletes are soft (a deleted flag), so reports and history stay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of the project at a glance. The architect and inquiry APIs are the biggest; the AI controller adds three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in every layer: tokens, hashed passwords, role checks on both sides, a safe OTP flow and guard rails for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user steps, then the admin side that closes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challenge taught us something we can reuse on the next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we would build with more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Offer a live demo of Archie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TM-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TM-Agenda-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TM-Section-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LTM-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TM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332720" y="457200"/>
            <a:ext cx="1325880" cy="502920"/>
          </a:xfrm>
          <a:prstGeom prst="rect">
            <a:avLst/>
          </a:prstGeom>
          <a:noFill/>
          <a:ln/>
        </p:spPr>
        <p:txBody>
          <a:bodyPr wrap="square" lIns="0" tIns="0" rIns="0" bIns="0" rtlCol="0" anchor="ctr"/>
          <a:lstStyle/>
          <a:p>
            <a:pPr algn="r" indent="0" marL="0">
              <a:buNone/>
            </a:pPr>
            <a:r>
              <a:rPr lang="en-US" sz="2800" b="1" dirty="0">
                <a:solidFill>
                  <a:schemeClr val="accent1"/>
                </a:solidFill>
              </a:rPr>
              <a:t>LTM</a:t>
            </a:r>
            <a:endParaRPr lang="en-US" sz="2800" dirty="0"/>
          </a:p>
        </p:txBody>
      </p:sp>
      <p:sp>
        <p:nvSpPr>
          <p:cNvPr id="3" name="Text 1"/>
          <p:cNvSpPr/>
          <p:nvPr/>
        </p:nvSpPr>
        <p:spPr>
          <a:xfrm>
            <a:off x="8503920" y="6172200"/>
            <a:ext cx="3154680" cy="320040"/>
          </a:xfrm>
          <a:prstGeom prst="rect">
            <a:avLst/>
          </a:prstGeom>
          <a:noFill/>
          <a:ln/>
        </p:spPr>
        <p:txBody>
          <a:bodyPr wrap="square" lIns="0" tIns="0" rIns="0" bIns="0" rtlCol="0" anchor="ctr"/>
          <a:lstStyle/>
          <a:p>
            <a:pPr algn="r" indent="0" marL="0">
              <a:buNone/>
            </a:pPr>
            <a:r>
              <a:rPr lang="en-US" sz="1000" dirty="0">
                <a:solidFill>
                  <a:schemeClr val="bg1"/>
                </a:solidFill>
              </a:rPr>
              <a:t>A Larsen &amp; Toubro Group Company</a:t>
            </a:r>
            <a:endParaRPr lang="en-US" sz="1000" dirty="0"/>
          </a:p>
        </p:txBody>
      </p:sp>
      <p:sp>
        <p:nvSpPr>
          <p:cNvPr id="4" name="Text 2"/>
          <p:cNvSpPr/>
          <p:nvPr>
            <p:ph idx="102" type="title" hasCustomPrompt="1"/>
          </p:nvPr>
        </p:nvSpPr>
        <p:spPr>
          <a:xfrm>
            <a:off x="548640" y="2011680"/>
            <a:ext cx="6858000" cy="118872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5" name="Text 2"/>
          <p:cNvSpPr/>
          <p:nvPr>
            <p:ph idx="103" type="body" hasCustomPrompt="1"/>
          </p:nvPr>
        </p:nvSpPr>
        <p:spPr>
          <a:xfrm>
            <a:off x="548640" y="3291840"/>
            <a:ext cx="6858000" cy="91440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
        <p:nvSpPr>
          <p:cNvPr id="6" name="Text 2"/>
          <p:cNvSpPr/>
          <p:nvPr>
            <p:ph idx="104" type="body" hasCustomPrompt="1"/>
          </p:nvPr>
        </p:nvSpPr>
        <p:spPr>
          <a:xfrm>
            <a:off x="548640" y="5120640"/>
            <a:ext cx="6858000" cy="73152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TM Agen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27648"/>
            <a:ext cx="1097280" cy="365760"/>
          </a:xfrm>
          <a:prstGeom prst="rect">
            <a:avLst/>
          </a:prstGeom>
          <a:noFill/>
          <a:ln/>
        </p:spPr>
        <p:txBody>
          <a:bodyPr wrap="square" lIns="0" tIns="0" rIns="0" bIns="0" rtlCol="0" anchor="ctr"/>
          <a:lstStyle/>
          <a:p>
            <a:pPr indent="0" marL="0">
              <a:buNone/>
            </a:pPr>
            <a:r>
              <a:rPr lang="en-US" sz="1800" b="1" dirty="0">
                <a:solidFill>
                  <a:schemeClr val="accent1"/>
                </a:solidFill>
              </a:rPr>
              <a:t>LTM</a:t>
            </a:r>
            <a:endParaRPr lang="en-US" sz="1800" dirty="0"/>
          </a:p>
        </p:txBody>
      </p:sp>
      <p:sp>
        <p:nvSpPr>
          <p:cNvPr id="3" name="Text 1"/>
          <p:cNvSpPr/>
          <p:nvPr/>
        </p:nvSpPr>
        <p:spPr>
          <a:xfrm>
            <a:off x="6766560" y="6327648"/>
            <a:ext cx="4297680" cy="365760"/>
          </a:xfrm>
          <a:prstGeom prst="rect">
            <a:avLst/>
          </a:prstGeom>
          <a:noFill/>
          <a:ln/>
        </p:spPr>
        <p:txBody>
          <a:bodyPr wrap="square" lIns="0" tIns="0" rIns="0" bIns="0" rtlCol="0" anchor="ctr"/>
          <a:lstStyle/>
          <a:p>
            <a:pPr algn="r" indent="0" marL="0">
              <a:buNone/>
            </a:pPr>
            <a:r>
              <a:rPr lang="en-US" sz="900" dirty="0">
                <a:solidFill>
                  <a:schemeClr val="accent6"/>
                </a:solidFill>
              </a:rPr>
              <a:t>© LTM | Privileged and Confidential</a:t>
            </a:r>
            <a:endParaRPr lang="en-US" sz="900" dirty="0"/>
          </a:p>
        </p:txBody>
      </p:sp>
      <p:sp>
        <p:nvSpPr>
          <p:cNvPr id="4" name="Text 2"/>
          <p:cNvSpPr/>
          <p:nvPr>
            <p:ph idx="102" type="title" hasCustomPrompt="1"/>
          </p:nvPr>
        </p:nvSpPr>
        <p:spPr>
          <a:xfrm>
            <a:off x="548640" y="411480"/>
            <a:ext cx="6400800" cy="822960"/>
          </a:xfrm>
          <a:prstGeom prst="rect">
            <a:avLst/>
          </a:prstGeom>
          <a:noFill/>
          <a:ln/>
        </p:spPr>
        <p:txBody>
          <a:bodyPr wrap="square" rtlCol="0"/>
          <a:lstStyle>
            <a:lvl1pPr indent="0" marL="0">
              <a:buNone/>
              <a:defRPr lang="en-US" sz="4000" b="1" dirty="0">
                <a:solidFill>
                  <a:schemeClr val="accent1"/>
                </a:solidFill>
              </a:defRPr>
            </a:lvl1pPr>
          </a:lstStyle>
          <a:p>
            <a:pPr indent="0" marL="0">
              <a:buNone/>
            </a:pPr>
            <a:endParaRPr lang="en-US" sz="40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TM 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263640"/>
            <a:ext cx="1097280" cy="365760"/>
          </a:xfrm>
          <a:prstGeom prst="rect">
            <a:avLst/>
          </a:prstGeom>
          <a:noFill/>
          <a:ln/>
        </p:spPr>
        <p:txBody>
          <a:bodyPr wrap="square" lIns="0" tIns="0" rIns="0" bIns="0" rtlCol="0" anchor="ctr"/>
          <a:lstStyle/>
          <a:p>
            <a:pPr indent="0" marL="0">
              <a:buNone/>
            </a:pPr>
            <a:r>
              <a:rPr lang="en-US" sz="1800" b="1" dirty="0">
                <a:solidFill>
                  <a:schemeClr val="accent1"/>
                </a:solidFill>
              </a:rPr>
              <a:t>LTM</a:t>
            </a:r>
            <a:endParaRPr lang="en-US" sz="1800" dirty="0"/>
          </a:p>
        </p:txBody>
      </p:sp>
      <p:sp>
        <p:nvSpPr>
          <p:cNvPr id="3" name="Text 1"/>
          <p:cNvSpPr/>
          <p:nvPr>
            <p:ph idx="101" type="body" hasCustomPrompt="1"/>
          </p:nvPr>
        </p:nvSpPr>
        <p:spPr>
          <a:xfrm>
            <a:off x="548640" y="868680"/>
            <a:ext cx="2743200" cy="109728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4" name="Text 1"/>
          <p:cNvSpPr/>
          <p:nvPr>
            <p:ph idx="102" type="title" hasCustomPrompt="1"/>
          </p:nvPr>
        </p:nvSpPr>
        <p:spPr>
          <a:xfrm>
            <a:off x="548640" y="2011680"/>
            <a:ext cx="7315200" cy="91440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5" name="Text 1"/>
          <p:cNvSpPr/>
          <p:nvPr>
            <p:ph idx="103" type="body" hasCustomPrompt="1"/>
          </p:nvPr>
        </p:nvSpPr>
        <p:spPr>
          <a:xfrm>
            <a:off x="548640" y="2971800"/>
            <a:ext cx="6858000" cy="5486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
        <p:nvSpPr>
          <p:cNvPr id="6" name="Text 1"/>
          <p:cNvSpPr/>
          <p:nvPr>
            <p:ph idx="104" type="body" hasCustomPrompt="1"/>
          </p:nvPr>
        </p:nvSpPr>
        <p:spPr>
          <a:xfrm>
            <a:off x="548640" y="3794760"/>
            <a:ext cx="5943600" cy="2103120"/>
          </a:xfrm>
          <a:prstGeom prst="rect">
            <a:avLst/>
          </a:prstGeom>
          <a:noFill/>
          <a:ln/>
        </p:spPr>
        <p:txBody>
          <a:bodyPr wrap="square" rtlCol="0"/>
          <a:lstStyle>
            <a:lvl1pPr indent="0" marL="0">
              <a:spcAft>
                <a:spcPts val="600"/>
              </a:spcAft>
              <a:buNone/>
              <a:defRPr lang="en-US" sz="1600" dirty="0">
                <a:solidFill>
                  <a:schemeClr val="bg1"/>
                </a:solidFill>
              </a:defRPr>
            </a:lvl1pPr>
          </a:lstStyle>
          <a:p>
            <a:pPr indent="0" marL="0">
              <a:spcAft>
                <a:spcPts val="600"/>
              </a:spcAft>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TM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27648"/>
            <a:ext cx="1097280" cy="365760"/>
          </a:xfrm>
          <a:prstGeom prst="rect">
            <a:avLst/>
          </a:prstGeom>
          <a:noFill/>
          <a:ln/>
        </p:spPr>
        <p:txBody>
          <a:bodyPr wrap="square" lIns="0" tIns="0" rIns="0" bIns="0" rtlCol="0" anchor="ctr"/>
          <a:lstStyle/>
          <a:p>
            <a:pPr indent="0" marL="0">
              <a:buNone/>
            </a:pPr>
            <a:r>
              <a:rPr lang="en-US" sz="1800" b="1" dirty="0">
                <a:solidFill>
                  <a:schemeClr val="accent1"/>
                </a:solidFill>
              </a:rPr>
              <a:t>LTM</a:t>
            </a:r>
            <a:endParaRPr lang="en-US" sz="1800" dirty="0"/>
          </a:p>
        </p:txBody>
      </p:sp>
      <p:sp>
        <p:nvSpPr>
          <p:cNvPr id="3" name="Text 1"/>
          <p:cNvSpPr/>
          <p:nvPr/>
        </p:nvSpPr>
        <p:spPr>
          <a:xfrm>
            <a:off x="6766560" y="6327648"/>
            <a:ext cx="4297680" cy="365760"/>
          </a:xfrm>
          <a:prstGeom prst="rect">
            <a:avLst/>
          </a:prstGeom>
          <a:noFill/>
          <a:ln/>
        </p:spPr>
        <p:txBody>
          <a:bodyPr wrap="square" lIns="0" tIns="0" rIns="0" bIns="0" rtlCol="0" anchor="ctr"/>
          <a:lstStyle/>
          <a:p>
            <a:pPr algn="r" indent="0" marL="0">
              <a:buNone/>
            </a:pPr>
            <a:r>
              <a:rPr lang="en-US" sz="900" dirty="0">
                <a:solidFill>
                  <a:schemeClr val="accent6"/>
                </a:solidFill>
              </a:rPr>
              <a:t>© LTM | Privileged and Confidential</a:t>
            </a:r>
            <a:endParaRPr lang="en-US" sz="900" dirty="0"/>
          </a:p>
        </p:txBody>
      </p:sp>
      <p:sp>
        <p:nvSpPr>
          <p:cNvPr id="4" name="Text 2"/>
          <p:cNvSpPr/>
          <p:nvPr>
            <p:ph idx="102" type="title" hasCustomPrompt="1"/>
          </p:nvPr>
        </p:nvSpPr>
        <p:spPr>
          <a:xfrm>
            <a:off x="548640" y="365760"/>
            <a:ext cx="11094415" cy="68580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5" name="Text 2"/>
          <p:cNvSpPr/>
          <p:nvPr>
            <p:ph idx="103" type="body" hasCustomPrompt="1"/>
          </p:nvPr>
        </p:nvSpPr>
        <p:spPr>
          <a:xfrm>
            <a:off x="548640" y="1051560"/>
            <a:ext cx="11094415" cy="41148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TM 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332720" y="457200"/>
            <a:ext cx="1325880" cy="502920"/>
          </a:xfrm>
          <a:prstGeom prst="rect">
            <a:avLst/>
          </a:prstGeom>
          <a:noFill/>
          <a:ln/>
        </p:spPr>
        <p:txBody>
          <a:bodyPr wrap="square" lIns="0" tIns="0" rIns="0" bIns="0" rtlCol="0" anchor="ctr"/>
          <a:lstStyle/>
          <a:p>
            <a:pPr algn="r" indent="0" marL="0">
              <a:buNone/>
            </a:pPr>
            <a:r>
              <a:rPr lang="en-US" sz="2800" b="1" dirty="0">
                <a:solidFill>
                  <a:schemeClr val="accent1"/>
                </a:solidFill>
              </a:rPr>
              <a:t>LTM</a:t>
            </a:r>
            <a:endParaRPr lang="en-US" sz="2800" dirty="0"/>
          </a:p>
        </p:txBody>
      </p:sp>
      <p:sp>
        <p:nvSpPr>
          <p:cNvPr id="3" name="Text 1"/>
          <p:cNvSpPr/>
          <p:nvPr>
            <p:ph idx="101" type="title" hasCustomPrompt="1"/>
          </p:nvPr>
        </p:nvSpPr>
        <p:spPr>
          <a:xfrm>
            <a:off x="548640" y="1371600"/>
            <a:ext cx="7315200" cy="201168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1"/>
          <p:cNvSpPr/>
          <p:nvPr>
            <p:ph idx="102" type="body" hasCustomPrompt="1"/>
          </p:nvPr>
        </p:nvSpPr>
        <p:spPr>
          <a:xfrm>
            <a:off x="548640" y="3657600"/>
            <a:ext cx="7315200" cy="73152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5" name="Text 1"/>
          <p:cNvSpPr/>
          <p:nvPr>
            <p:ph idx="103" type="body" hasCustomPrompt="1"/>
          </p:nvPr>
        </p:nvSpPr>
        <p:spPr>
          <a:xfrm>
            <a:off x="548640" y="5394960"/>
            <a:ext cx="7315200" cy="45720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5.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5.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5.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5.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5.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5.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5.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548640" y="2011680"/>
            <a:ext cx="6858000" cy="1188720"/>
          </a:xfrm>
          <a:prstGeom prst="rect">
            <a:avLst/>
          </a:prstGeom>
          <a:noFill/>
          <a:ln/>
        </p:spPr>
        <p:txBody>
          <a:bodyPr wrap="square" lIns="0" tIns="0" rIns="0" bIns="0" rtlCol="0" anchor="b"/>
          <a:lstStyle/>
          <a:p>
            <a:pPr indent="0" marL="0">
              <a:buNone/>
            </a:pPr>
            <a:r>
              <a:rPr lang="en-US" sz="5400" b="1" dirty="0">
                <a:solidFill>
                  <a:schemeClr val="bg1"/>
                </a:solidFill>
              </a:rPr>
              <a:t>ArchitectPoint</a:t>
            </a:r>
            <a:endParaRPr lang="en-US" sz="5400" dirty="0"/>
          </a:p>
        </p:txBody>
      </p:sp>
      <p:sp>
        <p:nvSpPr>
          <p:cNvPr id="3" name="Text 2"/>
          <p:cNvSpPr/>
          <p:nvPr>
            <p:ph idx="103" type="body" hasCustomPrompt="1"/>
          </p:nvPr>
        </p:nvSpPr>
        <p:spPr>
          <a:xfrm>
            <a:off x="548640" y="3291840"/>
            <a:ext cx="6858000" cy="914400"/>
          </a:xfrm>
          <a:prstGeom prst="rect">
            <a:avLst/>
          </a:prstGeom>
          <a:noFill/>
          <a:ln/>
        </p:spPr>
        <p:txBody>
          <a:bodyPr wrap="square" lIns="0" tIns="0" rIns="0" bIns="0" rtlCol="0" anchor="t"/>
          <a:lstStyle/>
          <a:p>
            <a:pPr indent="0" marL="0">
              <a:buNone/>
            </a:pPr>
            <a:r>
              <a:rPr lang="en-US" sz="2200" dirty="0">
                <a:solidFill>
                  <a:schemeClr val="accent1"/>
                </a:solidFill>
              </a:rPr>
              <a:t>Find, compare and hire the right architect, now with an AI assistant</a:t>
            </a:r>
            <a:endParaRPr lang="en-US" sz="2200" dirty="0"/>
          </a:p>
        </p:txBody>
      </p:sp>
      <p:sp>
        <p:nvSpPr>
          <p:cNvPr id="4" name="Text 2"/>
          <p:cNvSpPr/>
          <p:nvPr>
            <p:ph idx="104" type="body" hasCustomPrompt="1"/>
          </p:nvPr>
        </p:nvSpPr>
        <p:spPr>
          <a:xfrm>
            <a:off x="548640" y="5120640"/>
            <a:ext cx="6858000" cy="731520"/>
          </a:xfrm>
          <a:prstGeom prst="rect">
            <a:avLst/>
          </a:prstGeom>
          <a:noFill/>
          <a:ln/>
        </p:spPr>
        <p:txBody>
          <a:bodyPr wrap="square" lIns="0" tIns="0" rIns="0" bIns="0" rtlCol="0" anchor="t"/>
          <a:lstStyle/>
          <a:p>
            <a:pPr indent="0" marL="0">
              <a:buNone/>
            </a:pPr>
            <a:r>
              <a:rPr lang="en-US" sz="1400" dirty="0">
                <a:solidFill>
                  <a:schemeClr val="bg1"/>
                </a:solidFill>
              </a:rPr>
              <a:t>Project presentation by Team Spring Warriors</a:t>
            </a:r>
            <a:endParaRPr lang="en-US" sz="1400" dirty="0"/>
          </a:p>
          <a:p>
            <a:pPr indent="0" marL="0">
              <a:buNone/>
            </a:pPr>
            <a:r>
              <a:rPr lang="en-US" sz="1400" dirty="0">
                <a:solidFill>
                  <a:schemeClr val="bg1"/>
                </a:solidFill>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411480"/>
            <a:ext cx="6400800" cy="822960"/>
          </a:xfrm>
          <a:prstGeom prst="rect">
            <a:avLst/>
          </a:prstGeom>
          <a:noFill/>
          <a:ln/>
        </p:spPr>
        <p:txBody>
          <a:bodyPr wrap="square" lIns="0" tIns="0" rIns="0" bIns="0" rtlCol="0" anchor="ctr"/>
          <a:lstStyle/>
          <a:p>
            <a:pPr indent="0" marL="0">
              <a:buNone/>
            </a:pPr>
            <a:r>
              <a:rPr lang="en-US" sz="4000" b="1" dirty="0">
                <a:solidFill>
                  <a:schemeClr val="accent1"/>
                </a:solidFill>
              </a:rPr>
              <a:t>Agenda</a:t>
            </a:r>
            <a:endParaRPr lang="en-US" sz="4000" dirty="0"/>
          </a:p>
        </p:txBody>
      </p:sp>
      <p:sp>
        <p:nvSpPr>
          <p:cNvPr id="3" name="text-1"/>
          <p:cNvSpPr txBox="1"/>
          <p:nvPr/>
        </p:nvSpPr>
        <p:spPr>
          <a:xfrm>
            <a:off x="548640" y="1600200"/>
            <a:ext cx="822960" cy="822960"/>
          </a:xfrm>
          <a:prstGeom prst="rect">
            <a:avLst/>
          </a:prstGeom>
          <a:noFill/>
          <a:ln/>
        </p:spPr>
        <p:txBody>
          <a:bodyPr wrap="square" lIns="0" tIns="0" rIns="0" bIns="0" rtlCol="0" anchor="ctr"/>
          <a:lstStyle/>
          <a:p>
            <a:pPr indent="0" marL="0">
              <a:buNone/>
            </a:pPr>
            <a:r>
              <a:rPr lang="en-US" sz="3600" b="1" dirty="0">
                <a:solidFill>
                  <a:schemeClr val="accent1"/>
                </a:solidFill>
              </a:rPr>
              <a:t>01</a:t>
            </a:r>
            <a:endParaRPr lang="en-US" sz="3600" dirty="0"/>
          </a:p>
        </p:txBody>
      </p:sp>
      <p:sp>
        <p:nvSpPr>
          <p:cNvPr id="4" name="text-2"/>
          <p:cNvSpPr txBox="1"/>
          <p:nvPr/>
        </p:nvSpPr>
        <p:spPr>
          <a:xfrm>
            <a:off x="1508760" y="1673352"/>
            <a:ext cx="5303520" cy="384048"/>
          </a:xfrm>
          <a:prstGeom prst="rect">
            <a:avLst/>
          </a:prstGeom>
          <a:noFill/>
          <a:ln/>
        </p:spPr>
        <p:txBody>
          <a:bodyPr wrap="square" lIns="0" tIns="0" rIns="0" bIns="0" rtlCol="0" anchor="t"/>
          <a:lstStyle/>
          <a:p>
            <a:pPr indent="0" marL="0">
              <a:buNone/>
            </a:pPr>
            <a:r>
              <a:rPr lang="en-US" sz="2200" b="1" dirty="0">
                <a:solidFill>
                  <a:schemeClr val="tx1"/>
                </a:solidFill>
              </a:rPr>
              <a:t>The team</a:t>
            </a:r>
            <a:endParaRPr lang="en-US" sz="2200" dirty="0"/>
          </a:p>
        </p:txBody>
      </p:sp>
      <p:sp>
        <p:nvSpPr>
          <p:cNvPr id="5" name="text-3"/>
          <p:cNvSpPr txBox="1"/>
          <p:nvPr/>
        </p:nvSpPr>
        <p:spPr>
          <a:xfrm>
            <a:off x="1508760" y="2057400"/>
            <a:ext cx="5303520" cy="320040"/>
          </a:xfrm>
          <a:prstGeom prst="rect">
            <a:avLst/>
          </a:prstGeom>
          <a:noFill/>
          <a:ln/>
        </p:spPr>
        <p:txBody>
          <a:bodyPr wrap="square" lIns="0" tIns="0" rIns="0" bIns="0" rtlCol="0" anchor="t"/>
          <a:lstStyle/>
          <a:p>
            <a:pPr indent="0" marL="0">
              <a:buNone/>
            </a:pPr>
            <a:r>
              <a:rPr lang="en-US" sz="1500" dirty="0">
                <a:solidFill>
                  <a:schemeClr val="accent6"/>
                </a:solidFill>
              </a:rPr>
              <a:t>Our mentor, team lead and developers</a:t>
            </a:r>
            <a:endParaRPr lang="en-US" sz="1500" dirty="0"/>
          </a:p>
        </p:txBody>
      </p:sp>
      <p:sp>
        <p:nvSpPr>
          <p:cNvPr id="6" name="text-4"/>
          <p:cNvSpPr txBox="1"/>
          <p:nvPr/>
        </p:nvSpPr>
        <p:spPr>
          <a:xfrm>
            <a:off x="548640" y="2679192"/>
            <a:ext cx="822960" cy="822960"/>
          </a:xfrm>
          <a:prstGeom prst="rect">
            <a:avLst/>
          </a:prstGeom>
          <a:noFill/>
          <a:ln/>
        </p:spPr>
        <p:txBody>
          <a:bodyPr wrap="square" lIns="0" tIns="0" rIns="0" bIns="0" rtlCol="0" anchor="ctr"/>
          <a:lstStyle/>
          <a:p>
            <a:pPr indent="0" marL="0">
              <a:buNone/>
            </a:pPr>
            <a:r>
              <a:rPr lang="en-US" sz="3600" b="1" dirty="0">
                <a:solidFill>
                  <a:schemeClr val="accent1"/>
                </a:solidFill>
              </a:rPr>
              <a:t>02</a:t>
            </a:r>
            <a:endParaRPr lang="en-US" sz="3600" dirty="0"/>
          </a:p>
        </p:txBody>
      </p:sp>
      <p:sp>
        <p:nvSpPr>
          <p:cNvPr id="7" name="text-5"/>
          <p:cNvSpPr txBox="1"/>
          <p:nvPr/>
        </p:nvSpPr>
        <p:spPr>
          <a:xfrm>
            <a:off x="1508760" y="2752344"/>
            <a:ext cx="5303520" cy="384048"/>
          </a:xfrm>
          <a:prstGeom prst="rect">
            <a:avLst/>
          </a:prstGeom>
          <a:noFill/>
          <a:ln/>
        </p:spPr>
        <p:txBody>
          <a:bodyPr wrap="square" lIns="0" tIns="0" rIns="0" bIns="0" rtlCol="0" anchor="t"/>
          <a:lstStyle/>
          <a:p>
            <a:pPr indent="0" marL="0">
              <a:buNone/>
            </a:pPr>
            <a:r>
              <a:rPr lang="en-US" sz="2200" b="1" dirty="0">
                <a:solidFill>
                  <a:schemeClr val="tx1"/>
                </a:solidFill>
              </a:rPr>
              <a:t>The project</a:t>
            </a:r>
            <a:endParaRPr lang="en-US" sz="2200" dirty="0"/>
          </a:p>
        </p:txBody>
      </p:sp>
      <p:sp>
        <p:nvSpPr>
          <p:cNvPr id="8" name="text-6"/>
          <p:cNvSpPr txBox="1"/>
          <p:nvPr/>
        </p:nvSpPr>
        <p:spPr>
          <a:xfrm>
            <a:off x="1508760" y="3136392"/>
            <a:ext cx="5303520" cy="320040"/>
          </a:xfrm>
          <a:prstGeom prst="rect">
            <a:avLst/>
          </a:prstGeom>
          <a:noFill/>
          <a:ln/>
        </p:spPr>
        <p:txBody>
          <a:bodyPr wrap="square" lIns="0" tIns="0" rIns="0" bIns="0" rtlCol="0" anchor="t"/>
          <a:lstStyle/>
          <a:p>
            <a:pPr indent="0" marL="0">
              <a:buNone/>
            </a:pPr>
            <a:r>
              <a:rPr lang="en-US" sz="1500" dirty="0">
                <a:solidFill>
                  <a:schemeClr val="accent6"/>
                </a:solidFill>
              </a:rPr>
              <a:t>Problem, features, Archie AI, user roles and screens</a:t>
            </a:r>
            <a:endParaRPr lang="en-US" sz="1500" dirty="0"/>
          </a:p>
        </p:txBody>
      </p:sp>
      <p:sp>
        <p:nvSpPr>
          <p:cNvPr id="9" name="text-7"/>
          <p:cNvSpPr txBox="1"/>
          <p:nvPr/>
        </p:nvSpPr>
        <p:spPr>
          <a:xfrm>
            <a:off x="548640" y="3758184"/>
            <a:ext cx="822960" cy="822960"/>
          </a:xfrm>
          <a:prstGeom prst="rect">
            <a:avLst/>
          </a:prstGeom>
          <a:noFill/>
          <a:ln/>
        </p:spPr>
        <p:txBody>
          <a:bodyPr wrap="square" lIns="0" tIns="0" rIns="0" bIns="0" rtlCol="0" anchor="ctr"/>
          <a:lstStyle/>
          <a:p>
            <a:pPr indent="0" marL="0">
              <a:buNone/>
            </a:pPr>
            <a:r>
              <a:rPr lang="en-US" sz="3600" b="1" dirty="0">
                <a:solidFill>
                  <a:schemeClr val="accent1"/>
                </a:solidFill>
              </a:rPr>
              <a:t>03</a:t>
            </a:r>
            <a:endParaRPr lang="en-US" sz="3600" dirty="0"/>
          </a:p>
        </p:txBody>
      </p:sp>
      <p:sp>
        <p:nvSpPr>
          <p:cNvPr id="10" name="text-8"/>
          <p:cNvSpPr txBox="1"/>
          <p:nvPr/>
        </p:nvSpPr>
        <p:spPr>
          <a:xfrm>
            <a:off x="1508760" y="3831336"/>
            <a:ext cx="5303520" cy="384048"/>
          </a:xfrm>
          <a:prstGeom prst="rect">
            <a:avLst/>
          </a:prstGeom>
          <a:noFill/>
          <a:ln/>
        </p:spPr>
        <p:txBody>
          <a:bodyPr wrap="square" lIns="0" tIns="0" rIns="0" bIns="0" rtlCol="0" anchor="t"/>
          <a:lstStyle/>
          <a:p>
            <a:pPr indent="0" marL="0">
              <a:buNone/>
            </a:pPr>
            <a:r>
              <a:rPr lang="en-US" sz="2200" b="1" dirty="0">
                <a:solidFill>
                  <a:schemeClr val="tx1"/>
                </a:solidFill>
              </a:rPr>
              <a:t>Architecture &amp; tech</a:t>
            </a:r>
            <a:endParaRPr lang="en-US" sz="2200" dirty="0"/>
          </a:p>
        </p:txBody>
      </p:sp>
      <p:sp>
        <p:nvSpPr>
          <p:cNvPr id="11" name="text-9"/>
          <p:cNvSpPr txBox="1"/>
          <p:nvPr/>
        </p:nvSpPr>
        <p:spPr>
          <a:xfrm>
            <a:off x="1508760" y="4215384"/>
            <a:ext cx="5303520" cy="320040"/>
          </a:xfrm>
          <a:prstGeom prst="rect">
            <a:avLst/>
          </a:prstGeom>
          <a:noFill/>
          <a:ln/>
        </p:spPr>
        <p:txBody>
          <a:bodyPr wrap="square" lIns="0" tIns="0" rIns="0" bIns="0" rtlCol="0" anchor="t"/>
          <a:lstStyle/>
          <a:p>
            <a:pPr indent="0" marL="0">
              <a:buNone/>
            </a:pPr>
            <a:r>
              <a:rPr lang="en-US" sz="1500" dirty="0">
                <a:solidFill>
                  <a:schemeClr val="accent6"/>
                </a:solidFill>
              </a:rPr>
              <a:t>System design, tech stack, data model and security</a:t>
            </a:r>
            <a:endParaRPr lang="en-US" sz="1500" dirty="0"/>
          </a:p>
        </p:txBody>
      </p:sp>
      <p:sp>
        <p:nvSpPr>
          <p:cNvPr id="12" name="text-10"/>
          <p:cNvSpPr txBox="1"/>
          <p:nvPr/>
        </p:nvSpPr>
        <p:spPr>
          <a:xfrm>
            <a:off x="548640" y="4837176"/>
            <a:ext cx="822960" cy="822960"/>
          </a:xfrm>
          <a:prstGeom prst="rect">
            <a:avLst/>
          </a:prstGeom>
          <a:noFill/>
          <a:ln/>
        </p:spPr>
        <p:txBody>
          <a:bodyPr wrap="square" lIns="0" tIns="0" rIns="0" bIns="0" rtlCol="0" anchor="ctr"/>
          <a:lstStyle/>
          <a:p>
            <a:pPr indent="0" marL="0">
              <a:buNone/>
            </a:pPr>
            <a:r>
              <a:rPr lang="en-US" sz="3600" b="1" dirty="0">
                <a:solidFill>
                  <a:schemeClr val="accent1"/>
                </a:solidFill>
              </a:rPr>
              <a:t>04</a:t>
            </a:r>
            <a:endParaRPr lang="en-US" sz="3600" dirty="0"/>
          </a:p>
        </p:txBody>
      </p:sp>
      <p:sp>
        <p:nvSpPr>
          <p:cNvPr id="13" name="text-11"/>
          <p:cNvSpPr txBox="1"/>
          <p:nvPr/>
        </p:nvSpPr>
        <p:spPr>
          <a:xfrm>
            <a:off x="1508760" y="4910328"/>
            <a:ext cx="5303520" cy="384048"/>
          </a:xfrm>
          <a:prstGeom prst="rect">
            <a:avLst/>
          </a:prstGeom>
          <a:noFill/>
          <a:ln/>
        </p:spPr>
        <p:txBody>
          <a:bodyPr wrap="square" lIns="0" tIns="0" rIns="0" bIns="0" rtlCol="0" anchor="t"/>
          <a:lstStyle/>
          <a:p>
            <a:pPr indent="0" marL="0">
              <a:buNone/>
            </a:pPr>
            <a:r>
              <a:rPr lang="en-US" sz="2200" b="1" dirty="0">
                <a:solidFill>
                  <a:schemeClr val="tx1"/>
                </a:solidFill>
              </a:rPr>
              <a:t>Journey &amp; road ahead</a:t>
            </a:r>
            <a:endParaRPr lang="en-US" sz="2200" dirty="0"/>
          </a:p>
        </p:txBody>
      </p:sp>
      <p:sp>
        <p:nvSpPr>
          <p:cNvPr id="14" name="text-12"/>
          <p:cNvSpPr txBox="1"/>
          <p:nvPr/>
        </p:nvSpPr>
        <p:spPr>
          <a:xfrm>
            <a:off x="1508760" y="5294376"/>
            <a:ext cx="5303520" cy="320040"/>
          </a:xfrm>
          <a:prstGeom prst="rect">
            <a:avLst/>
          </a:prstGeom>
          <a:noFill/>
          <a:ln/>
        </p:spPr>
        <p:txBody>
          <a:bodyPr wrap="square" lIns="0" tIns="0" rIns="0" bIns="0" rtlCol="0" anchor="t"/>
          <a:lstStyle/>
          <a:p>
            <a:pPr indent="0" marL="0">
              <a:buNone/>
            </a:pPr>
            <a:r>
              <a:rPr lang="en-US" sz="1500" dirty="0">
                <a:solidFill>
                  <a:schemeClr val="accent6"/>
                </a:solidFill>
              </a:rPr>
              <a:t>User journey, challenges, learnings and future scope</a:t>
            </a:r>
            <a:endParaRPr lang="en-US" sz="15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868680"/>
            <a:ext cx="2743200" cy="1097280"/>
          </a:xfrm>
          <a:prstGeom prst="rect">
            <a:avLst/>
          </a:prstGeom>
          <a:noFill/>
          <a:ln/>
        </p:spPr>
        <p:txBody>
          <a:bodyPr wrap="square" lIns="0" tIns="0" rIns="0" bIns="0" rtlCol="0" anchor="b"/>
          <a:lstStyle/>
          <a:p>
            <a:pPr indent="0" marL="0">
              <a:buNone/>
            </a:pPr>
            <a:r>
              <a:rPr lang="en-US" sz="6000" b="1" dirty="0">
                <a:solidFill>
                  <a:schemeClr val="accent1"/>
                </a:solidFill>
              </a:rPr>
              <a:t>01</a:t>
            </a:r>
            <a:endParaRPr lang="en-US" sz="6000" dirty="0"/>
          </a:p>
        </p:txBody>
      </p:sp>
      <p:sp>
        <p:nvSpPr>
          <p:cNvPr id="3" name="Text 1"/>
          <p:cNvSpPr/>
          <p:nvPr>
            <p:ph idx="102" type="title" hasCustomPrompt="1"/>
          </p:nvPr>
        </p:nvSpPr>
        <p:spPr>
          <a:xfrm>
            <a:off x="548640" y="2011680"/>
            <a:ext cx="7315200" cy="914400"/>
          </a:xfrm>
          <a:prstGeom prst="rect">
            <a:avLst/>
          </a:prstGeom>
          <a:noFill/>
          <a:ln/>
        </p:spPr>
        <p:txBody>
          <a:bodyPr wrap="square" lIns="0" tIns="0" rIns="0" bIns="0" rtlCol="0" anchor="t"/>
          <a:lstStyle/>
          <a:p>
            <a:pPr indent="0" marL="0">
              <a:buNone/>
            </a:pPr>
            <a:r>
              <a:rPr lang="en-US" sz="4400" b="1" dirty="0">
                <a:solidFill>
                  <a:schemeClr val="bg1"/>
                </a:solidFill>
              </a:rPr>
              <a:t>The team</a:t>
            </a:r>
            <a:endParaRPr lang="en-US" sz="4400" dirty="0"/>
          </a:p>
        </p:txBody>
      </p:sp>
      <p:sp>
        <p:nvSpPr>
          <p:cNvPr id="4" name="Text 1"/>
          <p:cNvSpPr/>
          <p:nvPr>
            <p:ph idx="103" type="body" hasCustomPrompt="1"/>
          </p:nvPr>
        </p:nvSpPr>
        <p:spPr>
          <a:xfrm>
            <a:off x="548640" y="2971800"/>
            <a:ext cx="6858000" cy="548640"/>
          </a:xfrm>
          <a:prstGeom prst="rect">
            <a:avLst/>
          </a:prstGeom>
          <a:noFill/>
          <a:ln/>
        </p:spPr>
        <p:txBody>
          <a:bodyPr wrap="square" lIns="0" tIns="0" rIns="0" bIns="0" rtlCol="0" anchor="t"/>
          <a:lstStyle/>
          <a:p>
            <a:pPr indent="0" marL="0">
              <a:buNone/>
            </a:pPr>
            <a:r>
              <a:rPr lang="en-US" sz="2000" dirty="0">
                <a:solidFill>
                  <a:schemeClr val="accent1"/>
                </a:solidFill>
              </a:rPr>
              <a:t>Spring Warriors: 7 full-stack developers and our mentor</a:t>
            </a:r>
            <a:endParaRPr lang="en-US" sz="2000" dirty="0"/>
          </a:p>
        </p:txBody>
      </p:sp>
      <p:sp>
        <p:nvSpPr>
          <p:cNvPr id="5" name="Text 1"/>
          <p:cNvSpPr/>
          <p:nvPr>
            <p:ph idx="104" type="body" hasCustomPrompt="1"/>
          </p:nvPr>
        </p:nvSpPr>
        <p:spPr>
          <a:xfrm>
            <a:off x="548640" y="3794760"/>
            <a:ext cx="594360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Guided by an LTM Mindtree cloud engineering specialist</a:t>
            </a:r>
            <a:endParaRPr lang="en-US" sz="1600" dirty="0"/>
          </a:p>
          <a:p>
            <a:pPr marL="342900" indent="-342900">
              <a:spcAft>
                <a:spcPts val="600"/>
              </a:spcAft>
              <a:buSzPct val="100000"/>
              <a:buChar char="•"/>
            </a:pPr>
            <a:r>
              <a:rPr lang="en-US" sz="1600" dirty="0">
                <a:solidFill>
                  <a:schemeClr val="bg1"/>
                </a:solidFill>
              </a:rPr>
              <a:t>Every member worked on both Angular and Spring Boot</a:t>
            </a:r>
            <a:endParaRPr lang="en-US" sz="1600" dirty="0"/>
          </a:p>
          <a:p>
            <a:pPr marL="342900" indent="-342900">
              <a:spcAft>
                <a:spcPts val="600"/>
              </a:spcAft>
              <a:buSzPct val="100000"/>
              <a:buChar char="•"/>
            </a:pPr>
            <a:r>
              <a:rPr lang="en-US" sz="1600" dirty="0">
                <a:solidFill>
                  <a:schemeClr val="bg1"/>
                </a:solidFill>
              </a:rPr>
              <a:t>Work split by feature, joined through code reviews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Meet Team Spring Warriors</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Every member worked on both the Angular frontend and the Spring Boot backend</a:t>
            </a:r>
            <a:endParaRPr lang="en-US" sz="1600" dirty="0"/>
          </a:p>
        </p:txBody>
      </p:sp>
      <p:sp>
        <p:nvSpPr>
          <p:cNvPr id="4" name="card-13"/>
          <p:cNvSpPr/>
          <p:nvPr/>
        </p:nvSpPr>
        <p:spPr>
          <a:xfrm>
            <a:off x="548640" y="1691640"/>
            <a:ext cx="4206240" cy="2057400"/>
          </a:xfrm>
          <a:prstGeom prst="roundRect">
            <a:avLst>
              <a:gd name="adj" fmla="val 5333"/>
            </a:avLst>
          </a:prstGeom>
          <a:solidFill>
            <a:schemeClr val="bg2"/>
          </a:solidFill>
          <a:ln/>
        </p:spPr>
      </p:sp>
      <p:pic>
        <p:nvPicPr>
          <p:cNvPr id="5" name="photo-14" descr="/private/tmp/claude-501/-Users-prashant--Desktop-11zon-team-project/10856b9b-b108-4d4a-9557-32e18d5e8211/scratchpad/ppt/assets/swaminathan.png">    </p:cNvPr>
          <p:cNvPicPr>
            <a:picLocks noChangeAspect="1"/>
          </p:cNvPicPr>
          <p:nvPr/>
        </p:nvPicPr>
        <p:blipFill>
          <a:blip r:embed="rId1"/>
          <a:stretch>
            <a:fillRect/>
          </a:stretch>
        </p:blipFill>
        <p:spPr>
          <a:xfrm>
            <a:off x="777240" y="2057400"/>
            <a:ext cx="1325880" cy="1325880"/>
          </a:xfrm>
          <a:prstGeom prst="rect">
            <a:avLst/>
          </a:prstGeom>
        </p:spPr>
      </p:pic>
      <p:sp>
        <p:nvSpPr>
          <p:cNvPr id="6" name="text-15"/>
          <p:cNvSpPr txBox="1"/>
          <p:nvPr/>
        </p:nvSpPr>
        <p:spPr>
          <a:xfrm>
            <a:off x="2331720" y="1965960"/>
            <a:ext cx="22860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MENTOR (SME)</a:t>
            </a:r>
            <a:endParaRPr lang="en-US" sz="1100" dirty="0"/>
          </a:p>
        </p:txBody>
      </p:sp>
      <p:sp>
        <p:nvSpPr>
          <p:cNvPr id="7" name="text-16"/>
          <p:cNvSpPr txBox="1"/>
          <p:nvPr/>
        </p:nvSpPr>
        <p:spPr>
          <a:xfrm>
            <a:off x="2331720" y="2240280"/>
            <a:ext cx="2286000" cy="365760"/>
          </a:xfrm>
          <a:prstGeom prst="rect">
            <a:avLst/>
          </a:prstGeom>
          <a:noFill/>
          <a:ln/>
        </p:spPr>
        <p:txBody>
          <a:bodyPr wrap="square" lIns="0" tIns="0" rIns="0" bIns="0" rtlCol="0" anchor="t"/>
          <a:lstStyle/>
          <a:p>
            <a:pPr indent="0" marL="0">
              <a:buNone/>
            </a:pPr>
            <a:r>
              <a:rPr lang="en-US" sz="1800" b="1" dirty="0">
                <a:solidFill>
                  <a:schemeClr val="tx1"/>
                </a:solidFill>
              </a:rPr>
              <a:t>Swaminathan S</a:t>
            </a:r>
            <a:endParaRPr lang="en-US" sz="1800" dirty="0"/>
          </a:p>
        </p:txBody>
      </p:sp>
      <p:sp>
        <p:nvSpPr>
          <p:cNvPr id="8" name="text-17"/>
          <p:cNvSpPr txBox="1"/>
          <p:nvPr/>
        </p:nvSpPr>
        <p:spPr>
          <a:xfrm>
            <a:off x="2331720" y="2624328"/>
            <a:ext cx="2286000" cy="1005840"/>
          </a:xfrm>
          <a:prstGeom prst="rect">
            <a:avLst/>
          </a:prstGeom>
          <a:noFill/>
          <a:ln/>
        </p:spPr>
        <p:txBody>
          <a:bodyPr wrap="square" lIns="0" tIns="0" rIns="0" bIns="0" rtlCol="0" anchor="t"/>
          <a:lstStyle/>
          <a:p>
            <a:pPr indent="0" marL="0">
              <a:buNone/>
            </a:pPr>
            <a:r>
              <a:rPr lang="en-US" sz="1200" dirty="0">
                <a:solidFill>
                  <a:schemeClr val="accent6"/>
                </a:solidFill>
              </a:rPr>
              <a:t>Specialist, Cloud Engineering @ LTM Mindtree. Guided design reviews and best practices.</a:t>
            </a:r>
            <a:endParaRPr lang="en-US" sz="1200" dirty="0"/>
          </a:p>
        </p:txBody>
      </p:sp>
      <p:sp>
        <p:nvSpPr>
          <p:cNvPr id="9" name="card-18"/>
          <p:cNvSpPr/>
          <p:nvPr/>
        </p:nvSpPr>
        <p:spPr>
          <a:xfrm>
            <a:off x="548640" y="3931920"/>
            <a:ext cx="4206240" cy="2057400"/>
          </a:xfrm>
          <a:prstGeom prst="roundRect">
            <a:avLst>
              <a:gd name="adj" fmla="val 5333"/>
            </a:avLst>
          </a:prstGeom>
          <a:solidFill>
            <a:schemeClr val="bg2"/>
          </a:solidFill>
          <a:ln/>
        </p:spPr>
      </p:sp>
      <p:pic>
        <p:nvPicPr>
          <p:cNvPr id="10" name="photo-19" descr="/private/tmp/claude-501/-Users-prashant--Desktop-11zon-team-project/10856b9b-b108-4d4a-9557-32e18d5e8211/scratchpad/ppt/assets/prashant.png">    </p:cNvPr>
          <p:cNvPicPr>
            <a:picLocks noChangeAspect="1"/>
          </p:cNvPicPr>
          <p:nvPr/>
        </p:nvPicPr>
        <p:blipFill>
          <a:blip r:embed="rId2"/>
          <a:stretch>
            <a:fillRect/>
          </a:stretch>
        </p:blipFill>
        <p:spPr>
          <a:xfrm>
            <a:off x="777240" y="4297680"/>
            <a:ext cx="1325880" cy="1325880"/>
          </a:xfrm>
          <a:prstGeom prst="rect">
            <a:avLst/>
          </a:prstGeom>
        </p:spPr>
      </p:pic>
      <p:sp>
        <p:nvSpPr>
          <p:cNvPr id="11" name="text-20"/>
          <p:cNvSpPr txBox="1"/>
          <p:nvPr/>
        </p:nvSpPr>
        <p:spPr>
          <a:xfrm>
            <a:off x="2331720" y="4206240"/>
            <a:ext cx="228600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TEAM LEAD</a:t>
            </a:r>
            <a:endParaRPr lang="en-US" sz="1100" dirty="0"/>
          </a:p>
        </p:txBody>
      </p:sp>
      <p:sp>
        <p:nvSpPr>
          <p:cNvPr id="12" name="text-21"/>
          <p:cNvSpPr txBox="1"/>
          <p:nvPr/>
        </p:nvSpPr>
        <p:spPr>
          <a:xfrm>
            <a:off x="2331720" y="4480560"/>
            <a:ext cx="2286000" cy="365760"/>
          </a:xfrm>
          <a:prstGeom prst="rect">
            <a:avLst/>
          </a:prstGeom>
          <a:noFill/>
          <a:ln/>
        </p:spPr>
        <p:txBody>
          <a:bodyPr wrap="square" lIns="0" tIns="0" rIns="0" bIns="0" rtlCol="0" anchor="t"/>
          <a:lstStyle/>
          <a:p>
            <a:pPr indent="0" marL="0">
              <a:buNone/>
            </a:pPr>
            <a:r>
              <a:rPr lang="en-US" sz="1800" b="1" dirty="0">
                <a:solidFill>
                  <a:schemeClr val="tx1"/>
                </a:solidFill>
              </a:rPr>
              <a:t>Prashant</a:t>
            </a:r>
            <a:endParaRPr lang="en-US" sz="1800" dirty="0"/>
          </a:p>
        </p:txBody>
      </p:sp>
      <p:sp>
        <p:nvSpPr>
          <p:cNvPr id="13" name="text-22"/>
          <p:cNvSpPr txBox="1"/>
          <p:nvPr/>
        </p:nvSpPr>
        <p:spPr>
          <a:xfrm>
            <a:off x="2331720" y="4864608"/>
            <a:ext cx="2286000" cy="1005840"/>
          </a:xfrm>
          <a:prstGeom prst="rect">
            <a:avLst/>
          </a:prstGeom>
          <a:noFill/>
          <a:ln/>
        </p:spPr>
        <p:txBody>
          <a:bodyPr wrap="square" lIns="0" tIns="0" rIns="0" bIns="0" rtlCol="0" anchor="t"/>
          <a:lstStyle/>
          <a:p>
            <a:pPr indent="0" marL="0">
              <a:buNone/>
            </a:pPr>
            <a:r>
              <a:rPr lang="en-US" sz="1200" dirty="0">
                <a:solidFill>
                  <a:schemeClr val="accent6"/>
                </a:solidFill>
              </a:rPr>
              <a:t>Planning, code reviews and releases. Built Archie, the AI assistant.</a:t>
            </a:r>
            <a:endParaRPr lang="en-US" sz="1200" dirty="0"/>
          </a:p>
        </p:txBody>
      </p:sp>
      <p:sp>
        <p:nvSpPr>
          <p:cNvPr id="14" name="card-23"/>
          <p:cNvSpPr/>
          <p:nvPr/>
        </p:nvSpPr>
        <p:spPr>
          <a:xfrm>
            <a:off x="5029200" y="1691640"/>
            <a:ext cx="2082698" cy="2057400"/>
          </a:xfrm>
          <a:prstGeom prst="roundRect">
            <a:avLst>
              <a:gd name="adj" fmla="val 5333"/>
            </a:avLst>
          </a:prstGeom>
          <a:solidFill>
            <a:schemeClr val="bg2"/>
          </a:solidFill>
          <a:ln/>
        </p:spPr>
      </p:sp>
      <p:pic>
        <p:nvPicPr>
          <p:cNvPr id="15" name="photo-24" descr="/private/tmp/claude-501/-Users-prashant--Desktop-11zon-team-project/10856b9b-b108-4d4a-9557-32e18d5e8211/scratchpad/ppt/assets/aman.png">    </p:cNvPr>
          <p:cNvPicPr>
            <a:picLocks noChangeAspect="1"/>
          </p:cNvPicPr>
          <p:nvPr/>
        </p:nvPicPr>
        <p:blipFill>
          <a:blip r:embed="rId3"/>
          <a:stretch>
            <a:fillRect/>
          </a:stretch>
        </p:blipFill>
        <p:spPr>
          <a:xfrm>
            <a:off x="5590489" y="1874520"/>
            <a:ext cx="960120" cy="960120"/>
          </a:xfrm>
          <a:prstGeom prst="rect">
            <a:avLst/>
          </a:prstGeom>
        </p:spPr>
      </p:pic>
      <p:sp>
        <p:nvSpPr>
          <p:cNvPr id="16" name="text-25"/>
          <p:cNvSpPr txBox="1"/>
          <p:nvPr/>
        </p:nvSpPr>
        <p:spPr>
          <a:xfrm>
            <a:off x="5120640" y="2907792"/>
            <a:ext cx="1899818" cy="310896"/>
          </a:xfrm>
          <a:prstGeom prst="rect">
            <a:avLst/>
          </a:prstGeom>
          <a:noFill/>
          <a:ln/>
        </p:spPr>
        <p:txBody>
          <a:bodyPr wrap="square" lIns="0" tIns="0" rIns="0" bIns="0" rtlCol="0" anchor="t"/>
          <a:lstStyle/>
          <a:p>
            <a:pPr algn="ctr" indent="0" marL="0">
              <a:buNone/>
            </a:pPr>
            <a:r>
              <a:rPr lang="en-US" sz="1600" b="1" dirty="0">
                <a:solidFill>
                  <a:schemeClr val="tx1"/>
                </a:solidFill>
              </a:rPr>
              <a:t>Aman</a:t>
            </a:r>
            <a:endParaRPr lang="en-US" sz="1600" dirty="0"/>
          </a:p>
        </p:txBody>
      </p:sp>
      <p:sp>
        <p:nvSpPr>
          <p:cNvPr id="17" name="text-26"/>
          <p:cNvSpPr txBox="1"/>
          <p:nvPr/>
        </p:nvSpPr>
        <p:spPr>
          <a:xfrm>
            <a:off x="5166360" y="3227832"/>
            <a:ext cx="1808378" cy="457200"/>
          </a:xfrm>
          <a:prstGeom prst="rect">
            <a:avLst/>
          </a:prstGeom>
          <a:noFill/>
          <a:ln/>
        </p:spPr>
        <p:txBody>
          <a:bodyPr wrap="square" lIns="0" tIns="0" rIns="0" bIns="0" rtlCol="0" anchor="t"/>
          <a:lstStyle/>
          <a:p>
            <a:pPr algn="ctr" indent="0" marL="0">
              <a:buNone/>
            </a:pPr>
            <a:r>
              <a:rPr lang="en-US" sz="1200" dirty="0">
                <a:solidFill>
                  <a:schemeClr val="accent6"/>
                </a:solidFill>
              </a:rPr>
              <a:t>Architect listing, search and filters</a:t>
            </a:r>
            <a:endParaRPr lang="en-US" sz="1200" dirty="0"/>
          </a:p>
        </p:txBody>
      </p:sp>
      <p:sp>
        <p:nvSpPr>
          <p:cNvPr id="18" name="card-27"/>
          <p:cNvSpPr/>
          <p:nvPr/>
        </p:nvSpPr>
        <p:spPr>
          <a:xfrm>
            <a:off x="7294778" y="1691640"/>
            <a:ext cx="2082698" cy="2057400"/>
          </a:xfrm>
          <a:prstGeom prst="roundRect">
            <a:avLst>
              <a:gd name="adj" fmla="val 5333"/>
            </a:avLst>
          </a:prstGeom>
          <a:solidFill>
            <a:schemeClr val="bg2"/>
          </a:solidFill>
          <a:ln/>
        </p:spPr>
      </p:sp>
      <p:pic>
        <p:nvPicPr>
          <p:cNvPr id="19" name="photo-28" descr="/private/tmp/claude-501/-Users-prashant--Desktop-11zon-team-project/10856b9b-b108-4d4a-9557-32e18d5e8211/scratchpad/ppt/assets/aakanksha.png">    </p:cNvPr>
          <p:cNvPicPr>
            <a:picLocks noChangeAspect="1"/>
          </p:cNvPicPr>
          <p:nvPr/>
        </p:nvPicPr>
        <p:blipFill>
          <a:blip r:embed="rId4"/>
          <a:stretch>
            <a:fillRect/>
          </a:stretch>
        </p:blipFill>
        <p:spPr>
          <a:xfrm>
            <a:off x="7856068" y="1874520"/>
            <a:ext cx="960120" cy="960120"/>
          </a:xfrm>
          <a:prstGeom prst="rect">
            <a:avLst/>
          </a:prstGeom>
        </p:spPr>
      </p:pic>
      <p:sp>
        <p:nvSpPr>
          <p:cNvPr id="20" name="text-29"/>
          <p:cNvSpPr txBox="1"/>
          <p:nvPr/>
        </p:nvSpPr>
        <p:spPr>
          <a:xfrm>
            <a:off x="7386218" y="2907792"/>
            <a:ext cx="1899818" cy="310896"/>
          </a:xfrm>
          <a:prstGeom prst="rect">
            <a:avLst/>
          </a:prstGeom>
          <a:noFill/>
          <a:ln/>
        </p:spPr>
        <p:txBody>
          <a:bodyPr wrap="square" lIns="0" tIns="0" rIns="0" bIns="0" rtlCol="0" anchor="t"/>
          <a:lstStyle/>
          <a:p>
            <a:pPr algn="ctr" indent="0" marL="0">
              <a:buNone/>
            </a:pPr>
            <a:r>
              <a:rPr lang="en-US" sz="1600" b="1" dirty="0">
                <a:solidFill>
                  <a:schemeClr val="tx1"/>
                </a:solidFill>
              </a:rPr>
              <a:t>Aakanksha</a:t>
            </a:r>
            <a:endParaRPr lang="en-US" sz="1600" dirty="0"/>
          </a:p>
        </p:txBody>
      </p:sp>
      <p:sp>
        <p:nvSpPr>
          <p:cNvPr id="21" name="text-30"/>
          <p:cNvSpPr txBox="1"/>
          <p:nvPr/>
        </p:nvSpPr>
        <p:spPr>
          <a:xfrm>
            <a:off x="7431938" y="3227832"/>
            <a:ext cx="1808378" cy="457200"/>
          </a:xfrm>
          <a:prstGeom prst="rect">
            <a:avLst/>
          </a:prstGeom>
          <a:noFill/>
          <a:ln/>
        </p:spPr>
        <p:txBody>
          <a:bodyPr wrap="square" lIns="0" tIns="0" rIns="0" bIns="0" rtlCol="0" anchor="t"/>
          <a:lstStyle/>
          <a:p>
            <a:pPr algn="ctr" indent="0" marL="0">
              <a:buNone/>
            </a:pPr>
            <a:r>
              <a:rPr lang="en-US" sz="1200" dirty="0">
                <a:solidFill>
                  <a:schemeClr val="accent6"/>
                </a:solidFill>
              </a:rPr>
              <a:t>Responsive pages and light/dark theme</a:t>
            </a:r>
            <a:endParaRPr lang="en-US" sz="1200" dirty="0"/>
          </a:p>
        </p:txBody>
      </p:sp>
      <p:sp>
        <p:nvSpPr>
          <p:cNvPr id="22" name="card-31"/>
          <p:cNvSpPr/>
          <p:nvPr/>
        </p:nvSpPr>
        <p:spPr>
          <a:xfrm>
            <a:off x="9560357" y="1691640"/>
            <a:ext cx="2082698" cy="2057400"/>
          </a:xfrm>
          <a:prstGeom prst="roundRect">
            <a:avLst>
              <a:gd name="adj" fmla="val 5333"/>
            </a:avLst>
          </a:prstGeom>
          <a:solidFill>
            <a:schemeClr val="bg2"/>
          </a:solidFill>
          <a:ln/>
        </p:spPr>
      </p:sp>
      <p:pic>
        <p:nvPicPr>
          <p:cNvPr id="23" name="photo-32" descr="/private/tmp/claude-501/-Users-prashant--Desktop-11zon-team-project/10856b9b-b108-4d4a-9557-32e18d5e8211/scratchpad/ppt/assets/siddarth.png">    </p:cNvPr>
          <p:cNvPicPr>
            <a:picLocks noChangeAspect="1"/>
          </p:cNvPicPr>
          <p:nvPr/>
        </p:nvPicPr>
        <p:blipFill>
          <a:blip r:embed="rId5"/>
          <a:stretch>
            <a:fillRect/>
          </a:stretch>
        </p:blipFill>
        <p:spPr>
          <a:xfrm>
            <a:off x="10121646" y="1874520"/>
            <a:ext cx="960120" cy="960120"/>
          </a:xfrm>
          <a:prstGeom prst="rect">
            <a:avLst/>
          </a:prstGeom>
        </p:spPr>
      </p:pic>
      <p:sp>
        <p:nvSpPr>
          <p:cNvPr id="24" name="text-33"/>
          <p:cNvSpPr txBox="1"/>
          <p:nvPr/>
        </p:nvSpPr>
        <p:spPr>
          <a:xfrm>
            <a:off x="9651797" y="2907792"/>
            <a:ext cx="1899818" cy="310896"/>
          </a:xfrm>
          <a:prstGeom prst="rect">
            <a:avLst/>
          </a:prstGeom>
          <a:noFill/>
          <a:ln/>
        </p:spPr>
        <p:txBody>
          <a:bodyPr wrap="square" lIns="0" tIns="0" rIns="0" bIns="0" rtlCol="0" anchor="t"/>
          <a:lstStyle/>
          <a:p>
            <a:pPr algn="ctr" indent="0" marL="0">
              <a:buNone/>
            </a:pPr>
            <a:r>
              <a:rPr lang="en-US" sz="1600" b="1" dirty="0">
                <a:solidFill>
                  <a:schemeClr val="tx1"/>
                </a:solidFill>
              </a:rPr>
              <a:t>Siddarth</a:t>
            </a:r>
            <a:endParaRPr lang="en-US" sz="1600" dirty="0"/>
          </a:p>
        </p:txBody>
      </p:sp>
      <p:sp>
        <p:nvSpPr>
          <p:cNvPr id="25" name="text-34"/>
          <p:cNvSpPr txBox="1"/>
          <p:nvPr/>
        </p:nvSpPr>
        <p:spPr>
          <a:xfrm>
            <a:off x="9697517" y="3227832"/>
            <a:ext cx="1808378" cy="457200"/>
          </a:xfrm>
          <a:prstGeom prst="rect">
            <a:avLst/>
          </a:prstGeom>
          <a:noFill/>
          <a:ln/>
        </p:spPr>
        <p:txBody>
          <a:bodyPr wrap="square" lIns="0" tIns="0" rIns="0" bIns="0" rtlCol="0" anchor="t"/>
          <a:lstStyle/>
          <a:p>
            <a:pPr algn="ctr" indent="0" marL="0">
              <a:buNone/>
            </a:pPr>
            <a:r>
              <a:rPr lang="en-US" sz="1200" dirty="0">
                <a:solidFill>
                  <a:schemeClr val="accent6"/>
                </a:solidFill>
              </a:rPr>
              <a:t>Login, JWT security and OTP</a:t>
            </a:r>
            <a:endParaRPr lang="en-US" sz="1200" dirty="0"/>
          </a:p>
        </p:txBody>
      </p:sp>
      <p:sp>
        <p:nvSpPr>
          <p:cNvPr id="26" name="card-35"/>
          <p:cNvSpPr/>
          <p:nvPr/>
        </p:nvSpPr>
        <p:spPr>
          <a:xfrm>
            <a:off x="5029200" y="3931920"/>
            <a:ext cx="2082698" cy="2057400"/>
          </a:xfrm>
          <a:prstGeom prst="roundRect">
            <a:avLst>
              <a:gd name="adj" fmla="val 5333"/>
            </a:avLst>
          </a:prstGeom>
          <a:solidFill>
            <a:schemeClr val="bg2"/>
          </a:solidFill>
          <a:ln/>
        </p:spPr>
      </p:sp>
      <p:pic>
        <p:nvPicPr>
          <p:cNvPr id="27" name="photo-36" descr="/private/tmp/claude-501/-Users-prashant--Desktop-11zon-team-project/10856b9b-b108-4d4a-9557-32e18d5e8211/scratchpad/ppt/assets/gowtam.png">    </p:cNvPr>
          <p:cNvPicPr>
            <a:picLocks noChangeAspect="1"/>
          </p:cNvPicPr>
          <p:nvPr/>
        </p:nvPicPr>
        <p:blipFill>
          <a:blip r:embed="rId6"/>
          <a:stretch>
            <a:fillRect/>
          </a:stretch>
        </p:blipFill>
        <p:spPr>
          <a:xfrm>
            <a:off x="5590489" y="4114800"/>
            <a:ext cx="960120" cy="960120"/>
          </a:xfrm>
          <a:prstGeom prst="rect">
            <a:avLst/>
          </a:prstGeom>
        </p:spPr>
      </p:pic>
      <p:sp>
        <p:nvSpPr>
          <p:cNvPr id="28" name="text-37"/>
          <p:cNvSpPr txBox="1"/>
          <p:nvPr/>
        </p:nvSpPr>
        <p:spPr>
          <a:xfrm>
            <a:off x="5120640" y="5148072"/>
            <a:ext cx="1899818" cy="310896"/>
          </a:xfrm>
          <a:prstGeom prst="rect">
            <a:avLst/>
          </a:prstGeom>
          <a:noFill/>
          <a:ln/>
        </p:spPr>
        <p:txBody>
          <a:bodyPr wrap="square" lIns="0" tIns="0" rIns="0" bIns="0" rtlCol="0" anchor="t"/>
          <a:lstStyle/>
          <a:p>
            <a:pPr algn="ctr" indent="0" marL="0">
              <a:buNone/>
            </a:pPr>
            <a:r>
              <a:rPr lang="en-US" sz="1600" b="1" dirty="0">
                <a:solidFill>
                  <a:schemeClr val="tx1"/>
                </a:solidFill>
              </a:rPr>
              <a:t>Gowtam</a:t>
            </a:r>
            <a:endParaRPr lang="en-US" sz="1600" dirty="0"/>
          </a:p>
        </p:txBody>
      </p:sp>
      <p:sp>
        <p:nvSpPr>
          <p:cNvPr id="29" name="text-38"/>
          <p:cNvSpPr txBox="1"/>
          <p:nvPr/>
        </p:nvSpPr>
        <p:spPr>
          <a:xfrm>
            <a:off x="5166360" y="5468112"/>
            <a:ext cx="1808378" cy="457200"/>
          </a:xfrm>
          <a:prstGeom prst="rect">
            <a:avLst/>
          </a:prstGeom>
          <a:noFill/>
          <a:ln/>
        </p:spPr>
        <p:txBody>
          <a:bodyPr wrap="square" lIns="0" tIns="0" rIns="0" bIns="0" rtlCol="0" anchor="t"/>
          <a:lstStyle/>
          <a:p>
            <a:pPr algn="ctr" indent="0" marL="0">
              <a:buNone/>
            </a:pPr>
            <a:r>
              <a:rPr lang="en-US" sz="1200" dirty="0">
                <a:solidFill>
                  <a:schemeClr val="accent6"/>
                </a:solidFill>
              </a:rPr>
              <a:t>Inquiry and follow-up flow</a:t>
            </a:r>
            <a:endParaRPr lang="en-US" sz="1200" dirty="0"/>
          </a:p>
        </p:txBody>
      </p:sp>
      <p:sp>
        <p:nvSpPr>
          <p:cNvPr id="30" name="card-39"/>
          <p:cNvSpPr/>
          <p:nvPr/>
        </p:nvSpPr>
        <p:spPr>
          <a:xfrm>
            <a:off x="7294778" y="3931920"/>
            <a:ext cx="2082698" cy="2057400"/>
          </a:xfrm>
          <a:prstGeom prst="roundRect">
            <a:avLst>
              <a:gd name="adj" fmla="val 5333"/>
            </a:avLst>
          </a:prstGeom>
          <a:solidFill>
            <a:schemeClr val="bg2"/>
          </a:solidFill>
          <a:ln/>
        </p:spPr>
      </p:sp>
      <p:pic>
        <p:nvPicPr>
          <p:cNvPr id="31" name="photo-40" descr="/private/tmp/claude-501/-Users-prashant--Desktop-11zon-team-project/10856b9b-b108-4d4a-9557-32e18d5e8211/scratchpad/ppt/assets/pritam.png">    </p:cNvPr>
          <p:cNvPicPr>
            <a:picLocks noChangeAspect="1"/>
          </p:cNvPicPr>
          <p:nvPr/>
        </p:nvPicPr>
        <p:blipFill>
          <a:blip r:embed="rId7"/>
          <a:stretch>
            <a:fillRect/>
          </a:stretch>
        </p:blipFill>
        <p:spPr>
          <a:xfrm>
            <a:off x="7856068" y="4114800"/>
            <a:ext cx="960120" cy="960120"/>
          </a:xfrm>
          <a:prstGeom prst="rect">
            <a:avLst/>
          </a:prstGeom>
        </p:spPr>
      </p:pic>
      <p:sp>
        <p:nvSpPr>
          <p:cNvPr id="32" name="text-41"/>
          <p:cNvSpPr txBox="1"/>
          <p:nvPr/>
        </p:nvSpPr>
        <p:spPr>
          <a:xfrm>
            <a:off x="7386218" y="5148072"/>
            <a:ext cx="1899818" cy="310896"/>
          </a:xfrm>
          <a:prstGeom prst="rect">
            <a:avLst/>
          </a:prstGeom>
          <a:noFill/>
          <a:ln/>
        </p:spPr>
        <p:txBody>
          <a:bodyPr wrap="square" lIns="0" tIns="0" rIns="0" bIns="0" rtlCol="0" anchor="t"/>
          <a:lstStyle/>
          <a:p>
            <a:pPr algn="ctr" indent="0" marL="0">
              <a:buNone/>
            </a:pPr>
            <a:r>
              <a:rPr lang="en-US" sz="1600" b="1" dirty="0">
                <a:solidFill>
                  <a:schemeClr val="tx1"/>
                </a:solidFill>
              </a:rPr>
              <a:t>Pritam</a:t>
            </a:r>
            <a:endParaRPr lang="en-US" sz="1600" dirty="0"/>
          </a:p>
        </p:txBody>
      </p:sp>
      <p:sp>
        <p:nvSpPr>
          <p:cNvPr id="33" name="text-42"/>
          <p:cNvSpPr txBox="1"/>
          <p:nvPr/>
        </p:nvSpPr>
        <p:spPr>
          <a:xfrm>
            <a:off x="7431938" y="5468112"/>
            <a:ext cx="1808378" cy="457200"/>
          </a:xfrm>
          <a:prstGeom prst="rect">
            <a:avLst/>
          </a:prstGeom>
          <a:noFill/>
          <a:ln/>
        </p:spPr>
        <p:txBody>
          <a:bodyPr wrap="square" lIns="0" tIns="0" rIns="0" bIns="0" rtlCol="0" anchor="t"/>
          <a:lstStyle/>
          <a:p>
            <a:pPr algn="ctr" indent="0" marL="0">
              <a:buNone/>
            </a:pPr>
            <a:r>
              <a:rPr lang="en-US" sz="1200" dirty="0">
                <a:solidFill>
                  <a:schemeClr val="accent6"/>
                </a:solidFill>
              </a:rPr>
              <a:t>Feedback, ratings and admin charts</a:t>
            </a:r>
            <a:endParaRPr lang="en-US" sz="1200" dirty="0"/>
          </a:p>
        </p:txBody>
      </p:sp>
      <p:sp>
        <p:nvSpPr>
          <p:cNvPr id="34" name="card-43"/>
          <p:cNvSpPr/>
          <p:nvPr/>
        </p:nvSpPr>
        <p:spPr>
          <a:xfrm>
            <a:off x="9560357" y="3931920"/>
            <a:ext cx="2082698" cy="2057400"/>
          </a:xfrm>
          <a:prstGeom prst="roundRect">
            <a:avLst>
              <a:gd name="adj" fmla="val 5333"/>
            </a:avLst>
          </a:prstGeom>
          <a:solidFill>
            <a:schemeClr val="bg2"/>
          </a:solidFill>
          <a:ln/>
        </p:spPr>
      </p:sp>
      <p:pic>
        <p:nvPicPr>
          <p:cNvPr id="35" name="photo-44" descr="/private/tmp/claude-501/-Users-prashant--Desktop-11zon-team-project/10856b9b-b108-4d4a-9557-32e18d5e8211/scratchpad/ppt/assets/sarayu.png">    </p:cNvPr>
          <p:cNvPicPr>
            <a:picLocks noChangeAspect="1"/>
          </p:cNvPicPr>
          <p:nvPr/>
        </p:nvPicPr>
        <p:blipFill>
          <a:blip r:embed="rId8"/>
          <a:stretch>
            <a:fillRect/>
          </a:stretch>
        </p:blipFill>
        <p:spPr>
          <a:xfrm>
            <a:off x="10121646" y="4114800"/>
            <a:ext cx="960120" cy="960120"/>
          </a:xfrm>
          <a:prstGeom prst="rect">
            <a:avLst/>
          </a:prstGeom>
        </p:spPr>
      </p:pic>
      <p:sp>
        <p:nvSpPr>
          <p:cNvPr id="36" name="text-45"/>
          <p:cNvSpPr txBox="1"/>
          <p:nvPr/>
        </p:nvSpPr>
        <p:spPr>
          <a:xfrm>
            <a:off x="9651797" y="5148072"/>
            <a:ext cx="1899818" cy="310896"/>
          </a:xfrm>
          <a:prstGeom prst="rect">
            <a:avLst/>
          </a:prstGeom>
          <a:noFill/>
          <a:ln/>
        </p:spPr>
        <p:txBody>
          <a:bodyPr wrap="square" lIns="0" tIns="0" rIns="0" bIns="0" rtlCol="0" anchor="t"/>
          <a:lstStyle/>
          <a:p>
            <a:pPr algn="ctr" indent="0" marL="0">
              <a:buNone/>
            </a:pPr>
            <a:r>
              <a:rPr lang="en-US" sz="1600" b="1" dirty="0">
                <a:solidFill>
                  <a:schemeClr val="tx1"/>
                </a:solidFill>
              </a:rPr>
              <a:t>Sarayu</a:t>
            </a:r>
            <a:endParaRPr lang="en-US" sz="1600" dirty="0"/>
          </a:p>
        </p:txBody>
      </p:sp>
      <p:sp>
        <p:nvSpPr>
          <p:cNvPr id="37" name="text-46"/>
          <p:cNvSpPr txBox="1"/>
          <p:nvPr/>
        </p:nvSpPr>
        <p:spPr>
          <a:xfrm>
            <a:off x="9697517" y="5468112"/>
            <a:ext cx="1808378" cy="457200"/>
          </a:xfrm>
          <a:prstGeom prst="rect">
            <a:avLst/>
          </a:prstGeom>
          <a:noFill/>
          <a:ln/>
        </p:spPr>
        <p:txBody>
          <a:bodyPr wrap="square" lIns="0" tIns="0" rIns="0" bIns="0" rtlCol="0" anchor="t"/>
          <a:lstStyle/>
          <a:p>
            <a:pPr algn="ctr" indent="0" marL="0">
              <a:buNone/>
            </a:pPr>
            <a:r>
              <a:rPr lang="en-US" sz="1200" dirty="0">
                <a:solidFill>
                  <a:schemeClr val="accent6"/>
                </a:solidFill>
              </a:rPr>
              <a:t>Testing, bug fixing and quality</a:t>
            </a:r>
            <a:endParaRPr lang="en-US" sz="12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868680"/>
            <a:ext cx="2743200" cy="1097280"/>
          </a:xfrm>
          <a:prstGeom prst="rect">
            <a:avLst/>
          </a:prstGeom>
          <a:noFill/>
          <a:ln/>
        </p:spPr>
        <p:txBody>
          <a:bodyPr wrap="square" lIns="0" tIns="0" rIns="0" bIns="0" rtlCol="0" anchor="b"/>
          <a:lstStyle/>
          <a:p>
            <a:pPr indent="0" marL="0">
              <a:buNone/>
            </a:pPr>
            <a:r>
              <a:rPr lang="en-US" sz="6000" b="1" dirty="0">
                <a:solidFill>
                  <a:schemeClr val="accent1"/>
                </a:solidFill>
              </a:rPr>
              <a:t>02</a:t>
            </a:r>
            <a:endParaRPr lang="en-US" sz="6000" dirty="0"/>
          </a:p>
        </p:txBody>
      </p:sp>
      <p:sp>
        <p:nvSpPr>
          <p:cNvPr id="3" name="Text 1"/>
          <p:cNvSpPr/>
          <p:nvPr>
            <p:ph idx="102" type="title" hasCustomPrompt="1"/>
          </p:nvPr>
        </p:nvSpPr>
        <p:spPr>
          <a:xfrm>
            <a:off x="548640" y="2011680"/>
            <a:ext cx="7315200" cy="914400"/>
          </a:xfrm>
          <a:prstGeom prst="rect">
            <a:avLst/>
          </a:prstGeom>
          <a:noFill/>
          <a:ln/>
        </p:spPr>
        <p:txBody>
          <a:bodyPr wrap="square" lIns="0" tIns="0" rIns="0" bIns="0" rtlCol="0" anchor="t"/>
          <a:lstStyle/>
          <a:p>
            <a:pPr indent="0" marL="0">
              <a:buNone/>
            </a:pPr>
            <a:r>
              <a:rPr lang="en-US" sz="4400" b="1" dirty="0">
                <a:solidFill>
                  <a:schemeClr val="bg1"/>
                </a:solidFill>
              </a:rPr>
              <a:t>The project</a:t>
            </a:r>
            <a:endParaRPr lang="en-US" sz="4400" dirty="0"/>
          </a:p>
        </p:txBody>
      </p:sp>
      <p:sp>
        <p:nvSpPr>
          <p:cNvPr id="4" name="Text 1"/>
          <p:cNvSpPr/>
          <p:nvPr>
            <p:ph idx="103" type="body" hasCustomPrompt="1"/>
          </p:nvPr>
        </p:nvSpPr>
        <p:spPr>
          <a:xfrm>
            <a:off x="548640" y="2971800"/>
            <a:ext cx="6858000" cy="548640"/>
          </a:xfrm>
          <a:prstGeom prst="rect">
            <a:avLst/>
          </a:prstGeom>
          <a:noFill/>
          <a:ln/>
        </p:spPr>
        <p:txBody>
          <a:bodyPr wrap="square" lIns="0" tIns="0" rIns="0" bIns="0" rtlCol="0" anchor="t"/>
          <a:lstStyle/>
          <a:p>
            <a:pPr indent="0" marL="0">
              <a:buNone/>
            </a:pPr>
            <a:r>
              <a:rPr lang="en-US" sz="2000" dirty="0">
                <a:solidFill>
                  <a:schemeClr val="accent1"/>
                </a:solidFill>
              </a:rPr>
              <a:t>What ArchitectPoint solves and who uses it</a:t>
            </a:r>
            <a:endParaRPr lang="en-US" sz="2000" dirty="0"/>
          </a:p>
        </p:txBody>
      </p:sp>
      <p:sp>
        <p:nvSpPr>
          <p:cNvPr id="5" name="Text 1"/>
          <p:cNvSpPr/>
          <p:nvPr>
            <p:ph idx="104" type="body" hasCustomPrompt="1"/>
          </p:nvPr>
        </p:nvSpPr>
        <p:spPr>
          <a:xfrm>
            <a:off x="548640" y="3794760"/>
            <a:ext cx="594360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The problem and our solution</a:t>
            </a:r>
            <a:endParaRPr lang="en-US" sz="1600" dirty="0"/>
          </a:p>
          <a:p>
            <a:pPr marL="342900" indent="-342900">
              <a:spcAft>
                <a:spcPts val="600"/>
              </a:spcAft>
              <a:buSzPct val="100000"/>
              <a:buChar char="•"/>
            </a:pPr>
            <a:r>
              <a:rPr lang="en-US" sz="1600" dirty="0">
                <a:solidFill>
                  <a:schemeClr val="bg1"/>
                </a:solidFill>
              </a:rPr>
              <a:t>Key features and Archie, the AI assistant</a:t>
            </a:r>
            <a:endParaRPr lang="en-US" sz="1600" dirty="0"/>
          </a:p>
          <a:p>
            <a:pPr marL="342900" indent="-342900">
              <a:spcAft>
                <a:spcPts val="600"/>
              </a:spcAft>
              <a:buSzPct val="100000"/>
              <a:buChar char="•"/>
            </a:pPr>
            <a:r>
              <a:rPr lang="en-US" sz="1600" dirty="0">
                <a:solidFill>
                  <a:schemeClr val="bg1"/>
                </a:solidFill>
              </a:rPr>
              <a:t>User and admin roles, and the product screens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Problem and solution</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Hiring an architect today is scattered across calls, chats and word of mouth</a:t>
            </a:r>
            <a:endParaRPr lang="en-US" sz="1600" dirty="0"/>
          </a:p>
        </p:txBody>
      </p:sp>
      <p:sp>
        <p:nvSpPr>
          <p:cNvPr id="4" name="card-47"/>
          <p:cNvSpPr/>
          <p:nvPr/>
        </p:nvSpPr>
        <p:spPr>
          <a:xfrm>
            <a:off x="548640" y="1691640"/>
            <a:ext cx="5364328" cy="4434840"/>
          </a:xfrm>
          <a:prstGeom prst="roundRect">
            <a:avLst>
              <a:gd name="adj" fmla="val 2474"/>
            </a:avLst>
          </a:prstGeom>
          <a:solidFill>
            <a:srgbClr val="FDECEA"/>
          </a:solidFill>
          <a:ln/>
        </p:spPr>
      </p:sp>
      <p:sp>
        <p:nvSpPr>
          <p:cNvPr id="5" name="text-48"/>
          <p:cNvSpPr txBox="1"/>
          <p:nvPr/>
        </p:nvSpPr>
        <p:spPr>
          <a:xfrm>
            <a:off x="868680" y="1920240"/>
            <a:ext cx="4724248" cy="411480"/>
          </a:xfrm>
          <a:prstGeom prst="rect">
            <a:avLst/>
          </a:prstGeom>
          <a:noFill/>
          <a:ln/>
        </p:spPr>
        <p:txBody>
          <a:bodyPr wrap="square" lIns="0" tIns="0" rIns="0" bIns="0" rtlCol="0" anchor="t"/>
          <a:lstStyle/>
          <a:p>
            <a:pPr indent="0" marL="0">
              <a:buNone/>
            </a:pPr>
            <a:r>
              <a:rPr lang="en-US" sz="2000" b="1" dirty="0">
                <a:solidFill>
                  <a:schemeClr val="accent2"/>
                </a:solidFill>
              </a:rPr>
              <a:t>The problem</a:t>
            </a:r>
            <a:endParaRPr lang="en-US" sz="2000" dirty="0"/>
          </a:p>
        </p:txBody>
      </p:sp>
      <p:sp>
        <p:nvSpPr>
          <p:cNvPr id="6" name="mark-bg-49"/>
          <p:cNvSpPr/>
          <p:nvPr/>
        </p:nvSpPr>
        <p:spPr>
          <a:xfrm>
            <a:off x="868680" y="2578608"/>
            <a:ext cx="384048" cy="384048"/>
          </a:xfrm>
          <a:prstGeom prst="ellipse">
            <a:avLst/>
          </a:prstGeom>
          <a:solidFill>
            <a:schemeClr val="bg1"/>
          </a:solidFill>
          <a:ln/>
        </p:spPr>
      </p:sp>
      <p:pic>
        <p:nvPicPr>
          <p:cNvPr id="7" name="mark-50" descr="preencoded.png">    </p:cNvPr>
          <p:cNvPicPr>
            <a:picLocks noChangeAspect="1"/>
          </p:cNvPicPr>
          <p:nvPr/>
        </p:nvPicPr>
        <p:blipFill>
          <a:blip r:embed="rId1"/>
          <a:stretch>
            <a:fillRect/>
          </a:stretch>
        </p:blipFill>
        <p:spPr>
          <a:xfrm>
            <a:off x="969264" y="2679192"/>
            <a:ext cx="182880" cy="182880"/>
          </a:xfrm>
          <a:prstGeom prst="rect">
            <a:avLst/>
          </a:prstGeom>
        </p:spPr>
      </p:pic>
      <p:sp>
        <p:nvSpPr>
          <p:cNvPr id="8" name="text-51"/>
          <p:cNvSpPr txBox="1"/>
          <p:nvPr/>
        </p:nvSpPr>
        <p:spPr>
          <a:xfrm>
            <a:off x="1417320" y="2560320"/>
            <a:ext cx="4175608" cy="731520"/>
          </a:xfrm>
          <a:prstGeom prst="rect">
            <a:avLst/>
          </a:prstGeom>
          <a:noFill/>
          <a:ln/>
        </p:spPr>
        <p:txBody>
          <a:bodyPr wrap="square" lIns="0" tIns="0" rIns="0" bIns="0" rtlCol="0" anchor="t"/>
          <a:lstStyle/>
          <a:p>
            <a:pPr indent="0" marL="0">
              <a:buNone/>
            </a:pPr>
            <a:r>
              <a:rPr lang="en-US" sz="1500" dirty="0">
                <a:solidFill>
                  <a:schemeClr val="tx1"/>
                </a:solidFill>
              </a:rPr>
              <a:t>No single place to compare architects by expertise, location and rating</a:t>
            </a:r>
            <a:endParaRPr lang="en-US" sz="1500" dirty="0"/>
          </a:p>
        </p:txBody>
      </p:sp>
      <p:sp>
        <p:nvSpPr>
          <p:cNvPr id="9" name="mark-bg-52"/>
          <p:cNvSpPr/>
          <p:nvPr/>
        </p:nvSpPr>
        <p:spPr>
          <a:xfrm>
            <a:off x="868680" y="3447288"/>
            <a:ext cx="384048" cy="384048"/>
          </a:xfrm>
          <a:prstGeom prst="ellipse">
            <a:avLst/>
          </a:prstGeom>
          <a:solidFill>
            <a:schemeClr val="bg1"/>
          </a:solidFill>
          <a:ln/>
        </p:spPr>
      </p:sp>
      <p:pic>
        <p:nvPicPr>
          <p:cNvPr id="10" name="mark-53" descr="preencoded.png">    </p:cNvPr>
          <p:cNvPicPr>
            <a:picLocks noChangeAspect="1"/>
          </p:cNvPicPr>
          <p:nvPr/>
        </p:nvPicPr>
        <p:blipFill>
          <a:blip r:embed="rId2"/>
          <a:stretch>
            <a:fillRect/>
          </a:stretch>
        </p:blipFill>
        <p:spPr>
          <a:xfrm>
            <a:off x="969264" y="3547872"/>
            <a:ext cx="182880" cy="182880"/>
          </a:xfrm>
          <a:prstGeom prst="rect">
            <a:avLst/>
          </a:prstGeom>
        </p:spPr>
      </p:pic>
      <p:sp>
        <p:nvSpPr>
          <p:cNvPr id="11" name="text-54"/>
          <p:cNvSpPr txBox="1"/>
          <p:nvPr/>
        </p:nvSpPr>
        <p:spPr>
          <a:xfrm>
            <a:off x="1417320" y="3429000"/>
            <a:ext cx="4175608" cy="731520"/>
          </a:xfrm>
          <a:prstGeom prst="rect">
            <a:avLst/>
          </a:prstGeom>
          <a:noFill/>
          <a:ln/>
        </p:spPr>
        <p:txBody>
          <a:bodyPr wrap="square" lIns="0" tIns="0" rIns="0" bIns="0" rtlCol="0" anchor="t"/>
          <a:lstStyle/>
          <a:p>
            <a:pPr indent="0" marL="0">
              <a:buNone/>
            </a:pPr>
            <a:r>
              <a:rPr lang="en-US" sz="1500" dirty="0">
                <a:solidFill>
                  <a:schemeClr val="tx1"/>
                </a:solidFill>
              </a:rPr>
              <a:t>Inquiries get lost in calls and emails with no status tracking</a:t>
            </a:r>
            <a:endParaRPr lang="en-US" sz="1500" dirty="0"/>
          </a:p>
        </p:txBody>
      </p:sp>
      <p:sp>
        <p:nvSpPr>
          <p:cNvPr id="12" name="mark-bg-55"/>
          <p:cNvSpPr/>
          <p:nvPr/>
        </p:nvSpPr>
        <p:spPr>
          <a:xfrm>
            <a:off x="868680" y="4315968"/>
            <a:ext cx="384048" cy="384048"/>
          </a:xfrm>
          <a:prstGeom prst="ellipse">
            <a:avLst/>
          </a:prstGeom>
          <a:solidFill>
            <a:schemeClr val="bg1"/>
          </a:solidFill>
          <a:ln/>
        </p:spPr>
      </p:sp>
      <p:pic>
        <p:nvPicPr>
          <p:cNvPr id="13" name="mark-56" descr="preencoded.png">    </p:cNvPr>
          <p:cNvPicPr>
            <a:picLocks noChangeAspect="1"/>
          </p:cNvPicPr>
          <p:nvPr/>
        </p:nvPicPr>
        <p:blipFill>
          <a:blip r:embed="rId3"/>
          <a:stretch>
            <a:fillRect/>
          </a:stretch>
        </p:blipFill>
        <p:spPr>
          <a:xfrm>
            <a:off x="969264" y="4416552"/>
            <a:ext cx="182880" cy="182880"/>
          </a:xfrm>
          <a:prstGeom prst="rect">
            <a:avLst/>
          </a:prstGeom>
        </p:spPr>
      </p:pic>
      <p:sp>
        <p:nvSpPr>
          <p:cNvPr id="14" name="text-57"/>
          <p:cNvSpPr txBox="1"/>
          <p:nvPr/>
        </p:nvSpPr>
        <p:spPr>
          <a:xfrm>
            <a:off x="1417320" y="4297680"/>
            <a:ext cx="4175608" cy="731520"/>
          </a:xfrm>
          <a:prstGeom prst="rect">
            <a:avLst/>
          </a:prstGeom>
          <a:noFill/>
          <a:ln/>
        </p:spPr>
        <p:txBody>
          <a:bodyPr wrap="square" lIns="0" tIns="0" rIns="0" bIns="0" rtlCol="0" anchor="t"/>
          <a:lstStyle/>
          <a:p>
            <a:pPr indent="0" marL="0">
              <a:buNone/>
            </a:pPr>
            <a:r>
              <a:rPr lang="en-US" sz="1500" dirty="0">
                <a:solidFill>
                  <a:schemeClr val="tx1"/>
                </a:solidFill>
              </a:rPr>
              <a:t>Clients cannot see honest reviews before they choose</a:t>
            </a:r>
            <a:endParaRPr lang="en-US" sz="1500" dirty="0"/>
          </a:p>
        </p:txBody>
      </p:sp>
      <p:sp>
        <p:nvSpPr>
          <p:cNvPr id="15" name="mark-bg-58"/>
          <p:cNvSpPr/>
          <p:nvPr/>
        </p:nvSpPr>
        <p:spPr>
          <a:xfrm>
            <a:off x="868680" y="5184648"/>
            <a:ext cx="384048" cy="384048"/>
          </a:xfrm>
          <a:prstGeom prst="ellipse">
            <a:avLst/>
          </a:prstGeom>
          <a:solidFill>
            <a:schemeClr val="bg1"/>
          </a:solidFill>
          <a:ln/>
        </p:spPr>
      </p:sp>
      <p:pic>
        <p:nvPicPr>
          <p:cNvPr id="16" name="mark-59" descr="preencoded.png">    </p:cNvPr>
          <p:cNvPicPr>
            <a:picLocks noChangeAspect="1"/>
          </p:cNvPicPr>
          <p:nvPr/>
        </p:nvPicPr>
        <p:blipFill>
          <a:blip r:embed="rId4"/>
          <a:stretch>
            <a:fillRect/>
          </a:stretch>
        </p:blipFill>
        <p:spPr>
          <a:xfrm>
            <a:off x="969264" y="5285232"/>
            <a:ext cx="182880" cy="182880"/>
          </a:xfrm>
          <a:prstGeom prst="rect">
            <a:avLst/>
          </a:prstGeom>
        </p:spPr>
      </p:pic>
      <p:sp>
        <p:nvSpPr>
          <p:cNvPr id="17" name="text-60"/>
          <p:cNvSpPr txBox="1"/>
          <p:nvPr/>
        </p:nvSpPr>
        <p:spPr>
          <a:xfrm>
            <a:off x="1417320" y="5166360"/>
            <a:ext cx="4175608" cy="731520"/>
          </a:xfrm>
          <a:prstGeom prst="rect">
            <a:avLst/>
          </a:prstGeom>
          <a:noFill/>
          <a:ln/>
        </p:spPr>
        <p:txBody>
          <a:bodyPr wrap="square" lIns="0" tIns="0" rIns="0" bIns="0" rtlCol="0" anchor="t"/>
          <a:lstStyle/>
          <a:p>
            <a:pPr indent="0" marL="0">
              <a:buNone/>
            </a:pPr>
            <a:r>
              <a:rPr lang="en-US" sz="1500" dirty="0">
                <a:solidFill>
                  <a:schemeClr val="tx1"/>
                </a:solidFill>
              </a:rPr>
              <a:t>Admins have no view of demand, inquiries or service quality</a:t>
            </a:r>
            <a:endParaRPr lang="en-US" sz="1500" dirty="0"/>
          </a:p>
        </p:txBody>
      </p:sp>
      <p:sp>
        <p:nvSpPr>
          <p:cNvPr id="18" name="card-61"/>
          <p:cNvSpPr/>
          <p:nvPr/>
        </p:nvSpPr>
        <p:spPr>
          <a:xfrm>
            <a:off x="6278728" y="1691640"/>
            <a:ext cx="5364328" cy="4434840"/>
          </a:xfrm>
          <a:prstGeom prst="roundRect">
            <a:avLst>
              <a:gd name="adj" fmla="val 2474"/>
            </a:avLst>
          </a:prstGeom>
          <a:solidFill>
            <a:srgbClr val="E8F3EC"/>
          </a:solidFill>
          <a:ln/>
        </p:spPr>
      </p:sp>
      <p:sp>
        <p:nvSpPr>
          <p:cNvPr id="19" name="text-62"/>
          <p:cNvSpPr txBox="1"/>
          <p:nvPr/>
        </p:nvSpPr>
        <p:spPr>
          <a:xfrm>
            <a:off x="6598768" y="1920240"/>
            <a:ext cx="4724248" cy="411480"/>
          </a:xfrm>
          <a:prstGeom prst="rect">
            <a:avLst/>
          </a:prstGeom>
          <a:noFill/>
          <a:ln/>
        </p:spPr>
        <p:txBody>
          <a:bodyPr wrap="square" lIns="0" tIns="0" rIns="0" bIns="0" rtlCol="0" anchor="t"/>
          <a:lstStyle/>
          <a:p>
            <a:pPr indent="0" marL="0">
              <a:buNone/>
            </a:pPr>
            <a:r>
              <a:rPr lang="en-US" sz="2000" b="1" dirty="0">
                <a:solidFill>
                  <a:schemeClr val="accent5"/>
                </a:solidFill>
              </a:rPr>
              <a:t>Our solution: ArchitectPoint</a:t>
            </a:r>
            <a:endParaRPr lang="en-US" sz="2000" dirty="0"/>
          </a:p>
        </p:txBody>
      </p:sp>
      <p:sp>
        <p:nvSpPr>
          <p:cNvPr id="20" name="mark-bg-63"/>
          <p:cNvSpPr/>
          <p:nvPr/>
        </p:nvSpPr>
        <p:spPr>
          <a:xfrm>
            <a:off x="6598768" y="2578608"/>
            <a:ext cx="384048" cy="384048"/>
          </a:xfrm>
          <a:prstGeom prst="ellipse">
            <a:avLst/>
          </a:prstGeom>
          <a:solidFill>
            <a:schemeClr val="bg1"/>
          </a:solidFill>
          <a:ln/>
        </p:spPr>
      </p:sp>
      <p:pic>
        <p:nvPicPr>
          <p:cNvPr id="21" name="mark-64" descr="preencoded.png">    </p:cNvPr>
          <p:cNvPicPr>
            <a:picLocks noChangeAspect="1"/>
          </p:cNvPicPr>
          <p:nvPr/>
        </p:nvPicPr>
        <p:blipFill>
          <a:blip r:embed="rId5"/>
          <a:stretch>
            <a:fillRect/>
          </a:stretch>
        </p:blipFill>
        <p:spPr>
          <a:xfrm>
            <a:off x="6699352" y="2679192"/>
            <a:ext cx="182880" cy="182880"/>
          </a:xfrm>
          <a:prstGeom prst="rect">
            <a:avLst/>
          </a:prstGeom>
        </p:spPr>
      </p:pic>
      <p:sp>
        <p:nvSpPr>
          <p:cNvPr id="22" name="text-65"/>
          <p:cNvSpPr txBox="1"/>
          <p:nvPr/>
        </p:nvSpPr>
        <p:spPr>
          <a:xfrm>
            <a:off x="7147408" y="2560320"/>
            <a:ext cx="4175608" cy="731520"/>
          </a:xfrm>
          <a:prstGeom prst="rect">
            <a:avLst/>
          </a:prstGeom>
          <a:noFill/>
          <a:ln/>
        </p:spPr>
        <p:txBody>
          <a:bodyPr wrap="square" lIns="0" tIns="0" rIns="0" bIns="0" rtlCol="0" anchor="t"/>
          <a:lstStyle/>
          <a:p>
            <a:pPr indent="0" marL="0">
              <a:buNone/>
            </a:pPr>
            <a:r>
              <a:rPr lang="en-US" sz="1500" dirty="0">
                <a:solidFill>
                  <a:schemeClr val="tx1"/>
                </a:solidFill>
              </a:rPr>
              <a:t>Searchable architect directory with portfolios and top-rated picks</a:t>
            </a:r>
            <a:endParaRPr lang="en-US" sz="1500" dirty="0"/>
          </a:p>
        </p:txBody>
      </p:sp>
      <p:sp>
        <p:nvSpPr>
          <p:cNvPr id="23" name="mark-bg-66"/>
          <p:cNvSpPr/>
          <p:nvPr/>
        </p:nvSpPr>
        <p:spPr>
          <a:xfrm>
            <a:off x="6598768" y="3447288"/>
            <a:ext cx="384048" cy="384048"/>
          </a:xfrm>
          <a:prstGeom prst="ellipse">
            <a:avLst/>
          </a:prstGeom>
          <a:solidFill>
            <a:schemeClr val="bg1"/>
          </a:solidFill>
          <a:ln/>
        </p:spPr>
      </p:sp>
      <p:pic>
        <p:nvPicPr>
          <p:cNvPr id="24" name="mark-67" descr="preencoded.png">    </p:cNvPr>
          <p:cNvPicPr>
            <a:picLocks noChangeAspect="1"/>
          </p:cNvPicPr>
          <p:nvPr/>
        </p:nvPicPr>
        <p:blipFill>
          <a:blip r:embed="rId6"/>
          <a:stretch>
            <a:fillRect/>
          </a:stretch>
        </p:blipFill>
        <p:spPr>
          <a:xfrm>
            <a:off x="6699352" y="3547872"/>
            <a:ext cx="182880" cy="182880"/>
          </a:xfrm>
          <a:prstGeom prst="rect">
            <a:avLst/>
          </a:prstGeom>
        </p:spPr>
      </p:pic>
      <p:sp>
        <p:nvSpPr>
          <p:cNvPr id="25" name="text-68"/>
          <p:cNvSpPr txBox="1"/>
          <p:nvPr/>
        </p:nvSpPr>
        <p:spPr>
          <a:xfrm>
            <a:off x="7147408" y="3429000"/>
            <a:ext cx="4175608" cy="731520"/>
          </a:xfrm>
          <a:prstGeom prst="rect">
            <a:avLst/>
          </a:prstGeom>
          <a:noFill/>
          <a:ln/>
        </p:spPr>
        <p:txBody>
          <a:bodyPr wrap="square" lIns="0" tIns="0" rIns="0" bIns="0" rtlCol="0" anchor="t"/>
          <a:lstStyle/>
          <a:p>
            <a:pPr indent="0" marL="0">
              <a:buNone/>
            </a:pPr>
            <a:r>
              <a:rPr lang="en-US" sz="1500" dirty="0">
                <a:solidFill>
                  <a:schemeClr val="tx1"/>
                </a:solidFill>
              </a:rPr>
              <a:t>Inquiries with status, priority and threaded follow-up messages</a:t>
            </a:r>
            <a:endParaRPr lang="en-US" sz="1500" dirty="0"/>
          </a:p>
        </p:txBody>
      </p:sp>
      <p:sp>
        <p:nvSpPr>
          <p:cNvPr id="26" name="mark-bg-69"/>
          <p:cNvSpPr/>
          <p:nvPr/>
        </p:nvSpPr>
        <p:spPr>
          <a:xfrm>
            <a:off x="6598768" y="4315968"/>
            <a:ext cx="384048" cy="384048"/>
          </a:xfrm>
          <a:prstGeom prst="ellipse">
            <a:avLst/>
          </a:prstGeom>
          <a:solidFill>
            <a:schemeClr val="bg1"/>
          </a:solidFill>
          <a:ln/>
        </p:spPr>
      </p:sp>
      <p:pic>
        <p:nvPicPr>
          <p:cNvPr id="27" name="mark-70" descr="preencoded.png">    </p:cNvPr>
          <p:cNvPicPr>
            <a:picLocks noChangeAspect="1"/>
          </p:cNvPicPr>
          <p:nvPr/>
        </p:nvPicPr>
        <p:blipFill>
          <a:blip r:embed="rId7"/>
          <a:stretch>
            <a:fillRect/>
          </a:stretch>
        </p:blipFill>
        <p:spPr>
          <a:xfrm>
            <a:off x="6699352" y="4416552"/>
            <a:ext cx="182880" cy="182880"/>
          </a:xfrm>
          <a:prstGeom prst="rect">
            <a:avLst/>
          </a:prstGeom>
        </p:spPr>
      </p:pic>
      <p:sp>
        <p:nvSpPr>
          <p:cNvPr id="28" name="text-71"/>
          <p:cNvSpPr txBox="1"/>
          <p:nvPr/>
        </p:nvSpPr>
        <p:spPr>
          <a:xfrm>
            <a:off x="7147408" y="4297680"/>
            <a:ext cx="4175608" cy="731520"/>
          </a:xfrm>
          <a:prstGeom prst="rect">
            <a:avLst/>
          </a:prstGeom>
          <a:noFill/>
          <a:ln/>
        </p:spPr>
        <p:txBody>
          <a:bodyPr wrap="square" lIns="0" tIns="0" rIns="0" bIns="0" rtlCol="0" anchor="t"/>
          <a:lstStyle/>
          <a:p>
            <a:pPr indent="0" marL="0">
              <a:buNone/>
            </a:pPr>
            <a:r>
              <a:rPr lang="en-US" sz="1500" dirty="0">
                <a:solidFill>
                  <a:schemeClr val="tx1"/>
                </a:solidFill>
              </a:rPr>
              <a:t>Verified 1-5 star feedback, plus Archie AI to guide every step</a:t>
            </a:r>
            <a:endParaRPr lang="en-US" sz="1500" dirty="0"/>
          </a:p>
        </p:txBody>
      </p:sp>
      <p:sp>
        <p:nvSpPr>
          <p:cNvPr id="29" name="mark-bg-72"/>
          <p:cNvSpPr/>
          <p:nvPr/>
        </p:nvSpPr>
        <p:spPr>
          <a:xfrm>
            <a:off x="6598768" y="5184648"/>
            <a:ext cx="384048" cy="384048"/>
          </a:xfrm>
          <a:prstGeom prst="ellipse">
            <a:avLst/>
          </a:prstGeom>
          <a:solidFill>
            <a:schemeClr val="bg1"/>
          </a:solidFill>
          <a:ln/>
        </p:spPr>
      </p:sp>
      <p:pic>
        <p:nvPicPr>
          <p:cNvPr id="30" name="mark-73" descr="preencoded.png">    </p:cNvPr>
          <p:cNvPicPr>
            <a:picLocks noChangeAspect="1"/>
          </p:cNvPicPr>
          <p:nvPr/>
        </p:nvPicPr>
        <p:blipFill>
          <a:blip r:embed="rId8"/>
          <a:stretch>
            <a:fillRect/>
          </a:stretch>
        </p:blipFill>
        <p:spPr>
          <a:xfrm>
            <a:off x="6699352" y="5285232"/>
            <a:ext cx="182880" cy="182880"/>
          </a:xfrm>
          <a:prstGeom prst="rect">
            <a:avLst/>
          </a:prstGeom>
        </p:spPr>
      </p:pic>
      <p:sp>
        <p:nvSpPr>
          <p:cNvPr id="31" name="text-74"/>
          <p:cNvSpPr txBox="1"/>
          <p:nvPr/>
        </p:nvSpPr>
        <p:spPr>
          <a:xfrm>
            <a:off x="7147408" y="5166360"/>
            <a:ext cx="4175608" cy="731520"/>
          </a:xfrm>
          <a:prstGeom prst="rect">
            <a:avLst/>
          </a:prstGeom>
          <a:noFill/>
          <a:ln/>
        </p:spPr>
        <p:txBody>
          <a:bodyPr wrap="square" lIns="0" tIns="0" rIns="0" bIns="0" rtlCol="0" anchor="t"/>
          <a:lstStyle/>
          <a:p>
            <a:pPr indent="0" marL="0">
              <a:buNone/>
            </a:pPr>
            <a:r>
              <a:rPr lang="en-US" sz="1500" dirty="0">
                <a:solidFill>
                  <a:schemeClr val="tx1"/>
                </a:solidFill>
              </a:rPr>
              <a:t>Admin control panel with dashboards to manage everything</a:t>
            </a:r>
            <a:endParaRPr lang="en-US" sz="15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Key features</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Five modules that cover the full client-architect journey</a:t>
            </a:r>
            <a:endParaRPr lang="en-US" sz="1600" dirty="0"/>
          </a:p>
        </p:txBody>
      </p:sp>
      <p:sp>
        <p:nvSpPr>
          <p:cNvPr id="4" name="card-75"/>
          <p:cNvSpPr/>
          <p:nvPr/>
        </p:nvSpPr>
        <p:spPr>
          <a:xfrm>
            <a:off x="548640" y="1783080"/>
            <a:ext cx="2036003" cy="4206240"/>
          </a:xfrm>
          <a:prstGeom prst="roundRect">
            <a:avLst>
              <a:gd name="adj" fmla="val 5389"/>
            </a:avLst>
          </a:prstGeom>
          <a:solidFill>
            <a:schemeClr val="bg2"/>
          </a:solidFill>
          <a:ln/>
        </p:spPr>
      </p:sp>
      <p:sp>
        <p:nvSpPr>
          <p:cNvPr id="5" name="icon-bg-76"/>
          <p:cNvSpPr/>
          <p:nvPr/>
        </p:nvSpPr>
        <p:spPr>
          <a:xfrm>
            <a:off x="822960" y="2103120"/>
            <a:ext cx="685800" cy="685800"/>
          </a:xfrm>
          <a:prstGeom prst="ellipse">
            <a:avLst/>
          </a:prstGeom>
          <a:solidFill>
            <a:schemeClr val="accent1"/>
          </a:solidFill>
          <a:ln/>
        </p:spPr>
      </p:sp>
      <p:pic>
        <p:nvPicPr>
          <p:cNvPr id="6" name="icon-77" descr="preencoded.png">    </p:cNvPr>
          <p:cNvPicPr>
            <a:picLocks noChangeAspect="1"/>
          </p:cNvPicPr>
          <p:nvPr/>
        </p:nvPicPr>
        <p:blipFill>
          <a:blip r:embed="rId1"/>
          <a:stretch>
            <a:fillRect/>
          </a:stretch>
        </p:blipFill>
        <p:spPr>
          <a:xfrm>
            <a:off x="1001268" y="2281428"/>
            <a:ext cx="329184" cy="329184"/>
          </a:xfrm>
          <a:prstGeom prst="rect">
            <a:avLst/>
          </a:prstGeom>
        </p:spPr>
      </p:pic>
      <p:sp>
        <p:nvSpPr>
          <p:cNvPr id="7" name="text-78"/>
          <p:cNvSpPr txBox="1"/>
          <p:nvPr/>
        </p:nvSpPr>
        <p:spPr>
          <a:xfrm>
            <a:off x="822960" y="3017520"/>
            <a:ext cx="1578803" cy="685800"/>
          </a:xfrm>
          <a:prstGeom prst="rect">
            <a:avLst/>
          </a:prstGeom>
          <a:noFill/>
          <a:ln/>
        </p:spPr>
        <p:txBody>
          <a:bodyPr wrap="square" lIns="0" tIns="0" rIns="0" bIns="0" rtlCol="0" anchor="t"/>
          <a:lstStyle/>
          <a:p>
            <a:pPr indent="0" marL="0">
              <a:buNone/>
            </a:pPr>
            <a:r>
              <a:rPr lang="en-US" sz="1700" b="1" dirty="0">
                <a:solidFill>
                  <a:schemeClr val="tx1"/>
                </a:solidFill>
              </a:rPr>
              <a:t>Architect discovery</a:t>
            </a:r>
            <a:endParaRPr lang="en-US" sz="1700" dirty="0"/>
          </a:p>
        </p:txBody>
      </p:sp>
      <p:sp>
        <p:nvSpPr>
          <p:cNvPr id="8" name="text-79"/>
          <p:cNvSpPr txBox="1"/>
          <p:nvPr/>
        </p:nvSpPr>
        <p:spPr>
          <a:xfrm>
            <a:off x="822960" y="3749040"/>
            <a:ext cx="1578803" cy="2103120"/>
          </a:xfrm>
          <a:prstGeom prst="rect">
            <a:avLst/>
          </a:prstGeom>
          <a:noFill/>
          <a:ln/>
        </p:spPr>
        <p:txBody>
          <a:bodyPr wrap="square" lIns="0" tIns="0" rIns="0" bIns="0" rtlCol="0" anchor="t"/>
          <a:lstStyle/>
          <a:p>
            <a:pPr indent="0" marL="0">
              <a:buNone/>
            </a:pPr>
            <a:r>
              <a:rPr lang="en-US" sz="1400" dirty="0">
                <a:solidFill>
                  <a:schemeClr val="accent6"/>
                </a:solidFill>
              </a:rPr>
              <a:t>Browse, search and filter by expertise, location and rating. Top-rated list and a portfolio page for each architect.</a:t>
            </a:r>
            <a:endParaRPr lang="en-US" sz="1400" dirty="0"/>
          </a:p>
        </p:txBody>
      </p:sp>
      <p:sp>
        <p:nvSpPr>
          <p:cNvPr id="9" name="card-80"/>
          <p:cNvSpPr/>
          <p:nvPr/>
        </p:nvSpPr>
        <p:spPr>
          <a:xfrm>
            <a:off x="2813243" y="1783080"/>
            <a:ext cx="2036003" cy="4206240"/>
          </a:xfrm>
          <a:prstGeom prst="roundRect">
            <a:avLst>
              <a:gd name="adj" fmla="val 5389"/>
            </a:avLst>
          </a:prstGeom>
          <a:solidFill>
            <a:schemeClr val="bg2"/>
          </a:solidFill>
          <a:ln/>
        </p:spPr>
      </p:sp>
      <p:sp>
        <p:nvSpPr>
          <p:cNvPr id="10" name="icon-bg-81"/>
          <p:cNvSpPr/>
          <p:nvPr/>
        </p:nvSpPr>
        <p:spPr>
          <a:xfrm>
            <a:off x="3087563" y="2103120"/>
            <a:ext cx="685800" cy="685800"/>
          </a:xfrm>
          <a:prstGeom prst="ellipse">
            <a:avLst/>
          </a:prstGeom>
          <a:solidFill>
            <a:schemeClr val="accent1"/>
          </a:solidFill>
          <a:ln/>
        </p:spPr>
      </p:sp>
      <p:pic>
        <p:nvPicPr>
          <p:cNvPr id="11" name="icon-82" descr="preencoded.png">    </p:cNvPr>
          <p:cNvPicPr>
            <a:picLocks noChangeAspect="1"/>
          </p:cNvPicPr>
          <p:nvPr/>
        </p:nvPicPr>
        <p:blipFill>
          <a:blip r:embed="rId2"/>
          <a:stretch>
            <a:fillRect/>
          </a:stretch>
        </p:blipFill>
        <p:spPr>
          <a:xfrm>
            <a:off x="3265871" y="2281428"/>
            <a:ext cx="329184" cy="329184"/>
          </a:xfrm>
          <a:prstGeom prst="rect">
            <a:avLst/>
          </a:prstGeom>
        </p:spPr>
      </p:pic>
      <p:sp>
        <p:nvSpPr>
          <p:cNvPr id="12" name="text-83"/>
          <p:cNvSpPr txBox="1"/>
          <p:nvPr/>
        </p:nvSpPr>
        <p:spPr>
          <a:xfrm>
            <a:off x="3087563" y="3017520"/>
            <a:ext cx="1578803" cy="685800"/>
          </a:xfrm>
          <a:prstGeom prst="rect">
            <a:avLst/>
          </a:prstGeom>
          <a:noFill/>
          <a:ln/>
        </p:spPr>
        <p:txBody>
          <a:bodyPr wrap="square" lIns="0" tIns="0" rIns="0" bIns="0" rtlCol="0" anchor="t"/>
          <a:lstStyle/>
          <a:p>
            <a:pPr indent="0" marL="0">
              <a:buNone/>
            </a:pPr>
            <a:r>
              <a:rPr lang="en-US" sz="1700" b="1" dirty="0">
                <a:solidFill>
                  <a:schemeClr val="tx1"/>
                </a:solidFill>
              </a:rPr>
              <a:t>Inquiries</a:t>
            </a:r>
            <a:endParaRPr lang="en-US" sz="1700" dirty="0"/>
          </a:p>
        </p:txBody>
      </p:sp>
      <p:sp>
        <p:nvSpPr>
          <p:cNvPr id="13" name="text-84"/>
          <p:cNvSpPr txBox="1"/>
          <p:nvPr/>
        </p:nvSpPr>
        <p:spPr>
          <a:xfrm>
            <a:off x="3087563" y="3749040"/>
            <a:ext cx="1578803" cy="2103120"/>
          </a:xfrm>
          <a:prstGeom prst="rect">
            <a:avLst/>
          </a:prstGeom>
          <a:noFill/>
          <a:ln/>
        </p:spPr>
        <p:txBody>
          <a:bodyPr wrap="square" lIns="0" tIns="0" rIns="0" bIns="0" rtlCol="0" anchor="t"/>
          <a:lstStyle/>
          <a:p>
            <a:pPr indent="0" marL="0">
              <a:buNone/>
            </a:pPr>
            <a:r>
              <a:rPr lang="en-US" sz="1400" dirty="0">
                <a:solidFill>
                  <a:schemeClr val="accent6"/>
                </a:solidFill>
              </a:rPr>
              <a:t>Send an inquiry with priority and contact details, track its status and continue with follow-up messages.</a:t>
            </a:r>
            <a:endParaRPr lang="en-US" sz="1400" dirty="0"/>
          </a:p>
        </p:txBody>
      </p:sp>
      <p:sp>
        <p:nvSpPr>
          <p:cNvPr id="14" name="card-85"/>
          <p:cNvSpPr/>
          <p:nvPr/>
        </p:nvSpPr>
        <p:spPr>
          <a:xfrm>
            <a:off x="5077846" y="1783080"/>
            <a:ext cx="2036003" cy="4206240"/>
          </a:xfrm>
          <a:prstGeom prst="roundRect">
            <a:avLst>
              <a:gd name="adj" fmla="val 5389"/>
            </a:avLst>
          </a:prstGeom>
          <a:solidFill>
            <a:schemeClr val="bg2"/>
          </a:solidFill>
          <a:ln/>
        </p:spPr>
      </p:sp>
      <p:sp>
        <p:nvSpPr>
          <p:cNvPr id="15" name="icon-bg-86"/>
          <p:cNvSpPr/>
          <p:nvPr/>
        </p:nvSpPr>
        <p:spPr>
          <a:xfrm>
            <a:off x="5352166" y="2103120"/>
            <a:ext cx="685800" cy="685800"/>
          </a:xfrm>
          <a:prstGeom prst="ellipse">
            <a:avLst/>
          </a:prstGeom>
          <a:solidFill>
            <a:schemeClr val="accent1"/>
          </a:solidFill>
          <a:ln/>
        </p:spPr>
      </p:sp>
      <p:pic>
        <p:nvPicPr>
          <p:cNvPr id="16" name="icon-87" descr="preencoded.png">    </p:cNvPr>
          <p:cNvPicPr>
            <a:picLocks noChangeAspect="1"/>
          </p:cNvPicPr>
          <p:nvPr/>
        </p:nvPicPr>
        <p:blipFill>
          <a:blip r:embed="rId3"/>
          <a:stretch>
            <a:fillRect/>
          </a:stretch>
        </p:blipFill>
        <p:spPr>
          <a:xfrm>
            <a:off x="5530474" y="2281428"/>
            <a:ext cx="329184" cy="329184"/>
          </a:xfrm>
          <a:prstGeom prst="rect">
            <a:avLst/>
          </a:prstGeom>
        </p:spPr>
      </p:pic>
      <p:sp>
        <p:nvSpPr>
          <p:cNvPr id="17" name="text-88"/>
          <p:cNvSpPr txBox="1"/>
          <p:nvPr/>
        </p:nvSpPr>
        <p:spPr>
          <a:xfrm>
            <a:off x="5352166" y="3017520"/>
            <a:ext cx="1578803" cy="685800"/>
          </a:xfrm>
          <a:prstGeom prst="rect">
            <a:avLst/>
          </a:prstGeom>
          <a:noFill/>
          <a:ln/>
        </p:spPr>
        <p:txBody>
          <a:bodyPr wrap="square" lIns="0" tIns="0" rIns="0" bIns="0" rtlCol="0" anchor="t"/>
          <a:lstStyle/>
          <a:p>
            <a:pPr indent="0" marL="0">
              <a:buNone/>
            </a:pPr>
            <a:r>
              <a:rPr lang="en-US" sz="1700" b="1" dirty="0">
                <a:solidFill>
                  <a:schemeClr val="tx1"/>
                </a:solidFill>
              </a:rPr>
              <a:t>Feedback &amp; ratings</a:t>
            </a:r>
            <a:endParaRPr lang="en-US" sz="1700" dirty="0"/>
          </a:p>
        </p:txBody>
      </p:sp>
      <p:sp>
        <p:nvSpPr>
          <p:cNvPr id="18" name="text-89"/>
          <p:cNvSpPr txBox="1"/>
          <p:nvPr/>
        </p:nvSpPr>
        <p:spPr>
          <a:xfrm>
            <a:off x="5352166" y="3749040"/>
            <a:ext cx="1578803" cy="2103120"/>
          </a:xfrm>
          <a:prstGeom prst="rect">
            <a:avLst/>
          </a:prstGeom>
          <a:noFill/>
          <a:ln/>
        </p:spPr>
        <p:txBody>
          <a:bodyPr wrap="square" lIns="0" tIns="0" rIns="0" bIns="0" rtlCol="0" anchor="t"/>
          <a:lstStyle/>
          <a:p>
            <a:pPr indent="0" marL="0">
              <a:buNone/>
            </a:pPr>
            <a:r>
              <a:rPr lang="en-US" sz="1400" dirty="0">
                <a:solidFill>
                  <a:schemeClr val="accent6"/>
                </a:solidFill>
              </a:rPr>
              <a:t>Rate an architect 1-5 by category after an inquiry. Ratings update the architect’s score.</a:t>
            </a:r>
            <a:endParaRPr lang="en-US" sz="1400" dirty="0"/>
          </a:p>
        </p:txBody>
      </p:sp>
      <p:sp>
        <p:nvSpPr>
          <p:cNvPr id="19" name="card-90"/>
          <p:cNvSpPr/>
          <p:nvPr/>
        </p:nvSpPr>
        <p:spPr>
          <a:xfrm>
            <a:off x="7342449" y="1783080"/>
            <a:ext cx="2036003" cy="4206240"/>
          </a:xfrm>
          <a:prstGeom prst="roundRect">
            <a:avLst>
              <a:gd name="adj" fmla="val 5389"/>
            </a:avLst>
          </a:prstGeom>
          <a:solidFill>
            <a:schemeClr val="bg2"/>
          </a:solidFill>
          <a:ln/>
        </p:spPr>
      </p:sp>
      <p:sp>
        <p:nvSpPr>
          <p:cNvPr id="20" name="icon-bg-91"/>
          <p:cNvSpPr/>
          <p:nvPr/>
        </p:nvSpPr>
        <p:spPr>
          <a:xfrm>
            <a:off x="7616769" y="2103120"/>
            <a:ext cx="685800" cy="685800"/>
          </a:xfrm>
          <a:prstGeom prst="ellipse">
            <a:avLst/>
          </a:prstGeom>
          <a:solidFill>
            <a:schemeClr val="accent1"/>
          </a:solidFill>
          <a:ln/>
        </p:spPr>
      </p:sp>
      <p:pic>
        <p:nvPicPr>
          <p:cNvPr id="21" name="icon-92" descr="preencoded.png">    </p:cNvPr>
          <p:cNvPicPr>
            <a:picLocks noChangeAspect="1"/>
          </p:cNvPicPr>
          <p:nvPr/>
        </p:nvPicPr>
        <p:blipFill>
          <a:blip r:embed="rId4"/>
          <a:stretch>
            <a:fillRect/>
          </a:stretch>
        </p:blipFill>
        <p:spPr>
          <a:xfrm>
            <a:off x="7795077" y="2281428"/>
            <a:ext cx="329184" cy="329184"/>
          </a:xfrm>
          <a:prstGeom prst="rect">
            <a:avLst/>
          </a:prstGeom>
        </p:spPr>
      </p:pic>
      <p:sp>
        <p:nvSpPr>
          <p:cNvPr id="22" name="text-93"/>
          <p:cNvSpPr txBox="1"/>
          <p:nvPr/>
        </p:nvSpPr>
        <p:spPr>
          <a:xfrm>
            <a:off x="7616769" y="3017520"/>
            <a:ext cx="1578803" cy="685800"/>
          </a:xfrm>
          <a:prstGeom prst="rect">
            <a:avLst/>
          </a:prstGeom>
          <a:noFill/>
          <a:ln/>
        </p:spPr>
        <p:txBody>
          <a:bodyPr wrap="square" lIns="0" tIns="0" rIns="0" bIns="0" rtlCol="0" anchor="t"/>
          <a:lstStyle/>
          <a:p>
            <a:pPr indent="0" marL="0">
              <a:buNone/>
            </a:pPr>
            <a:r>
              <a:rPr lang="en-US" sz="1700" b="1" dirty="0">
                <a:solidFill>
                  <a:schemeClr val="tx1"/>
                </a:solidFill>
              </a:rPr>
              <a:t>Admin control panel</a:t>
            </a:r>
            <a:endParaRPr lang="en-US" sz="1700" dirty="0"/>
          </a:p>
        </p:txBody>
      </p:sp>
      <p:sp>
        <p:nvSpPr>
          <p:cNvPr id="23" name="text-94"/>
          <p:cNvSpPr txBox="1"/>
          <p:nvPr/>
        </p:nvSpPr>
        <p:spPr>
          <a:xfrm>
            <a:off x="7616769" y="3749040"/>
            <a:ext cx="1578803" cy="2103120"/>
          </a:xfrm>
          <a:prstGeom prst="rect">
            <a:avLst/>
          </a:prstGeom>
          <a:noFill/>
          <a:ln/>
        </p:spPr>
        <p:txBody>
          <a:bodyPr wrap="square" lIns="0" tIns="0" rIns="0" bIns="0" rtlCol="0" anchor="t"/>
          <a:lstStyle/>
          <a:p>
            <a:pPr indent="0" marL="0">
              <a:buNone/>
            </a:pPr>
            <a:r>
              <a:rPr lang="en-US" sz="1400" dirty="0">
                <a:solidFill>
                  <a:schemeClr val="accent6"/>
                </a:solidFill>
              </a:rPr>
              <a:t>Manage architects, update inquiry status, reply to users, review feedback and dashboard charts.</a:t>
            </a:r>
            <a:endParaRPr lang="en-US" sz="1400" dirty="0"/>
          </a:p>
        </p:txBody>
      </p:sp>
      <p:sp>
        <p:nvSpPr>
          <p:cNvPr id="24" name="card-95"/>
          <p:cNvSpPr/>
          <p:nvPr/>
        </p:nvSpPr>
        <p:spPr>
          <a:xfrm>
            <a:off x="9607052" y="1783080"/>
            <a:ext cx="2036003" cy="4206240"/>
          </a:xfrm>
          <a:prstGeom prst="roundRect">
            <a:avLst>
              <a:gd name="adj" fmla="val 5389"/>
            </a:avLst>
          </a:prstGeom>
          <a:solidFill>
            <a:srgbClr val="FDEEE7"/>
          </a:solidFill>
          <a:ln/>
        </p:spPr>
      </p:sp>
      <p:sp>
        <p:nvSpPr>
          <p:cNvPr id="25" name="icon-bg-96"/>
          <p:cNvSpPr/>
          <p:nvPr/>
        </p:nvSpPr>
        <p:spPr>
          <a:xfrm>
            <a:off x="9881372" y="2103120"/>
            <a:ext cx="685800" cy="685800"/>
          </a:xfrm>
          <a:prstGeom prst="ellipse">
            <a:avLst/>
          </a:prstGeom>
          <a:solidFill>
            <a:schemeClr val="accent1"/>
          </a:solidFill>
          <a:ln/>
        </p:spPr>
      </p:sp>
      <p:pic>
        <p:nvPicPr>
          <p:cNvPr id="26" name="icon-97" descr="preencoded.png">    </p:cNvPr>
          <p:cNvPicPr>
            <a:picLocks noChangeAspect="1"/>
          </p:cNvPicPr>
          <p:nvPr/>
        </p:nvPicPr>
        <p:blipFill>
          <a:blip r:embed="rId5"/>
          <a:stretch>
            <a:fillRect/>
          </a:stretch>
        </p:blipFill>
        <p:spPr>
          <a:xfrm>
            <a:off x="10059680" y="2281428"/>
            <a:ext cx="329184" cy="329184"/>
          </a:xfrm>
          <a:prstGeom prst="rect">
            <a:avLst/>
          </a:prstGeom>
        </p:spPr>
      </p:pic>
      <p:sp>
        <p:nvSpPr>
          <p:cNvPr id="27" name="text-98"/>
          <p:cNvSpPr txBox="1"/>
          <p:nvPr/>
        </p:nvSpPr>
        <p:spPr>
          <a:xfrm>
            <a:off x="9881372" y="3017520"/>
            <a:ext cx="1578803" cy="685800"/>
          </a:xfrm>
          <a:prstGeom prst="rect">
            <a:avLst/>
          </a:prstGeom>
          <a:noFill/>
          <a:ln/>
        </p:spPr>
        <p:txBody>
          <a:bodyPr wrap="square" lIns="0" tIns="0" rIns="0" bIns="0" rtlCol="0" anchor="t"/>
          <a:lstStyle/>
          <a:p>
            <a:pPr indent="0" marL="0">
              <a:buNone/>
            </a:pPr>
            <a:r>
              <a:rPr lang="en-US" sz="1700" b="1" dirty="0">
                <a:solidFill>
                  <a:schemeClr val="tx1"/>
                </a:solidFill>
              </a:rPr>
              <a:t>Archie AI assistant</a:t>
            </a:r>
            <a:endParaRPr lang="en-US" sz="1700" dirty="0"/>
          </a:p>
        </p:txBody>
      </p:sp>
      <p:sp>
        <p:nvSpPr>
          <p:cNvPr id="28" name="text-99"/>
          <p:cNvSpPr txBox="1"/>
          <p:nvPr/>
        </p:nvSpPr>
        <p:spPr>
          <a:xfrm>
            <a:off x="9881372" y="3749040"/>
            <a:ext cx="1578803" cy="2103120"/>
          </a:xfrm>
          <a:prstGeom prst="rect">
            <a:avLst/>
          </a:prstGeom>
          <a:noFill/>
          <a:ln/>
        </p:spPr>
        <p:txBody>
          <a:bodyPr wrap="square" lIns="0" tIns="0" rIns="0" bIns="0" rtlCol="0" anchor="t"/>
          <a:lstStyle/>
          <a:p>
            <a:pPr indent="0" marL="0">
              <a:buNone/>
            </a:pPr>
            <a:r>
              <a:rPr lang="en-US" sz="1400" dirty="0">
                <a:solidFill>
                  <a:schemeClr val="accent6"/>
                </a:solidFill>
              </a:rPr>
              <a:t>Chat that suggests architects, drafts inquiries and feedback, and summarises data for the admin.</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Archie: our AI assistant</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 chat window on every page, powered by the Groq API (gpt-oss-120b model)</a:t>
            </a:r>
            <a:endParaRPr lang="en-US" sz="1600" dirty="0"/>
          </a:p>
        </p:txBody>
      </p:sp>
      <p:sp>
        <p:nvSpPr>
          <p:cNvPr id="4" name="icon-bg-100"/>
          <p:cNvSpPr/>
          <p:nvPr/>
        </p:nvSpPr>
        <p:spPr>
          <a:xfrm>
            <a:off x="548640" y="1691640"/>
            <a:ext cx="502920" cy="502920"/>
          </a:xfrm>
          <a:prstGeom prst="ellipse">
            <a:avLst/>
          </a:prstGeom>
          <a:solidFill>
            <a:schemeClr val="accent1"/>
          </a:solidFill>
          <a:ln/>
        </p:spPr>
      </p:sp>
      <p:pic>
        <p:nvPicPr>
          <p:cNvPr id="5" name="icon-101" descr="preencoded.png">    </p:cNvPr>
          <p:cNvPicPr>
            <a:picLocks noChangeAspect="1"/>
          </p:cNvPicPr>
          <p:nvPr/>
        </p:nvPicPr>
        <p:blipFill>
          <a:blip r:embed="rId1"/>
          <a:stretch>
            <a:fillRect/>
          </a:stretch>
        </p:blipFill>
        <p:spPr>
          <a:xfrm>
            <a:off x="679399" y="1822399"/>
            <a:ext cx="241402" cy="241402"/>
          </a:xfrm>
          <a:prstGeom prst="rect">
            <a:avLst/>
          </a:prstGeom>
        </p:spPr>
      </p:pic>
      <p:sp>
        <p:nvSpPr>
          <p:cNvPr id="6" name="text-102"/>
          <p:cNvSpPr txBox="1"/>
          <p:nvPr/>
        </p:nvSpPr>
        <p:spPr>
          <a:xfrm>
            <a:off x="1234440" y="1737360"/>
            <a:ext cx="4937760" cy="411480"/>
          </a:xfrm>
          <a:prstGeom prst="rect">
            <a:avLst/>
          </a:prstGeom>
          <a:noFill/>
          <a:ln/>
        </p:spPr>
        <p:txBody>
          <a:bodyPr wrap="square" lIns="0" tIns="0" rIns="0" bIns="0" rtlCol="0" anchor="ctr"/>
          <a:lstStyle/>
          <a:p>
            <a:pPr indent="0" marL="0">
              <a:buNone/>
            </a:pPr>
            <a:r>
              <a:rPr lang="en-US" sz="1900" b="1" dirty="0">
                <a:solidFill>
                  <a:schemeClr val="tx1"/>
                </a:solidFill>
              </a:rPr>
              <a:t>For users</a:t>
            </a:r>
            <a:endParaRPr lang="en-US" sz="1900" dirty="0"/>
          </a:p>
        </p:txBody>
      </p:sp>
      <p:sp>
        <p:nvSpPr>
          <p:cNvPr id="7" name="list-103"/>
          <p:cNvSpPr txBox="1"/>
          <p:nvPr/>
        </p:nvSpPr>
        <p:spPr>
          <a:xfrm>
            <a:off x="1234440" y="2240280"/>
            <a:ext cx="512064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Suggests architects for a project, with reasons</a:t>
            </a:r>
            <a:endParaRPr lang="en-US" sz="1500" dirty="0"/>
          </a:p>
          <a:p>
            <a:pPr marL="342900" indent="-342900">
              <a:spcAft>
                <a:spcPts val="600"/>
              </a:spcAft>
              <a:buSzPct val="100000"/>
              <a:buChar char="•"/>
            </a:pPr>
            <a:r>
              <a:rPr lang="en-US" sz="1500" dirty="0">
                <a:solidFill>
                  <a:schemeClr val="tx1"/>
                </a:solidFill>
              </a:rPr>
              <a:t>Answers questions about ratings, status and their own inquiries</a:t>
            </a:r>
            <a:endParaRPr lang="en-US" sz="1500" dirty="0"/>
          </a:p>
          <a:p>
            <a:pPr marL="342900" indent="-342900">
              <a:spcAft>
                <a:spcPts val="600"/>
              </a:spcAft>
              <a:buSzPct val="100000"/>
              <a:buChar char="•"/>
            </a:pPr>
            <a:r>
              <a:rPr lang="en-US" sz="1500" dirty="0">
                <a:solidFill>
                  <a:schemeClr val="tx1"/>
                </a:solidFill>
              </a:rPr>
              <a:t>Drafts new inquiries, follow-up questions and feedback</a:t>
            </a:r>
            <a:endParaRPr lang="en-US" sz="1500" dirty="0"/>
          </a:p>
        </p:txBody>
      </p:sp>
      <p:sp>
        <p:nvSpPr>
          <p:cNvPr id="8" name="icon-bg-104"/>
          <p:cNvSpPr/>
          <p:nvPr/>
        </p:nvSpPr>
        <p:spPr>
          <a:xfrm>
            <a:off x="548640" y="3703320"/>
            <a:ext cx="502920" cy="502920"/>
          </a:xfrm>
          <a:prstGeom prst="ellipse">
            <a:avLst/>
          </a:prstGeom>
          <a:solidFill>
            <a:schemeClr val="accent1"/>
          </a:solidFill>
          <a:ln/>
        </p:spPr>
      </p:sp>
      <p:pic>
        <p:nvPicPr>
          <p:cNvPr id="9" name="icon-105" descr="preencoded.png">    </p:cNvPr>
          <p:cNvPicPr>
            <a:picLocks noChangeAspect="1"/>
          </p:cNvPicPr>
          <p:nvPr/>
        </p:nvPicPr>
        <p:blipFill>
          <a:blip r:embed="rId2"/>
          <a:stretch>
            <a:fillRect/>
          </a:stretch>
        </p:blipFill>
        <p:spPr>
          <a:xfrm>
            <a:off x="679399" y="3834079"/>
            <a:ext cx="241402" cy="241402"/>
          </a:xfrm>
          <a:prstGeom prst="rect">
            <a:avLst/>
          </a:prstGeom>
        </p:spPr>
      </p:pic>
      <p:sp>
        <p:nvSpPr>
          <p:cNvPr id="10" name="text-106"/>
          <p:cNvSpPr txBox="1"/>
          <p:nvPr/>
        </p:nvSpPr>
        <p:spPr>
          <a:xfrm>
            <a:off x="1234440" y="3749040"/>
            <a:ext cx="4937760" cy="411480"/>
          </a:xfrm>
          <a:prstGeom prst="rect">
            <a:avLst/>
          </a:prstGeom>
          <a:noFill/>
          <a:ln/>
        </p:spPr>
        <p:txBody>
          <a:bodyPr wrap="square" lIns="0" tIns="0" rIns="0" bIns="0" rtlCol="0" anchor="ctr"/>
          <a:lstStyle/>
          <a:p>
            <a:pPr indent="0" marL="0">
              <a:buNone/>
            </a:pPr>
            <a:r>
              <a:rPr lang="en-US" sz="1900" b="1" dirty="0">
                <a:solidFill>
                  <a:schemeClr val="tx1"/>
                </a:solidFill>
              </a:rPr>
              <a:t>For the admin</a:t>
            </a:r>
            <a:endParaRPr lang="en-US" sz="1900" dirty="0"/>
          </a:p>
        </p:txBody>
      </p:sp>
      <p:sp>
        <p:nvSpPr>
          <p:cNvPr id="11" name="list-107"/>
          <p:cNvSpPr txBox="1"/>
          <p:nvPr/>
        </p:nvSpPr>
        <p:spPr>
          <a:xfrm>
            <a:off x="1234440" y="4251960"/>
            <a:ext cx="512064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Lists top architects by rating and checks their work</a:t>
            </a:r>
            <a:endParaRPr lang="en-US" sz="1500" dirty="0"/>
          </a:p>
          <a:p>
            <a:pPr marL="342900" indent="-342900">
              <a:spcAft>
                <a:spcPts val="600"/>
              </a:spcAft>
              <a:buSzPct val="100000"/>
              <a:buChar char="•"/>
            </a:pPr>
            <a:r>
              <a:rPr lang="en-US" sz="1500" dirty="0">
                <a:solidFill>
                  <a:schemeClr val="tx1"/>
                </a:solidFill>
              </a:rPr>
              <a:t>Summarises feedback and spots repeated complaints</a:t>
            </a:r>
            <a:endParaRPr lang="en-US" sz="1500" dirty="0"/>
          </a:p>
          <a:p>
            <a:pPr marL="342900" indent="-342900">
              <a:spcAft>
                <a:spcPts val="600"/>
              </a:spcAft>
              <a:buSzPct val="100000"/>
              <a:buChar char="•"/>
            </a:pPr>
            <a:r>
              <a:rPr lang="en-US" sz="1500" dirty="0">
                <a:solidFill>
                  <a:schemeClr val="tx1"/>
                </a:solidFill>
              </a:rPr>
              <a:t>Picks urgent inquiries and drafts replies to users</a:t>
            </a:r>
            <a:endParaRPr lang="en-US" sz="1500" dirty="0"/>
          </a:p>
        </p:txBody>
      </p:sp>
      <p:sp>
        <p:nvSpPr>
          <p:cNvPr id="12" name="card-108"/>
          <p:cNvSpPr/>
          <p:nvPr/>
        </p:nvSpPr>
        <p:spPr>
          <a:xfrm>
            <a:off x="548640" y="5623560"/>
            <a:ext cx="5806440" cy="548640"/>
          </a:xfrm>
          <a:prstGeom prst="roundRect">
            <a:avLst>
              <a:gd name="adj" fmla="val 20000"/>
            </a:avLst>
          </a:prstGeom>
          <a:solidFill>
            <a:srgbClr val="FDEEE7"/>
          </a:solidFill>
          <a:ln/>
        </p:spPr>
      </p:sp>
      <p:pic>
        <p:nvPicPr>
          <p:cNvPr id="13" name="icon-109" descr="preencoded.png">    </p:cNvPr>
          <p:cNvPicPr>
            <a:picLocks noChangeAspect="1"/>
          </p:cNvPicPr>
          <p:nvPr/>
        </p:nvPicPr>
        <p:blipFill>
          <a:blip r:embed="rId3"/>
          <a:stretch>
            <a:fillRect/>
          </a:stretch>
        </p:blipFill>
        <p:spPr>
          <a:xfrm>
            <a:off x="731520" y="5769864"/>
            <a:ext cx="256032" cy="256032"/>
          </a:xfrm>
          <a:prstGeom prst="rect">
            <a:avLst/>
          </a:prstGeom>
        </p:spPr>
      </p:pic>
      <p:sp>
        <p:nvSpPr>
          <p:cNvPr id="14" name="text-110"/>
          <p:cNvSpPr txBox="1"/>
          <p:nvPr/>
        </p:nvSpPr>
        <p:spPr>
          <a:xfrm>
            <a:off x="1115568" y="5623560"/>
            <a:ext cx="5120640" cy="548640"/>
          </a:xfrm>
          <a:prstGeom prst="rect">
            <a:avLst/>
          </a:prstGeom>
          <a:noFill/>
          <a:ln/>
        </p:spPr>
        <p:txBody>
          <a:bodyPr wrap="square" lIns="0" tIns="0" rIns="0" bIns="0" rtlCol="0" anchor="ctr"/>
          <a:lstStyle/>
          <a:p>
            <a:pPr indent="0" marL="0">
              <a:buNone/>
            </a:pPr>
            <a:r>
              <a:rPr lang="en-US" sz="1200" dirty="0">
                <a:solidFill>
                  <a:schemeClr val="tx1"/>
                </a:solidFill>
              </a:rPr>
              <a:t>Nothing is sent until the user presses Send. "Write with AI" buttons also help on 4 forms.</a:t>
            </a:r>
            <a:endParaRPr lang="en-US" sz="1200" dirty="0"/>
          </a:p>
        </p:txBody>
      </p:sp>
      <p:sp>
        <p:nvSpPr>
          <p:cNvPr id="15" name="frame-111"/>
          <p:cNvSpPr/>
          <p:nvPr/>
        </p:nvSpPr>
        <p:spPr>
          <a:xfrm>
            <a:off x="6693408" y="1664208"/>
            <a:ext cx="2432304" cy="3621024"/>
          </a:xfrm>
          <a:prstGeom prst="rect">
            <a:avLst/>
          </a:prstGeom>
          <a:solidFill>
            <a:srgbClr val="E5E7EB"/>
          </a:solidFill>
          <a:ln/>
          <a:effectLst>
            <a:outerShdw sx="100000" sy="100000" kx="0" ky="0" algn="bl" rotWithShape="0" blurRad="101600" dist="38100" dir="5400000">
              <a:srgbClr val="000000">
                <a:alpha val="18000"/>
              </a:srgbClr>
            </a:outerShdw>
          </a:effectLst>
        </p:spPr>
      </p:sp>
      <p:pic>
        <p:nvPicPr>
          <p:cNvPr id="16" name="screenshot-112" descr="/private/tmp/claude-501/-Users-prashant--Desktop-11zon-team-project/10856b9b-b108-4d4a-9557-32e18d5e8211/scratchpad/ppt/assets/archie-user-panel.png">    </p:cNvPr>
          <p:cNvPicPr>
            <a:picLocks noChangeAspect="1"/>
          </p:cNvPicPr>
          <p:nvPr/>
        </p:nvPicPr>
        <p:blipFill>
          <a:blip r:embed="rId4"/>
          <a:stretch>
            <a:fillRect/>
          </a:stretch>
        </p:blipFill>
        <p:spPr>
          <a:xfrm>
            <a:off x="6720840" y="1691640"/>
            <a:ext cx="2377440" cy="3566160"/>
          </a:xfrm>
          <a:prstGeom prst="rect">
            <a:avLst/>
          </a:prstGeom>
        </p:spPr>
      </p:pic>
      <p:sp>
        <p:nvSpPr>
          <p:cNvPr id="17" name="frame-113"/>
          <p:cNvSpPr/>
          <p:nvPr/>
        </p:nvSpPr>
        <p:spPr>
          <a:xfrm>
            <a:off x="9253728" y="1664208"/>
            <a:ext cx="2432304" cy="3621024"/>
          </a:xfrm>
          <a:prstGeom prst="rect">
            <a:avLst/>
          </a:prstGeom>
          <a:solidFill>
            <a:srgbClr val="E5E7EB"/>
          </a:solidFill>
          <a:ln/>
          <a:effectLst>
            <a:outerShdw sx="100000" sy="100000" kx="0" ky="0" algn="bl" rotWithShape="0" blurRad="101600" dist="38100" dir="5400000">
              <a:srgbClr val="000000">
                <a:alpha val="18000"/>
              </a:srgbClr>
            </a:outerShdw>
          </a:effectLst>
        </p:spPr>
      </p:sp>
      <p:pic>
        <p:nvPicPr>
          <p:cNvPr id="18" name="screenshot-114" descr="/private/tmp/claude-501/-Users-prashant--Desktop-11zon-team-project/10856b9b-b108-4d4a-9557-32e18d5e8211/scratchpad/ppt/assets/archie-admin-panel.png">    </p:cNvPr>
          <p:cNvPicPr>
            <a:picLocks noChangeAspect="1"/>
          </p:cNvPicPr>
          <p:nvPr/>
        </p:nvPicPr>
        <p:blipFill>
          <a:blip r:embed="rId5"/>
          <a:stretch>
            <a:fillRect/>
          </a:stretch>
        </p:blipFill>
        <p:spPr>
          <a:xfrm>
            <a:off x="9281160" y="1691640"/>
            <a:ext cx="2377440" cy="3566160"/>
          </a:xfrm>
          <a:prstGeom prst="rect">
            <a:avLst/>
          </a:prstGeom>
        </p:spPr>
      </p:pic>
      <p:sp>
        <p:nvSpPr>
          <p:cNvPr id="19" name="text-115"/>
          <p:cNvSpPr txBox="1"/>
          <p:nvPr/>
        </p:nvSpPr>
        <p:spPr>
          <a:xfrm>
            <a:off x="6720840" y="5394960"/>
            <a:ext cx="2377440" cy="320040"/>
          </a:xfrm>
          <a:prstGeom prst="rect">
            <a:avLst/>
          </a:prstGeom>
          <a:noFill/>
          <a:ln/>
        </p:spPr>
        <p:txBody>
          <a:bodyPr wrap="square" lIns="0" tIns="0" rIns="0" bIns="0" rtlCol="0" anchor="t"/>
          <a:lstStyle/>
          <a:p>
            <a:pPr algn="ctr" indent="0" marL="0">
              <a:buNone/>
            </a:pPr>
            <a:r>
              <a:rPr lang="en-US" sz="1200" dirty="0">
                <a:solidFill>
                  <a:schemeClr val="accent6"/>
                </a:solidFill>
              </a:rPr>
              <a:t>User asks for an architect</a:t>
            </a:r>
            <a:endParaRPr lang="en-US" sz="1200" dirty="0"/>
          </a:p>
        </p:txBody>
      </p:sp>
      <p:sp>
        <p:nvSpPr>
          <p:cNvPr id="20" name="text-116"/>
          <p:cNvSpPr txBox="1"/>
          <p:nvPr/>
        </p:nvSpPr>
        <p:spPr>
          <a:xfrm>
            <a:off x="9281160" y="5394960"/>
            <a:ext cx="2377440" cy="320040"/>
          </a:xfrm>
          <a:prstGeom prst="rect">
            <a:avLst/>
          </a:prstGeom>
          <a:noFill/>
          <a:ln/>
        </p:spPr>
        <p:txBody>
          <a:bodyPr wrap="square" lIns="0" tIns="0" rIns="0" bIns="0" rtlCol="0" anchor="t"/>
          <a:lstStyle/>
          <a:p>
            <a:pPr algn="ctr" indent="0" marL="0">
              <a:buNone/>
            </a:pPr>
            <a:r>
              <a:rPr lang="en-US" sz="1200" dirty="0">
                <a:solidFill>
                  <a:schemeClr val="accent6"/>
                </a:solidFill>
              </a:rPr>
              <a:t>Admin asks for the top 5</a:t>
            </a:r>
            <a:endParaRPr lang="en-US" sz="12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Two roles, one platform</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Role-based access is enforced in Angular route guards and in Spring Security</a:t>
            </a:r>
            <a:endParaRPr lang="en-US" sz="1600" dirty="0"/>
          </a:p>
        </p:txBody>
      </p:sp>
      <p:graphicFrame>
        <p:nvGraphicFramePr>
          <p:cNvPr id="10" name="roles-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7616952"/>
                <a:gridCol w="1737360"/>
                <a:gridCol w="1737360"/>
              </a:tblGrid>
              <a:tr h="457200">
                <a:tc>
                  <a:txBody>
                    <a:bodyPr/>
                    <a:lstStyle/>
                    <a:p>
                      <a:pPr algn="l" indent="0" marL="0">
                        <a:buNone/>
                      </a:pPr>
                      <a:r>
                        <a:rPr lang="en-US" sz="1500" b="1" dirty="0">
                          <a:solidFill>
                            <a:srgbClr val="FFFFFF"/>
                          </a:solidFill>
                          <a:latin typeface="Arial" pitchFamily="34" charset="0"/>
                          <a:ea typeface="Arial" pitchFamily="34" charset="-122"/>
                          <a:cs typeface="Arial" pitchFamily="34" charset="-120"/>
                        </a:rPr>
                        <a:t>Capability</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15A22"/>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User</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15A22"/>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Admin</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15A22"/>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Sign up with email OTP, log in, change password</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Browse, search and filter architects; view portfolios</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Ask Archie, the AI assistant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Send inquiries and post follow-up messages</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6B728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Give and manage own feedback and ratings</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6B728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Add, edit and delete architects</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6B728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View all inquiries, update status and reply</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6B728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457200">
                <a:tc>
                  <a:txBody>
                    <a:bodyPr/>
                    <a:lstStyle/>
                    <a:p>
                      <a:pPr indent="0" marL="0">
                        <a:buNone/>
                      </a:pPr>
                      <a:r>
                        <a:rPr lang="en-US" sz="1500" dirty="0">
                          <a:solidFill>
                            <a:srgbClr val="1A1A1A"/>
                          </a:solidFill>
                          <a:latin typeface="Arial" pitchFamily="34" charset="0"/>
                          <a:ea typeface="Arial" pitchFamily="34" charset="-122"/>
                          <a:cs typeface="Arial" pitchFamily="34" charset="-120"/>
                        </a:rPr>
                        <a:t>Review all feedback and dashboard charts</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6B7280"/>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500" b="1" dirty="0">
                          <a:solidFill>
                            <a:srgbClr val="2E6B3F"/>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Product screens</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Angular single-page app with a responsive layout and light/dark theme</a:t>
            </a:r>
            <a:endParaRPr lang="en-US" sz="1600" dirty="0"/>
          </a:p>
        </p:txBody>
      </p:sp>
      <p:sp>
        <p:nvSpPr>
          <p:cNvPr id="4" name="frame-117"/>
          <p:cNvSpPr/>
          <p:nvPr/>
        </p:nvSpPr>
        <p:spPr>
          <a:xfrm>
            <a:off x="521208" y="2075688"/>
            <a:ext cx="3539642" cy="2232851"/>
          </a:xfrm>
          <a:prstGeom prst="rect">
            <a:avLst/>
          </a:prstGeom>
          <a:solidFill>
            <a:srgbClr val="E5E7EB"/>
          </a:solidFill>
          <a:ln/>
          <a:effectLst>
            <a:outerShdw sx="100000" sy="100000" kx="0" ky="0" algn="bl" rotWithShape="0" blurRad="101600" dist="38100" dir="5400000">
              <a:srgbClr val="000000">
                <a:alpha val="18000"/>
              </a:srgbClr>
            </a:outerShdw>
          </a:effectLst>
        </p:spPr>
      </p:sp>
      <p:pic>
        <p:nvPicPr>
          <p:cNvPr id="5" name="screenshot-118" descr="/private/tmp/claude-501/-Users-prashant--Desktop-11zon-team-project/10856b9b-b108-4d4a-9557-32e18d5e8211/scratchpad/ppt/assets/user-home.png">    </p:cNvPr>
          <p:cNvPicPr>
            <a:picLocks noChangeAspect="1"/>
          </p:cNvPicPr>
          <p:nvPr/>
        </p:nvPicPr>
        <p:blipFill>
          <a:blip r:embed="rId1"/>
          <a:stretch>
            <a:fillRect/>
          </a:stretch>
        </p:blipFill>
        <p:spPr>
          <a:xfrm>
            <a:off x="548640" y="2103120"/>
            <a:ext cx="3484778" cy="2177987"/>
          </a:xfrm>
          <a:prstGeom prst="rect">
            <a:avLst/>
          </a:prstGeom>
        </p:spPr>
      </p:pic>
      <p:sp>
        <p:nvSpPr>
          <p:cNvPr id="6" name="text-119"/>
          <p:cNvSpPr txBox="1"/>
          <p:nvPr/>
        </p:nvSpPr>
        <p:spPr>
          <a:xfrm>
            <a:off x="548640" y="4509707"/>
            <a:ext cx="3484778" cy="365760"/>
          </a:xfrm>
          <a:prstGeom prst="rect">
            <a:avLst/>
          </a:prstGeom>
          <a:noFill/>
          <a:ln/>
        </p:spPr>
        <p:txBody>
          <a:bodyPr wrap="square" lIns="0" tIns="0" rIns="0" bIns="0" rtlCol="0" anchor="t"/>
          <a:lstStyle/>
          <a:p>
            <a:pPr algn="ctr" indent="0" marL="0">
              <a:buNone/>
            </a:pPr>
            <a:r>
              <a:rPr lang="en-US" sz="1400" b="1" dirty="0">
                <a:solidFill>
                  <a:schemeClr val="tx1"/>
                </a:solidFill>
              </a:rPr>
              <a:t>User home page</a:t>
            </a:r>
            <a:endParaRPr lang="en-US" sz="1400" dirty="0"/>
          </a:p>
        </p:txBody>
      </p:sp>
      <p:sp>
        <p:nvSpPr>
          <p:cNvPr id="7" name="frame-120"/>
          <p:cNvSpPr/>
          <p:nvPr/>
        </p:nvSpPr>
        <p:spPr>
          <a:xfrm>
            <a:off x="4326026" y="2075688"/>
            <a:ext cx="3539642" cy="2232851"/>
          </a:xfrm>
          <a:prstGeom prst="rect">
            <a:avLst/>
          </a:prstGeom>
          <a:solidFill>
            <a:srgbClr val="E5E7EB"/>
          </a:solidFill>
          <a:ln/>
          <a:effectLst>
            <a:outerShdw sx="100000" sy="100000" kx="0" ky="0" algn="bl" rotWithShape="0" blurRad="101600" dist="38100" dir="5400000">
              <a:srgbClr val="000000">
                <a:alpha val="18000"/>
              </a:srgbClr>
            </a:outerShdw>
          </a:effectLst>
        </p:spPr>
      </p:sp>
      <p:pic>
        <p:nvPicPr>
          <p:cNvPr id="8" name="screenshot-121" descr="/private/tmp/claude-501/-Users-prashant--Desktop-11zon-team-project/10856b9b-b108-4d4a-9557-32e18d5e8211/scratchpad/ppt/assets/user-architects.png">    </p:cNvPr>
          <p:cNvPicPr>
            <a:picLocks noChangeAspect="1"/>
          </p:cNvPicPr>
          <p:nvPr/>
        </p:nvPicPr>
        <p:blipFill>
          <a:blip r:embed="rId2"/>
          <a:stretch>
            <a:fillRect/>
          </a:stretch>
        </p:blipFill>
        <p:spPr>
          <a:xfrm>
            <a:off x="4353458" y="2103120"/>
            <a:ext cx="3484778" cy="2177987"/>
          </a:xfrm>
          <a:prstGeom prst="rect">
            <a:avLst/>
          </a:prstGeom>
        </p:spPr>
      </p:pic>
      <p:sp>
        <p:nvSpPr>
          <p:cNvPr id="9" name="text-122"/>
          <p:cNvSpPr txBox="1"/>
          <p:nvPr/>
        </p:nvSpPr>
        <p:spPr>
          <a:xfrm>
            <a:off x="4353458" y="4509707"/>
            <a:ext cx="3484778" cy="365760"/>
          </a:xfrm>
          <a:prstGeom prst="rect">
            <a:avLst/>
          </a:prstGeom>
          <a:noFill/>
          <a:ln/>
        </p:spPr>
        <p:txBody>
          <a:bodyPr wrap="square" lIns="0" tIns="0" rIns="0" bIns="0" rtlCol="0" anchor="t"/>
          <a:lstStyle/>
          <a:p>
            <a:pPr algn="ctr" indent="0" marL="0">
              <a:buNone/>
            </a:pPr>
            <a:r>
              <a:rPr lang="en-US" sz="1400" b="1" dirty="0">
                <a:solidFill>
                  <a:schemeClr val="tx1"/>
                </a:solidFill>
              </a:rPr>
              <a:t>Find an architect: search and filters</a:t>
            </a:r>
            <a:endParaRPr lang="en-US" sz="1400" dirty="0"/>
          </a:p>
        </p:txBody>
      </p:sp>
      <p:sp>
        <p:nvSpPr>
          <p:cNvPr id="10" name="frame-123"/>
          <p:cNvSpPr/>
          <p:nvPr/>
        </p:nvSpPr>
        <p:spPr>
          <a:xfrm>
            <a:off x="8130845" y="2075688"/>
            <a:ext cx="3539642" cy="2232851"/>
          </a:xfrm>
          <a:prstGeom prst="rect">
            <a:avLst/>
          </a:prstGeom>
          <a:solidFill>
            <a:srgbClr val="E5E7EB"/>
          </a:solidFill>
          <a:ln/>
          <a:effectLst>
            <a:outerShdw sx="100000" sy="100000" kx="0" ky="0" algn="bl" rotWithShape="0" blurRad="101600" dist="38100" dir="5400000">
              <a:srgbClr val="000000">
                <a:alpha val="18000"/>
              </a:srgbClr>
            </a:outerShdw>
          </a:effectLst>
        </p:spPr>
      </p:sp>
      <p:pic>
        <p:nvPicPr>
          <p:cNvPr id="11" name="screenshot-124" descr="/private/tmp/claude-501/-Users-prashant--Desktop-11zon-team-project/10856b9b-b108-4d4a-9557-32e18d5e8211/scratchpad/ppt/assets/admin-dashboard.png">    </p:cNvPr>
          <p:cNvPicPr>
            <a:picLocks noChangeAspect="1"/>
          </p:cNvPicPr>
          <p:nvPr/>
        </p:nvPicPr>
        <p:blipFill>
          <a:blip r:embed="rId3"/>
          <a:stretch>
            <a:fillRect/>
          </a:stretch>
        </p:blipFill>
        <p:spPr>
          <a:xfrm>
            <a:off x="8158277" y="2103120"/>
            <a:ext cx="3484778" cy="2177987"/>
          </a:xfrm>
          <a:prstGeom prst="rect">
            <a:avLst/>
          </a:prstGeom>
        </p:spPr>
      </p:pic>
      <p:sp>
        <p:nvSpPr>
          <p:cNvPr id="12" name="text-125"/>
          <p:cNvSpPr txBox="1"/>
          <p:nvPr/>
        </p:nvSpPr>
        <p:spPr>
          <a:xfrm>
            <a:off x="8158277" y="4509707"/>
            <a:ext cx="3484778" cy="365760"/>
          </a:xfrm>
          <a:prstGeom prst="rect">
            <a:avLst/>
          </a:prstGeom>
          <a:noFill/>
          <a:ln/>
        </p:spPr>
        <p:txBody>
          <a:bodyPr wrap="square" lIns="0" tIns="0" rIns="0" bIns="0" rtlCol="0" anchor="t"/>
          <a:lstStyle/>
          <a:p>
            <a:pPr algn="ctr" indent="0" marL="0">
              <a:buNone/>
            </a:pPr>
            <a:r>
              <a:rPr lang="en-US" sz="1400" b="1" dirty="0">
                <a:solidFill>
                  <a:schemeClr val="tx1"/>
                </a:solidFill>
              </a:rPr>
              <a:t>Admin control panel with charts</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868680"/>
            <a:ext cx="2743200" cy="1097280"/>
          </a:xfrm>
          <a:prstGeom prst="rect">
            <a:avLst/>
          </a:prstGeom>
          <a:noFill/>
          <a:ln/>
        </p:spPr>
        <p:txBody>
          <a:bodyPr wrap="square" lIns="0" tIns="0" rIns="0" bIns="0" rtlCol="0" anchor="b"/>
          <a:lstStyle/>
          <a:p>
            <a:pPr indent="0" marL="0">
              <a:buNone/>
            </a:pPr>
            <a:r>
              <a:rPr lang="en-US" sz="6000" b="1" dirty="0">
                <a:solidFill>
                  <a:schemeClr val="accent1"/>
                </a:solidFill>
              </a:rPr>
              <a:t>03</a:t>
            </a:r>
            <a:endParaRPr lang="en-US" sz="6000" dirty="0"/>
          </a:p>
        </p:txBody>
      </p:sp>
      <p:sp>
        <p:nvSpPr>
          <p:cNvPr id="3" name="Text 1"/>
          <p:cNvSpPr/>
          <p:nvPr>
            <p:ph idx="102" type="title" hasCustomPrompt="1"/>
          </p:nvPr>
        </p:nvSpPr>
        <p:spPr>
          <a:xfrm>
            <a:off x="548640" y="2011680"/>
            <a:ext cx="7315200" cy="914400"/>
          </a:xfrm>
          <a:prstGeom prst="rect">
            <a:avLst/>
          </a:prstGeom>
          <a:noFill/>
          <a:ln/>
        </p:spPr>
        <p:txBody>
          <a:bodyPr wrap="square" lIns="0" tIns="0" rIns="0" bIns="0" rtlCol="0" anchor="t"/>
          <a:lstStyle/>
          <a:p>
            <a:pPr indent="0" marL="0">
              <a:buNone/>
            </a:pPr>
            <a:r>
              <a:rPr lang="en-US" sz="4400" b="1" dirty="0">
                <a:solidFill>
                  <a:schemeClr val="bg1"/>
                </a:solidFill>
              </a:rPr>
              <a:t>Architecture &amp; tech</a:t>
            </a:r>
            <a:endParaRPr lang="en-US" sz="4400" dirty="0"/>
          </a:p>
        </p:txBody>
      </p:sp>
      <p:sp>
        <p:nvSpPr>
          <p:cNvPr id="4" name="Text 1"/>
          <p:cNvSpPr/>
          <p:nvPr>
            <p:ph idx="103" type="body" hasCustomPrompt="1"/>
          </p:nvPr>
        </p:nvSpPr>
        <p:spPr>
          <a:xfrm>
            <a:off x="548640" y="2971800"/>
            <a:ext cx="6858000" cy="548640"/>
          </a:xfrm>
          <a:prstGeom prst="rect">
            <a:avLst/>
          </a:prstGeom>
          <a:noFill/>
          <a:ln/>
        </p:spPr>
        <p:txBody>
          <a:bodyPr wrap="square" lIns="0" tIns="0" rIns="0" bIns="0" rtlCol="0" anchor="t"/>
          <a:lstStyle/>
          <a:p>
            <a:pPr indent="0" marL="0">
              <a:buNone/>
            </a:pPr>
            <a:r>
              <a:rPr lang="en-US" sz="2000" dirty="0">
                <a:solidFill>
                  <a:schemeClr val="accent1"/>
                </a:solidFill>
              </a:rPr>
              <a:t>How the pieces fit together</a:t>
            </a:r>
            <a:endParaRPr lang="en-US" sz="2000" dirty="0"/>
          </a:p>
        </p:txBody>
      </p:sp>
      <p:sp>
        <p:nvSpPr>
          <p:cNvPr id="5" name="Text 1"/>
          <p:cNvSpPr/>
          <p:nvPr>
            <p:ph idx="104" type="body" hasCustomPrompt="1"/>
          </p:nvPr>
        </p:nvSpPr>
        <p:spPr>
          <a:xfrm>
            <a:off x="548640" y="3794760"/>
            <a:ext cx="594360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System architecture and tech stack</a:t>
            </a:r>
            <a:endParaRPr lang="en-US" sz="1600" dirty="0"/>
          </a:p>
          <a:p>
            <a:pPr marL="342900" indent="-342900">
              <a:spcAft>
                <a:spcPts val="600"/>
              </a:spcAft>
              <a:buSzPct val="100000"/>
              <a:buChar char="•"/>
            </a:pPr>
            <a:r>
              <a:rPr lang="en-US" sz="1600" dirty="0">
                <a:solidFill>
                  <a:schemeClr val="bg1"/>
                </a:solidFill>
              </a:rPr>
              <a:t>Data model and project in numbers</a:t>
            </a:r>
            <a:endParaRPr lang="en-US" sz="1600" dirty="0"/>
          </a:p>
          <a:p>
            <a:pPr marL="342900" indent="-342900">
              <a:spcAft>
                <a:spcPts val="600"/>
              </a:spcAft>
              <a:buSzPct val="100000"/>
              <a:buChar char="•"/>
            </a:pPr>
            <a:r>
              <a:rPr lang="en-US" sz="1600" dirty="0">
                <a:solidFill>
                  <a:schemeClr val="bg1"/>
                </a:solidFill>
              </a:rPr>
              <a:t>Security built into every layer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System architecture</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A layered client-server design: an Angular SPA talks to a stateless Spring Boot REST API</a:t>
            </a:r>
            <a:endParaRPr lang="en-US" sz="1600" dirty="0"/>
          </a:p>
        </p:txBody>
      </p:sp>
      <p:sp>
        <p:nvSpPr>
          <p:cNvPr id="4" name="card-126"/>
          <p:cNvSpPr/>
          <p:nvPr/>
        </p:nvSpPr>
        <p:spPr>
          <a:xfrm>
            <a:off x="548640" y="1783080"/>
            <a:ext cx="3063240" cy="2926080"/>
          </a:xfrm>
          <a:prstGeom prst="roundRect">
            <a:avLst>
              <a:gd name="adj" fmla="val 3750"/>
            </a:avLst>
          </a:prstGeom>
          <a:solidFill>
            <a:schemeClr val="bg2"/>
          </a:solidFill>
          <a:ln/>
        </p:spPr>
      </p:sp>
      <p:sp>
        <p:nvSpPr>
          <p:cNvPr id="5" name="icon-bg-127"/>
          <p:cNvSpPr/>
          <p:nvPr/>
        </p:nvSpPr>
        <p:spPr>
          <a:xfrm>
            <a:off x="822960" y="2011680"/>
            <a:ext cx="548640" cy="548640"/>
          </a:xfrm>
          <a:prstGeom prst="ellipse">
            <a:avLst/>
          </a:prstGeom>
          <a:solidFill>
            <a:schemeClr val="accent1"/>
          </a:solidFill>
          <a:ln/>
        </p:spPr>
      </p:sp>
      <p:pic>
        <p:nvPicPr>
          <p:cNvPr id="6" name="icon-128" descr="preencoded.png">    </p:cNvPr>
          <p:cNvPicPr>
            <a:picLocks noChangeAspect="1"/>
          </p:cNvPicPr>
          <p:nvPr/>
        </p:nvPicPr>
        <p:blipFill>
          <a:blip r:embed="rId1"/>
          <a:stretch>
            <a:fillRect/>
          </a:stretch>
        </p:blipFill>
        <p:spPr>
          <a:xfrm>
            <a:off x="965606" y="2154326"/>
            <a:ext cx="263347" cy="263347"/>
          </a:xfrm>
          <a:prstGeom prst="rect">
            <a:avLst/>
          </a:prstGeom>
        </p:spPr>
      </p:pic>
      <p:sp>
        <p:nvSpPr>
          <p:cNvPr id="7" name="text-129"/>
          <p:cNvSpPr txBox="1"/>
          <p:nvPr/>
        </p:nvSpPr>
        <p:spPr>
          <a:xfrm>
            <a:off x="1508760" y="2011680"/>
            <a:ext cx="1965960" cy="548640"/>
          </a:xfrm>
          <a:prstGeom prst="rect">
            <a:avLst/>
          </a:prstGeom>
          <a:noFill/>
          <a:ln/>
        </p:spPr>
        <p:txBody>
          <a:bodyPr wrap="square" lIns="0" tIns="0" rIns="0" bIns="0" rtlCol="0" anchor="ctr"/>
          <a:lstStyle/>
          <a:p>
            <a:pPr indent="0" marL="0">
              <a:buNone/>
            </a:pPr>
            <a:r>
              <a:rPr lang="en-US" sz="1600" b="1" dirty="0">
                <a:solidFill>
                  <a:schemeClr val="tx1"/>
                </a:solidFill>
              </a:rPr>
              <a:t>Angular 16 SPA</a:t>
            </a:r>
            <a:endParaRPr lang="en-US" sz="1600" dirty="0"/>
          </a:p>
        </p:txBody>
      </p:sp>
      <p:sp>
        <p:nvSpPr>
          <p:cNvPr id="8" name="list-130"/>
          <p:cNvSpPr txBox="1"/>
          <p:nvPr/>
        </p:nvSpPr>
        <p:spPr>
          <a:xfrm>
            <a:off x="822960" y="2788920"/>
            <a:ext cx="260604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30 components, 5 services</a:t>
            </a:r>
            <a:endParaRPr lang="en-US" sz="1400" dirty="0"/>
          </a:p>
          <a:p>
            <a:pPr marL="342900" indent="-342900">
              <a:spcAft>
                <a:spcPts val="400"/>
              </a:spcAft>
              <a:buSzPct val="100000"/>
              <a:buChar char="•"/>
            </a:pPr>
            <a:r>
              <a:rPr lang="en-US" sz="1400" dirty="0">
                <a:solidFill>
                  <a:schemeClr val="tx1"/>
                </a:solidFill>
              </a:rPr>
              <a:t>Auth and role route guards</a:t>
            </a:r>
            <a:endParaRPr lang="en-US" sz="1400" dirty="0"/>
          </a:p>
          <a:p>
            <a:pPr marL="342900" indent="-342900">
              <a:spcAft>
                <a:spcPts val="400"/>
              </a:spcAft>
              <a:buSzPct val="100000"/>
              <a:buChar char="•"/>
            </a:pPr>
            <a:r>
              <a:rPr lang="en-US" sz="1400" dirty="0">
                <a:solidFill>
                  <a:schemeClr val="tx1"/>
                </a:solidFill>
              </a:rPr>
              <a:t>JWT HTTP interceptor</a:t>
            </a:r>
            <a:endParaRPr lang="en-US" sz="1400" dirty="0"/>
          </a:p>
          <a:p>
            <a:pPr marL="342900" indent="-342900">
              <a:spcAft>
                <a:spcPts val="400"/>
              </a:spcAft>
              <a:buSzPct val="100000"/>
              <a:buChar char="•"/>
            </a:pPr>
            <a:r>
              <a:rPr lang="en-US" sz="1400" dirty="0">
                <a:solidFill>
                  <a:schemeClr val="tx1"/>
                </a:solidFill>
              </a:rPr>
              <a:t>Archie chat window</a:t>
            </a:r>
            <a:endParaRPr lang="en-US" sz="1400" dirty="0"/>
          </a:p>
        </p:txBody>
      </p:sp>
      <p:sp>
        <p:nvSpPr>
          <p:cNvPr id="9" name="arrow-131"/>
          <p:cNvSpPr/>
          <p:nvPr/>
        </p:nvSpPr>
        <p:spPr>
          <a:xfrm>
            <a:off x="3685032" y="3017520"/>
            <a:ext cx="676656" cy="411480"/>
          </a:xfrm>
          <a:prstGeom prst="rightArrow">
            <a:avLst/>
          </a:prstGeom>
          <a:solidFill>
            <a:schemeClr val="accent1"/>
          </a:solidFill>
          <a:ln/>
        </p:spPr>
      </p:sp>
      <p:sp>
        <p:nvSpPr>
          <p:cNvPr id="10" name="text-132"/>
          <p:cNvSpPr txBox="1"/>
          <p:nvPr/>
        </p:nvSpPr>
        <p:spPr>
          <a:xfrm>
            <a:off x="3593592" y="3474720"/>
            <a:ext cx="822960" cy="502920"/>
          </a:xfrm>
          <a:prstGeom prst="rect">
            <a:avLst/>
          </a:prstGeom>
          <a:noFill/>
          <a:ln/>
        </p:spPr>
        <p:txBody>
          <a:bodyPr wrap="square" lIns="0" tIns="0" rIns="0" bIns="0" rtlCol="0" anchor="t"/>
          <a:lstStyle/>
          <a:p>
            <a:pPr algn="ctr" indent="0" marL="0">
              <a:buNone/>
            </a:pPr>
            <a:r>
              <a:rPr lang="en-US" sz="1000" dirty="0">
                <a:solidFill>
                  <a:schemeClr val="accent6"/>
                </a:solidFill>
              </a:rPr>
              <a:t>REST/JSON</a:t>
            </a:r>
            <a:endParaRPr lang="en-US" sz="1000" dirty="0"/>
          </a:p>
          <a:p>
            <a:pPr algn="ctr" indent="0" marL="0">
              <a:buNone/>
            </a:pPr>
            <a:r>
              <a:rPr lang="en-US" sz="1000" dirty="0">
                <a:solidFill>
                  <a:schemeClr val="accent6"/>
                </a:solidFill>
              </a:rPr>
              <a:t>+ JWT</a:t>
            </a:r>
            <a:endParaRPr lang="en-US" sz="1000" dirty="0"/>
          </a:p>
        </p:txBody>
      </p:sp>
      <p:sp>
        <p:nvSpPr>
          <p:cNvPr id="11" name="card-133"/>
          <p:cNvSpPr/>
          <p:nvPr/>
        </p:nvSpPr>
        <p:spPr>
          <a:xfrm>
            <a:off x="4434840" y="1783080"/>
            <a:ext cx="3063240" cy="2926080"/>
          </a:xfrm>
          <a:prstGeom prst="roundRect">
            <a:avLst>
              <a:gd name="adj" fmla="val 3750"/>
            </a:avLst>
          </a:prstGeom>
          <a:solidFill>
            <a:schemeClr val="bg2"/>
          </a:solidFill>
          <a:ln/>
        </p:spPr>
      </p:sp>
      <p:sp>
        <p:nvSpPr>
          <p:cNvPr id="12" name="icon-bg-134"/>
          <p:cNvSpPr/>
          <p:nvPr/>
        </p:nvSpPr>
        <p:spPr>
          <a:xfrm>
            <a:off x="4709160" y="2011680"/>
            <a:ext cx="548640" cy="548640"/>
          </a:xfrm>
          <a:prstGeom prst="ellipse">
            <a:avLst/>
          </a:prstGeom>
          <a:solidFill>
            <a:schemeClr val="accent1"/>
          </a:solidFill>
          <a:ln/>
        </p:spPr>
      </p:sp>
      <p:pic>
        <p:nvPicPr>
          <p:cNvPr id="13" name="icon-135" descr="preencoded.png">    </p:cNvPr>
          <p:cNvPicPr>
            <a:picLocks noChangeAspect="1"/>
          </p:cNvPicPr>
          <p:nvPr/>
        </p:nvPicPr>
        <p:blipFill>
          <a:blip r:embed="rId2"/>
          <a:stretch>
            <a:fillRect/>
          </a:stretch>
        </p:blipFill>
        <p:spPr>
          <a:xfrm>
            <a:off x="4851806" y="2154326"/>
            <a:ext cx="263347" cy="263347"/>
          </a:xfrm>
          <a:prstGeom prst="rect">
            <a:avLst/>
          </a:prstGeom>
        </p:spPr>
      </p:pic>
      <p:sp>
        <p:nvSpPr>
          <p:cNvPr id="14" name="text-136"/>
          <p:cNvSpPr txBox="1"/>
          <p:nvPr/>
        </p:nvSpPr>
        <p:spPr>
          <a:xfrm>
            <a:off x="5394960" y="2011680"/>
            <a:ext cx="1965960" cy="548640"/>
          </a:xfrm>
          <a:prstGeom prst="rect">
            <a:avLst/>
          </a:prstGeom>
          <a:noFill/>
          <a:ln/>
        </p:spPr>
        <p:txBody>
          <a:bodyPr wrap="square" lIns="0" tIns="0" rIns="0" bIns="0" rtlCol="0" anchor="ctr"/>
          <a:lstStyle/>
          <a:p>
            <a:pPr indent="0" marL="0">
              <a:buNone/>
            </a:pPr>
            <a:r>
              <a:rPr lang="en-US" sz="1600" b="1" dirty="0">
                <a:solidFill>
                  <a:schemeClr val="tx1"/>
                </a:solidFill>
              </a:rPr>
              <a:t>Spring Boot 3 · Java 17</a:t>
            </a:r>
            <a:endParaRPr lang="en-US" sz="1600" dirty="0"/>
          </a:p>
        </p:txBody>
      </p:sp>
      <p:sp>
        <p:nvSpPr>
          <p:cNvPr id="15" name="list-137"/>
          <p:cNvSpPr txBox="1"/>
          <p:nvPr/>
        </p:nvSpPr>
        <p:spPr>
          <a:xfrm>
            <a:off x="4709160" y="2788920"/>
            <a:ext cx="260604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JWT security filter + roles</a:t>
            </a:r>
            <a:endParaRPr lang="en-US" sz="1400" dirty="0"/>
          </a:p>
          <a:p>
            <a:pPr marL="342900" indent="-342900">
              <a:spcAft>
                <a:spcPts val="400"/>
              </a:spcAft>
              <a:buSzPct val="100000"/>
              <a:buChar char="•"/>
            </a:pPr>
            <a:r>
              <a:rPr lang="en-US" sz="1400" dirty="0">
                <a:solidFill>
                  <a:schemeClr val="tx1"/>
                </a:solidFill>
              </a:rPr>
              <a:t>6 REST controllers</a:t>
            </a:r>
            <a:endParaRPr lang="en-US" sz="1400" dirty="0"/>
          </a:p>
          <a:p>
            <a:pPr marL="342900" indent="-342900">
              <a:spcAft>
                <a:spcPts val="400"/>
              </a:spcAft>
              <a:buSzPct val="100000"/>
              <a:buChar char="•"/>
            </a:pPr>
            <a:r>
              <a:rPr lang="en-US" sz="1400" dirty="0">
                <a:solidFill>
                  <a:schemeClr val="tx1"/>
                </a:solidFill>
              </a:rPr>
              <a:t>Service layer: business rules</a:t>
            </a:r>
            <a:endParaRPr lang="en-US" sz="1400" dirty="0"/>
          </a:p>
          <a:p>
            <a:pPr marL="342900" indent="-342900">
              <a:spcAft>
                <a:spcPts val="400"/>
              </a:spcAft>
              <a:buSzPct val="100000"/>
              <a:buChar char="•"/>
            </a:pPr>
            <a:r>
              <a:rPr lang="en-US" sz="1400" dirty="0">
                <a:solidFill>
                  <a:schemeClr val="tx1"/>
                </a:solidFill>
              </a:rPr>
              <a:t>Spring Data JPA repositories</a:t>
            </a:r>
            <a:endParaRPr lang="en-US" sz="1400" dirty="0"/>
          </a:p>
        </p:txBody>
      </p:sp>
      <p:sp>
        <p:nvSpPr>
          <p:cNvPr id="16" name="arrow-138"/>
          <p:cNvSpPr/>
          <p:nvPr/>
        </p:nvSpPr>
        <p:spPr>
          <a:xfrm>
            <a:off x="7571232" y="3017520"/>
            <a:ext cx="676656" cy="411480"/>
          </a:xfrm>
          <a:prstGeom prst="rightArrow">
            <a:avLst/>
          </a:prstGeom>
          <a:solidFill>
            <a:schemeClr val="accent1"/>
          </a:solidFill>
          <a:ln/>
        </p:spPr>
      </p:sp>
      <p:sp>
        <p:nvSpPr>
          <p:cNvPr id="17" name="text-139"/>
          <p:cNvSpPr txBox="1"/>
          <p:nvPr/>
        </p:nvSpPr>
        <p:spPr>
          <a:xfrm>
            <a:off x="7479792" y="3474720"/>
            <a:ext cx="822960" cy="502920"/>
          </a:xfrm>
          <a:prstGeom prst="rect">
            <a:avLst/>
          </a:prstGeom>
          <a:noFill/>
          <a:ln/>
        </p:spPr>
        <p:txBody>
          <a:bodyPr wrap="square" lIns="0" tIns="0" rIns="0" bIns="0" rtlCol="0" anchor="t"/>
          <a:lstStyle/>
          <a:p>
            <a:pPr algn="ctr" indent="0" marL="0">
              <a:buNone/>
            </a:pPr>
            <a:r>
              <a:rPr lang="en-US" sz="1000" dirty="0">
                <a:solidFill>
                  <a:schemeClr val="accent6"/>
                </a:solidFill>
              </a:rPr>
              <a:t>JPA /</a:t>
            </a:r>
            <a:endParaRPr lang="en-US" sz="1000" dirty="0"/>
          </a:p>
          <a:p>
            <a:pPr algn="ctr" indent="0" marL="0">
              <a:buNone/>
            </a:pPr>
            <a:r>
              <a:rPr lang="en-US" sz="1000" dirty="0">
                <a:solidFill>
                  <a:schemeClr val="accent6"/>
                </a:solidFill>
              </a:rPr>
              <a:t>JDBC</a:t>
            </a:r>
            <a:endParaRPr lang="en-US" sz="1000" dirty="0"/>
          </a:p>
        </p:txBody>
      </p:sp>
      <p:sp>
        <p:nvSpPr>
          <p:cNvPr id="18" name="card-140"/>
          <p:cNvSpPr/>
          <p:nvPr/>
        </p:nvSpPr>
        <p:spPr>
          <a:xfrm>
            <a:off x="8321040" y="1783080"/>
            <a:ext cx="3063240" cy="2926080"/>
          </a:xfrm>
          <a:prstGeom prst="roundRect">
            <a:avLst>
              <a:gd name="adj" fmla="val 3750"/>
            </a:avLst>
          </a:prstGeom>
          <a:solidFill>
            <a:schemeClr val="bg2"/>
          </a:solidFill>
          <a:ln/>
        </p:spPr>
      </p:sp>
      <p:sp>
        <p:nvSpPr>
          <p:cNvPr id="19" name="icon-bg-141"/>
          <p:cNvSpPr/>
          <p:nvPr/>
        </p:nvSpPr>
        <p:spPr>
          <a:xfrm>
            <a:off x="8595360" y="2011680"/>
            <a:ext cx="548640" cy="548640"/>
          </a:xfrm>
          <a:prstGeom prst="ellipse">
            <a:avLst/>
          </a:prstGeom>
          <a:solidFill>
            <a:schemeClr val="accent1"/>
          </a:solidFill>
          <a:ln/>
        </p:spPr>
      </p:sp>
      <p:pic>
        <p:nvPicPr>
          <p:cNvPr id="20" name="icon-142" descr="preencoded.png">    </p:cNvPr>
          <p:cNvPicPr>
            <a:picLocks noChangeAspect="1"/>
          </p:cNvPicPr>
          <p:nvPr/>
        </p:nvPicPr>
        <p:blipFill>
          <a:blip r:embed="rId3"/>
          <a:stretch>
            <a:fillRect/>
          </a:stretch>
        </p:blipFill>
        <p:spPr>
          <a:xfrm>
            <a:off x="8738006" y="2154326"/>
            <a:ext cx="263347" cy="263347"/>
          </a:xfrm>
          <a:prstGeom prst="rect">
            <a:avLst/>
          </a:prstGeom>
        </p:spPr>
      </p:pic>
      <p:sp>
        <p:nvSpPr>
          <p:cNvPr id="21" name="text-143"/>
          <p:cNvSpPr txBox="1"/>
          <p:nvPr/>
        </p:nvSpPr>
        <p:spPr>
          <a:xfrm>
            <a:off x="9281160" y="2011680"/>
            <a:ext cx="1965960" cy="548640"/>
          </a:xfrm>
          <a:prstGeom prst="rect">
            <a:avLst/>
          </a:prstGeom>
          <a:noFill/>
          <a:ln/>
        </p:spPr>
        <p:txBody>
          <a:bodyPr wrap="square" lIns="0" tIns="0" rIns="0" bIns="0" rtlCol="0" anchor="ctr"/>
          <a:lstStyle/>
          <a:p>
            <a:pPr indent="0" marL="0">
              <a:buNone/>
            </a:pPr>
            <a:r>
              <a:rPr lang="en-US" sz="1600" b="1" dirty="0">
                <a:solidFill>
                  <a:schemeClr val="tx1"/>
                </a:solidFill>
              </a:rPr>
              <a:t>MySQL 8</a:t>
            </a:r>
            <a:endParaRPr lang="en-US" sz="1600" dirty="0"/>
          </a:p>
        </p:txBody>
      </p:sp>
      <p:sp>
        <p:nvSpPr>
          <p:cNvPr id="22" name="list-144"/>
          <p:cNvSpPr txBox="1"/>
          <p:nvPr/>
        </p:nvSpPr>
        <p:spPr>
          <a:xfrm>
            <a:off x="8595360" y="2788920"/>
            <a:ext cx="2606040" cy="17373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6 tables via Hibernate</a:t>
            </a:r>
            <a:endParaRPr lang="en-US" sz="1400" dirty="0"/>
          </a:p>
          <a:p>
            <a:pPr marL="342900" indent="-342900">
              <a:spcAft>
                <a:spcPts val="400"/>
              </a:spcAft>
              <a:buSzPct val="100000"/>
              <a:buChar char="•"/>
            </a:pPr>
            <a:r>
              <a:rPr lang="en-US" sz="1400" dirty="0">
                <a:solidFill>
                  <a:schemeClr val="tx1"/>
                </a:solidFill>
              </a:rPr>
              <a:t>Soft delete keeps history</a:t>
            </a:r>
            <a:endParaRPr lang="en-US" sz="1400" dirty="0"/>
          </a:p>
          <a:p>
            <a:pPr marL="342900" indent="-342900">
              <a:spcAft>
                <a:spcPts val="400"/>
              </a:spcAft>
              <a:buSzPct val="100000"/>
              <a:buChar char="•"/>
            </a:pPr>
            <a:r>
              <a:rPr lang="en-US" sz="1400" dirty="0">
                <a:solidFill>
                  <a:schemeClr val="tx1"/>
                </a:solidFill>
              </a:rPr>
              <a:t>Demo data loader</a:t>
            </a:r>
            <a:endParaRPr lang="en-US" sz="1400" dirty="0"/>
          </a:p>
          <a:p>
            <a:pPr marL="342900" indent="-342900">
              <a:spcAft>
                <a:spcPts val="400"/>
              </a:spcAft>
              <a:buSzPct val="100000"/>
              <a:buChar char="•"/>
            </a:pPr>
            <a:r>
              <a:rPr lang="en-US" sz="1400" dirty="0">
                <a:solidFill>
                  <a:schemeClr val="tx1"/>
                </a:solidFill>
              </a:rPr>
              <a:t>Auto schema update</a:t>
            </a:r>
            <a:endParaRPr lang="en-US" sz="1400" dirty="0"/>
          </a:p>
        </p:txBody>
      </p:sp>
      <p:sp>
        <p:nvSpPr>
          <p:cNvPr id="23" name="card-145"/>
          <p:cNvSpPr/>
          <p:nvPr/>
        </p:nvSpPr>
        <p:spPr>
          <a:xfrm>
            <a:off x="2743200" y="5074920"/>
            <a:ext cx="3383280" cy="960120"/>
          </a:xfrm>
          <a:prstGeom prst="roundRect">
            <a:avLst>
              <a:gd name="adj" fmla="val 11429"/>
            </a:avLst>
          </a:prstGeom>
          <a:solidFill>
            <a:srgbClr val="FDEEE7"/>
          </a:solidFill>
          <a:ln/>
        </p:spPr>
      </p:sp>
      <p:sp>
        <p:nvSpPr>
          <p:cNvPr id="24" name="icon-bg-146"/>
          <p:cNvSpPr/>
          <p:nvPr/>
        </p:nvSpPr>
        <p:spPr>
          <a:xfrm>
            <a:off x="2926080" y="5276088"/>
            <a:ext cx="548640" cy="548640"/>
          </a:xfrm>
          <a:prstGeom prst="ellipse">
            <a:avLst/>
          </a:prstGeom>
          <a:solidFill>
            <a:schemeClr val="accent1"/>
          </a:solidFill>
          <a:ln/>
        </p:spPr>
      </p:sp>
      <p:pic>
        <p:nvPicPr>
          <p:cNvPr id="25" name="icon-147" descr="preencoded.png">    </p:cNvPr>
          <p:cNvPicPr>
            <a:picLocks noChangeAspect="1"/>
          </p:cNvPicPr>
          <p:nvPr/>
        </p:nvPicPr>
        <p:blipFill>
          <a:blip r:embed="rId4"/>
          <a:stretch>
            <a:fillRect/>
          </a:stretch>
        </p:blipFill>
        <p:spPr>
          <a:xfrm>
            <a:off x="3068726" y="5418734"/>
            <a:ext cx="263347" cy="263347"/>
          </a:xfrm>
          <a:prstGeom prst="rect">
            <a:avLst/>
          </a:prstGeom>
        </p:spPr>
      </p:pic>
      <p:sp>
        <p:nvSpPr>
          <p:cNvPr id="26" name="text-148"/>
          <p:cNvSpPr txBox="1"/>
          <p:nvPr/>
        </p:nvSpPr>
        <p:spPr>
          <a:xfrm>
            <a:off x="3611880" y="5212080"/>
            <a:ext cx="2377440" cy="320040"/>
          </a:xfrm>
          <a:prstGeom prst="rect">
            <a:avLst/>
          </a:prstGeom>
          <a:noFill/>
          <a:ln/>
        </p:spPr>
        <p:txBody>
          <a:bodyPr wrap="square" lIns="0" tIns="0" rIns="0" bIns="0" rtlCol="0" anchor="t"/>
          <a:lstStyle/>
          <a:p>
            <a:pPr indent="0" marL="0">
              <a:buNone/>
            </a:pPr>
            <a:r>
              <a:rPr lang="en-US" sz="1500" b="1" dirty="0">
                <a:solidFill>
                  <a:schemeClr val="tx1"/>
                </a:solidFill>
              </a:rPr>
              <a:t>Gmail SMTP</a:t>
            </a:r>
            <a:endParaRPr lang="en-US" sz="1500" dirty="0"/>
          </a:p>
        </p:txBody>
      </p:sp>
      <p:sp>
        <p:nvSpPr>
          <p:cNvPr id="27" name="text-149"/>
          <p:cNvSpPr txBox="1"/>
          <p:nvPr/>
        </p:nvSpPr>
        <p:spPr>
          <a:xfrm>
            <a:off x="3611880" y="5532120"/>
            <a:ext cx="2377440" cy="457200"/>
          </a:xfrm>
          <a:prstGeom prst="rect">
            <a:avLst/>
          </a:prstGeom>
          <a:noFill/>
          <a:ln/>
        </p:spPr>
        <p:txBody>
          <a:bodyPr wrap="square" lIns="0" tIns="0" rIns="0" bIns="0" rtlCol="0" anchor="t"/>
          <a:lstStyle/>
          <a:p>
            <a:pPr indent="0" marL="0">
              <a:buNone/>
            </a:pPr>
            <a:r>
              <a:rPr lang="en-US" sz="1200" dirty="0">
                <a:solidFill>
                  <a:schemeClr val="accent6"/>
                </a:solidFill>
              </a:rPr>
              <a:t>Sends the 6-digit OTP code for sign-up</a:t>
            </a:r>
            <a:endParaRPr lang="en-US" sz="1200" dirty="0"/>
          </a:p>
        </p:txBody>
      </p:sp>
      <p:sp>
        <p:nvSpPr>
          <p:cNvPr id="28" name="card-150"/>
          <p:cNvSpPr/>
          <p:nvPr/>
        </p:nvSpPr>
        <p:spPr>
          <a:xfrm>
            <a:off x="6400800" y="5074920"/>
            <a:ext cx="3383280" cy="960120"/>
          </a:xfrm>
          <a:prstGeom prst="roundRect">
            <a:avLst>
              <a:gd name="adj" fmla="val 11429"/>
            </a:avLst>
          </a:prstGeom>
          <a:solidFill>
            <a:srgbClr val="FDEEE7"/>
          </a:solidFill>
          <a:ln/>
        </p:spPr>
      </p:sp>
      <p:sp>
        <p:nvSpPr>
          <p:cNvPr id="29" name="icon-bg-151"/>
          <p:cNvSpPr/>
          <p:nvPr/>
        </p:nvSpPr>
        <p:spPr>
          <a:xfrm>
            <a:off x="6583680" y="5276088"/>
            <a:ext cx="548640" cy="548640"/>
          </a:xfrm>
          <a:prstGeom prst="ellipse">
            <a:avLst/>
          </a:prstGeom>
          <a:solidFill>
            <a:schemeClr val="accent1"/>
          </a:solidFill>
          <a:ln/>
        </p:spPr>
      </p:sp>
      <p:pic>
        <p:nvPicPr>
          <p:cNvPr id="30" name="icon-152" descr="preencoded.png">    </p:cNvPr>
          <p:cNvPicPr>
            <a:picLocks noChangeAspect="1"/>
          </p:cNvPicPr>
          <p:nvPr/>
        </p:nvPicPr>
        <p:blipFill>
          <a:blip r:embed="rId5"/>
          <a:stretch>
            <a:fillRect/>
          </a:stretch>
        </p:blipFill>
        <p:spPr>
          <a:xfrm>
            <a:off x="6726326" y="5418734"/>
            <a:ext cx="263347" cy="263347"/>
          </a:xfrm>
          <a:prstGeom prst="rect">
            <a:avLst/>
          </a:prstGeom>
        </p:spPr>
      </p:pic>
      <p:sp>
        <p:nvSpPr>
          <p:cNvPr id="31" name="text-153"/>
          <p:cNvSpPr txBox="1"/>
          <p:nvPr/>
        </p:nvSpPr>
        <p:spPr>
          <a:xfrm>
            <a:off x="7269480" y="5212080"/>
            <a:ext cx="2377440" cy="320040"/>
          </a:xfrm>
          <a:prstGeom prst="rect">
            <a:avLst/>
          </a:prstGeom>
          <a:noFill/>
          <a:ln/>
        </p:spPr>
        <p:txBody>
          <a:bodyPr wrap="square" lIns="0" tIns="0" rIns="0" bIns="0" rtlCol="0" anchor="t"/>
          <a:lstStyle/>
          <a:p>
            <a:pPr indent="0" marL="0">
              <a:buNone/>
            </a:pPr>
            <a:r>
              <a:rPr lang="en-US" sz="1500" b="1" dirty="0">
                <a:solidFill>
                  <a:schemeClr val="tx1"/>
                </a:solidFill>
              </a:rPr>
              <a:t>Groq AI API</a:t>
            </a:r>
            <a:endParaRPr lang="en-US" sz="1500" dirty="0"/>
          </a:p>
        </p:txBody>
      </p:sp>
      <p:sp>
        <p:nvSpPr>
          <p:cNvPr id="32" name="text-154"/>
          <p:cNvSpPr txBox="1"/>
          <p:nvPr/>
        </p:nvSpPr>
        <p:spPr>
          <a:xfrm>
            <a:off x="7269480" y="5532120"/>
            <a:ext cx="2377440" cy="457200"/>
          </a:xfrm>
          <a:prstGeom prst="rect">
            <a:avLst/>
          </a:prstGeom>
          <a:noFill/>
          <a:ln/>
        </p:spPr>
        <p:txBody>
          <a:bodyPr wrap="square" lIns="0" tIns="0" rIns="0" bIns="0" rtlCol="0" anchor="t"/>
          <a:lstStyle/>
          <a:p>
            <a:pPr indent="0" marL="0">
              <a:buNone/>
            </a:pPr>
            <a:r>
              <a:rPr lang="en-US" sz="1200" dirty="0">
                <a:solidFill>
                  <a:schemeClr val="accent6"/>
                </a:solidFill>
              </a:rPr>
              <a:t>Answers Archie’s questions over HTTPS</a:t>
            </a:r>
            <a:endParaRPr lang="en-US" sz="1200" dirty="0"/>
          </a:p>
        </p:txBody>
      </p:sp>
      <p:sp>
        <p:nvSpPr>
          <p:cNvPr id="33" name="ext-link"/>
          <p:cNvSpPr/>
          <p:nvPr/>
        </p:nvSpPr>
        <p:spPr>
          <a:xfrm>
            <a:off x="5966460" y="4709160"/>
            <a:ext cx="0" cy="365760"/>
          </a:xfrm>
          <a:prstGeom prst="line">
            <a:avLst/>
          </a:prstGeom>
          <a:noFill/>
          <a:ln w="19050">
            <a:solidFill>
              <a:srgbClr val="F15A22"/>
            </a:solidFill>
            <a:prstDash val="dash"/>
          </a:ln>
        </p:spPr>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Tech stack</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Industry-standard, open-source tools across every layer</a:t>
            </a:r>
            <a:endParaRPr lang="en-US" sz="1600" dirty="0"/>
          </a:p>
        </p:txBody>
      </p:sp>
      <p:sp>
        <p:nvSpPr>
          <p:cNvPr id="4" name="card-155"/>
          <p:cNvSpPr/>
          <p:nvPr/>
        </p:nvSpPr>
        <p:spPr>
          <a:xfrm>
            <a:off x="548640" y="1783080"/>
            <a:ext cx="2567864" cy="4206240"/>
          </a:xfrm>
          <a:prstGeom prst="roundRect">
            <a:avLst>
              <a:gd name="adj" fmla="val 4273"/>
            </a:avLst>
          </a:prstGeom>
          <a:solidFill>
            <a:schemeClr val="bg2"/>
          </a:solidFill>
          <a:ln/>
        </p:spPr>
      </p:sp>
      <p:sp>
        <p:nvSpPr>
          <p:cNvPr id="5" name="icon-bg-156"/>
          <p:cNvSpPr/>
          <p:nvPr/>
        </p:nvSpPr>
        <p:spPr>
          <a:xfrm>
            <a:off x="1443952" y="2103120"/>
            <a:ext cx="777240" cy="777240"/>
          </a:xfrm>
          <a:prstGeom prst="ellipse">
            <a:avLst/>
          </a:prstGeom>
          <a:solidFill>
            <a:schemeClr val="accent1"/>
          </a:solidFill>
          <a:ln/>
        </p:spPr>
      </p:sp>
      <p:pic>
        <p:nvPicPr>
          <p:cNvPr id="6" name="icon-157" descr="preencoded.png">    </p:cNvPr>
          <p:cNvPicPr>
            <a:picLocks noChangeAspect="1"/>
          </p:cNvPicPr>
          <p:nvPr/>
        </p:nvPicPr>
        <p:blipFill>
          <a:blip r:embed="rId1"/>
          <a:stretch>
            <a:fillRect/>
          </a:stretch>
        </p:blipFill>
        <p:spPr>
          <a:xfrm>
            <a:off x="1646034" y="2305202"/>
            <a:ext cx="373075" cy="373075"/>
          </a:xfrm>
          <a:prstGeom prst="rect">
            <a:avLst/>
          </a:prstGeom>
        </p:spPr>
      </p:pic>
      <p:sp>
        <p:nvSpPr>
          <p:cNvPr id="7" name="text-158"/>
          <p:cNvSpPr txBox="1"/>
          <p:nvPr/>
        </p:nvSpPr>
        <p:spPr>
          <a:xfrm>
            <a:off x="731520" y="3063240"/>
            <a:ext cx="2202104" cy="411480"/>
          </a:xfrm>
          <a:prstGeom prst="rect">
            <a:avLst/>
          </a:prstGeom>
          <a:noFill/>
          <a:ln/>
        </p:spPr>
        <p:txBody>
          <a:bodyPr wrap="square" lIns="0" tIns="0" rIns="0" bIns="0" rtlCol="0" anchor="t"/>
          <a:lstStyle/>
          <a:p>
            <a:pPr algn="ctr" indent="0" marL="0">
              <a:buNone/>
            </a:pPr>
            <a:r>
              <a:rPr lang="en-US" sz="1900" b="1" dirty="0">
                <a:solidFill>
                  <a:schemeClr val="tx1"/>
                </a:solidFill>
              </a:rPr>
              <a:t>Frontend</a:t>
            </a:r>
            <a:endParaRPr lang="en-US" sz="1900" dirty="0"/>
          </a:p>
        </p:txBody>
      </p:sp>
      <p:sp>
        <p:nvSpPr>
          <p:cNvPr id="8" name="card-159"/>
          <p:cNvSpPr/>
          <p:nvPr/>
        </p:nvSpPr>
        <p:spPr>
          <a:xfrm>
            <a:off x="822960" y="3657600"/>
            <a:ext cx="2019224" cy="411480"/>
          </a:xfrm>
          <a:prstGeom prst="roundRect">
            <a:avLst>
              <a:gd name="adj" fmla="val 26667"/>
            </a:avLst>
          </a:prstGeom>
          <a:solidFill>
            <a:schemeClr val="bg1"/>
          </a:solidFill>
          <a:ln/>
        </p:spPr>
      </p:sp>
      <p:sp>
        <p:nvSpPr>
          <p:cNvPr id="9" name="text-160"/>
          <p:cNvSpPr txBox="1"/>
          <p:nvPr/>
        </p:nvSpPr>
        <p:spPr>
          <a:xfrm>
            <a:off x="822960" y="365760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Angular 16</a:t>
            </a:r>
            <a:endParaRPr lang="en-US" sz="1400" dirty="0"/>
          </a:p>
        </p:txBody>
      </p:sp>
      <p:sp>
        <p:nvSpPr>
          <p:cNvPr id="10" name="card-161"/>
          <p:cNvSpPr/>
          <p:nvPr/>
        </p:nvSpPr>
        <p:spPr>
          <a:xfrm>
            <a:off x="822960" y="4206240"/>
            <a:ext cx="2019224" cy="411480"/>
          </a:xfrm>
          <a:prstGeom prst="roundRect">
            <a:avLst>
              <a:gd name="adj" fmla="val 26667"/>
            </a:avLst>
          </a:prstGeom>
          <a:solidFill>
            <a:schemeClr val="bg1"/>
          </a:solidFill>
          <a:ln/>
        </p:spPr>
      </p:sp>
      <p:sp>
        <p:nvSpPr>
          <p:cNvPr id="11" name="text-162"/>
          <p:cNvSpPr txBox="1"/>
          <p:nvPr/>
        </p:nvSpPr>
        <p:spPr>
          <a:xfrm>
            <a:off x="822960" y="420624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TypeScript 5.1</a:t>
            </a:r>
            <a:endParaRPr lang="en-US" sz="1400" dirty="0"/>
          </a:p>
        </p:txBody>
      </p:sp>
      <p:sp>
        <p:nvSpPr>
          <p:cNvPr id="12" name="card-163"/>
          <p:cNvSpPr/>
          <p:nvPr/>
        </p:nvSpPr>
        <p:spPr>
          <a:xfrm>
            <a:off x="822960" y="4754880"/>
            <a:ext cx="2019224" cy="411480"/>
          </a:xfrm>
          <a:prstGeom prst="roundRect">
            <a:avLst>
              <a:gd name="adj" fmla="val 26667"/>
            </a:avLst>
          </a:prstGeom>
          <a:solidFill>
            <a:schemeClr val="bg1"/>
          </a:solidFill>
          <a:ln/>
        </p:spPr>
      </p:sp>
      <p:sp>
        <p:nvSpPr>
          <p:cNvPr id="13" name="text-164"/>
          <p:cNvSpPr txBox="1"/>
          <p:nvPr/>
        </p:nvSpPr>
        <p:spPr>
          <a:xfrm>
            <a:off x="822960" y="475488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RxJS</a:t>
            </a:r>
            <a:endParaRPr lang="en-US" sz="1400" dirty="0"/>
          </a:p>
        </p:txBody>
      </p:sp>
      <p:sp>
        <p:nvSpPr>
          <p:cNvPr id="14" name="card-165"/>
          <p:cNvSpPr/>
          <p:nvPr/>
        </p:nvSpPr>
        <p:spPr>
          <a:xfrm>
            <a:off x="822960" y="5303520"/>
            <a:ext cx="2019224" cy="411480"/>
          </a:xfrm>
          <a:prstGeom prst="roundRect">
            <a:avLst>
              <a:gd name="adj" fmla="val 26667"/>
            </a:avLst>
          </a:prstGeom>
          <a:solidFill>
            <a:schemeClr val="bg1"/>
          </a:solidFill>
          <a:ln/>
        </p:spPr>
      </p:sp>
      <p:sp>
        <p:nvSpPr>
          <p:cNvPr id="15" name="text-166"/>
          <p:cNvSpPr txBox="1"/>
          <p:nvPr/>
        </p:nvSpPr>
        <p:spPr>
          <a:xfrm>
            <a:off x="822960" y="530352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HTML5 / CSS3</a:t>
            </a:r>
            <a:endParaRPr lang="en-US" sz="1400" dirty="0"/>
          </a:p>
        </p:txBody>
      </p:sp>
      <p:sp>
        <p:nvSpPr>
          <p:cNvPr id="16" name="card-167"/>
          <p:cNvSpPr/>
          <p:nvPr/>
        </p:nvSpPr>
        <p:spPr>
          <a:xfrm>
            <a:off x="3390824" y="1783080"/>
            <a:ext cx="2567864" cy="4206240"/>
          </a:xfrm>
          <a:prstGeom prst="roundRect">
            <a:avLst>
              <a:gd name="adj" fmla="val 4273"/>
            </a:avLst>
          </a:prstGeom>
          <a:solidFill>
            <a:schemeClr val="bg2"/>
          </a:solidFill>
          <a:ln/>
        </p:spPr>
      </p:sp>
      <p:sp>
        <p:nvSpPr>
          <p:cNvPr id="17" name="icon-bg-168"/>
          <p:cNvSpPr/>
          <p:nvPr/>
        </p:nvSpPr>
        <p:spPr>
          <a:xfrm>
            <a:off x="4286136" y="2103120"/>
            <a:ext cx="777240" cy="777240"/>
          </a:xfrm>
          <a:prstGeom prst="ellipse">
            <a:avLst/>
          </a:prstGeom>
          <a:solidFill>
            <a:schemeClr val="accent1"/>
          </a:solidFill>
          <a:ln/>
        </p:spPr>
      </p:sp>
      <p:pic>
        <p:nvPicPr>
          <p:cNvPr id="18" name="icon-169" descr="preencoded.png">    </p:cNvPr>
          <p:cNvPicPr>
            <a:picLocks noChangeAspect="1"/>
          </p:cNvPicPr>
          <p:nvPr/>
        </p:nvPicPr>
        <p:blipFill>
          <a:blip r:embed="rId2"/>
          <a:stretch>
            <a:fillRect/>
          </a:stretch>
        </p:blipFill>
        <p:spPr>
          <a:xfrm>
            <a:off x="4488218" y="2305202"/>
            <a:ext cx="373075" cy="373075"/>
          </a:xfrm>
          <a:prstGeom prst="rect">
            <a:avLst/>
          </a:prstGeom>
        </p:spPr>
      </p:pic>
      <p:sp>
        <p:nvSpPr>
          <p:cNvPr id="19" name="text-170"/>
          <p:cNvSpPr txBox="1"/>
          <p:nvPr/>
        </p:nvSpPr>
        <p:spPr>
          <a:xfrm>
            <a:off x="3573704" y="3063240"/>
            <a:ext cx="2202104" cy="411480"/>
          </a:xfrm>
          <a:prstGeom prst="rect">
            <a:avLst/>
          </a:prstGeom>
          <a:noFill/>
          <a:ln/>
        </p:spPr>
        <p:txBody>
          <a:bodyPr wrap="square" lIns="0" tIns="0" rIns="0" bIns="0" rtlCol="0" anchor="t"/>
          <a:lstStyle/>
          <a:p>
            <a:pPr algn="ctr" indent="0" marL="0">
              <a:buNone/>
            </a:pPr>
            <a:r>
              <a:rPr lang="en-US" sz="1900" b="1" dirty="0">
                <a:solidFill>
                  <a:schemeClr val="tx1"/>
                </a:solidFill>
              </a:rPr>
              <a:t>Backend</a:t>
            </a:r>
            <a:endParaRPr lang="en-US" sz="1900" dirty="0"/>
          </a:p>
        </p:txBody>
      </p:sp>
      <p:sp>
        <p:nvSpPr>
          <p:cNvPr id="20" name="card-171"/>
          <p:cNvSpPr/>
          <p:nvPr/>
        </p:nvSpPr>
        <p:spPr>
          <a:xfrm>
            <a:off x="3665144" y="3657600"/>
            <a:ext cx="2019224" cy="411480"/>
          </a:xfrm>
          <a:prstGeom prst="roundRect">
            <a:avLst>
              <a:gd name="adj" fmla="val 26667"/>
            </a:avLst>
          </a:prstGeom>
          <a:solidFill>
            <a:schemeClr val="bg1"/>
          </a:solidFill>
          <a:ln/>
        </p:spPr>
      </p:sp>
      <p:sp>
        <p:nvSpPr>
          <p:cNvPr id="21" name="text-172"/>
          <p:cNvSpPr txBox="1"/>
          <p:nvPr/>
        </p:nvSpPr>
        <p:spPr>
          <a:xfrm>
            <a:off x="3665144" y="365760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Spring Boot 3.0</a:t>
            </a:r>
            <a:endParaRPr lang="en-US" sz="1400" dirty="0"/>
          </a:p>
        </p:txBody>
      </p:sp>
      <p:sp>
        <p:nvSpPr>
          <p:cNvPr id="22" name="card-173"/>
          <p:cNvSpPr/>
          <p:nvPr/>
        </p:nvSpPr>
        <p:spPr>
          <a:xfrm>
            <a:off x="3665144" y="4206240"/>
            <a:ext cx="2019224" cy="411480"/>
          </a:xfrm>
          <a:prstGeom prst="roundRect">
            <a:avLst>
              <a:gd name="adj" fmla="val 26667"/>
            </a:avLst>
          </a:prstGeom>
          <a:solidFill>
            <a:schemeClr val="bg1"/>
          </a:solidFill>
          <a:ln/>
        </p:spPr>
      </p:sp>
      <p:sp>
        <p:nvSpPr>
          <p:cNvPr id="23" name="text-174"/>
          <p:cNvSpPr txBox="1"/>
          <p:nvPr/>
        </p:nvSpPr>
        <p:spPr>
          <a:xfrm>
            <a:off x="3665144" y="420624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Java 17</a:t>
            </a:r>
            <a:endParaRPr lang="en-US" sz="1400" dirty="0"/>
          </a:p>
        </p:txBody>
      </p:sp>
      <p:sp>
        <p:nvSpPr>
          <p:cNvPr id="24" name="card-175"/>
          <p:cNvSpPr/>
          <p:nvPr/>
        </p:nvSpPr>
        <p:spPr>
          <a:xfrm>
            <a:off x="3665144" y="4754880"/>
            <a:ext cx="2019224" cy="411480"/>
          </a:xfrm>
          <a:prstGeom prst="roundRect">
            <a:avLst>
              <a:gd name="adj" fmla="val 26667"/>
            </a:avLst>
          </a:prstGeom>
          <a:solidFill>
            <a:schemeClr val="bg1"/>
          </a:solidFill>
          <a:ln/>
        </p:spPr>
      </p:sp>
      <p:sp>
        <p:nvSpPr>
          <p:cNvPr id="25" name="text-176"/>
          <p:cNvSpPr txBox="1"/>
          <p:nvPr/>
        </p:nvSpPr>
        <p:spPr>
          <a:xfrm>
            <a:off x="3665144" y="475488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Spring Security</a:t>
            </a:r>
            <a:endParaRPr lang="en-US" sz="1400" dirty="0"/>
          </a:p>
        </p:txBody>
      </p:sp>
      <p:sp>
        <p:nvSpPr>
          <p:cNvPr id="26" name="card-177"/>
          <p:cNvSpPr/>
          <p:nvPr/>
        </p:nvSpPr>
        <p:spPr>
          <a:xfrm>
            <a:off x="3665144" y="5303520"/>
            <a:ext cx="2019224" cy="411480"/>
          </a:xfrm>
          <a:prstGeom prst="roundRect">
            <a:avLst>
              <a:gd name="adj" fmla="val 26667"/>
            </a:avLst>
          </a:prstGeom>
          <a:solidFill>
            <a:schemeClr val="bg1"/>
          </a:solidFill>
          <a:ln/>
        </p:spPr>
      </p:sp>
      <p:sp>
        <p:nvSpPr>
          <p:cNvPr id="27" name="text-178"/>
          <p:cNvSpPr txBox="1"/>
          <p:nvPr/>
        </p:nvSpPr>
        <p:spPr>
          <a:xfrm>
            <a:off x="3665144" y="530352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Spring Data JPA</a:t>
            </a:r>
            <a:endParaRPr lang="en-US" sz="1400" dirty="0"/>
          </a:p>
        </p:txBody>
      </p:sp>
      <p:sp>
        <p:nvSpPr>
          <p:cNvPr id="28" name="card-179"/>
          <p:cNvSpPr/>
          <p:nvPr/>
        </p:nvSpPr>
        <p:spPr>
          <a:xfrm>
            <a:off x="6233008" y="1783080"/>
            <a:ext cx="2567864" cy="4206240"/>
          </a:xfrm>
          <a:prstGeom prst="roundRect">
            <a:avLst>
              <a:gd name="adj" fmla="val 4273"/>
            </a:avLst>
          </a:prstGeom>
          <a:solidFill>
            <a:schemeClr val="bg2"/>
          </a:solidFill>
          <a:ln/>
        </p:spPr>
      </p:sp>
      <p:sp>
        <p:nvSpPr>
          <p:cNvPr id="29" name="icon-bg-180"/>
          <p:cNvSpPr/>
          <p:nvPr/>
        </p:nvSpPr>
        <p:spPr>
          <a:xfrm>
            <a:off x="7128319" y="2103120"/>
            <a:ext cx="777240" cy="777240"/>
          </a:xfrm>
          <a:prstGeom prst="ellipse">
            <a:avLst/>
          </a:prstGeom>
          <a:solidFill>
            <a:schemeClr val="accent1"/>
          </a:solidFill>
          <a:ln/>
        </p:spPr>
      </p:sp>
      <p:pic>
        <p:nvPicPr>
          <p:cNvPr id="30" name="icon-181" descr="preencoded.png">    </p:cNvPr>
          <p:cNvPicPr>
            <a:picLocks noChangeAspect="1"/>
          </p:cNvPicPr>
          <p:nvPr/>
        </p:nvPicPr>
        <p:blipFill>
          <a:blip r:embed="rId3"/>
          <a:stretch>
            <a:fillRect/>
          </a:stretch>
        </p:blipFill>
        <p:spPr>
          <a:xfrm>
            <a:off x="7330402" y="2305202"/>
            <a:ext cx="373075" cy="373075"/>
          </a:xfrm>
          <a:prstGeom prst="rect">
            <a:avLst/>
          </a:prstGeom>
        </p:spPr>
      </p:pic>
      <p:sp>
        <p:nvSpPr>
          <p:cNvPr id="31" name="text-182"/>
          <p:cNvSpPr txBox="1"/>
          <p:nvPr/>
        </p:nvSpPr>
        <p:spPr>
          <a:xfrm>
            <a:off x="6415888" y="3063240"/>
            <a:ext cx="2202104" cy="411480"/>
          </a:xfrm>
          <a:prstGeom prst="rect">
            <a:avLst/>
          </a:prstGeom>
          <a:noFill/>
          <a:ln/>
        </p:spPr>
        <p:txBody>
          <a:bodyPr wrap="square" lIns="0" tIns="0" rIns="0" bIns="0" rtlCol="0" anchor="t"/>
          <a:lstStyle/>
          <a:p>
            <a:pPr algn="ctr" indent="0" marL="0">
              <a:buNone/>
            </a:pPr>
            <a:r>
              <a:rPr lang="en-US" sz="1900" b="1" dirty="0">
                <a:solidFill>
                  <a:schemeClr val="tx1"/>
                </a:solidFill>
              </a:rPr>
              <a:t>Data &amp; auth</a:t>
            </a:r>
            <a:endParaRPr lang="en-US" sz="1900" dirty="0"/>
          </a:p>
        </p:txBody>
      </p:sp>
      <p:sp>
        <p:nvSpPr>
          <p:cNvPr id="32" name="card-183"/>
          <p:cNvSpPr/>
          <p:nvPr/>
        </p:nvSpPr>
        <p:spPr>
          <a:xfrm>
            <a:off x="6507328" y="3657600"/>
            <a:ext cx="2019224" cy="411480"/>
          </a:xfrm>
          <a:prstGeom prst="roundRect">
            <a:avLst>
              <a:gd name="adj" fmla="val 26667"/>
            </a:avLst>
          </a:prstGeom>
          <a:solidFill>
            <a:schemeClr val="bg1"/>
          </a:solidFill>
          <a:ln/>
        </p:spPr>
      </p:sp>
      <p:sp>
        <p:nvSpPr>
          <p:cNvPr id="33" name="text-184"/>
          <p:cNvSpPr txBox="1"/>
          <p:nvPr/>
        </p:nvSpPr>
        <p:spPr>
          <a:xfrm>
            <a:off x="6507328" y="365760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MySQL 8</a:t>
            </a:r>
            <a:endParaRPr lang="en-US" sz="1400" dirty="0"/>
          </a:p>
        </p:txBody>
      </p:sp>
      <p:sp>
        <p:nvSpPr>
          <p:cNvPr id="34" name="card-185"/>
          <p:cNvSpPr/>
          <p:nvPr/>
        </p:nvSpPr>
        <p:spPr>
          <a:xfrm>
            <a:off x="6507328" y="4206240"/>
            <a:ext cx="2019224" cy="411480"/>
          </a:xfrm>
          <a:prstGeom prst="roundRect">
            <a:avLst>
              <a:gd name="adj" fmla="val 26667"/>
            </a:avLst>
          </a:prstGeom>
          <a:solidFill>
            <a:schemeClr val="bg1"/>
          </a:solidFill>
          <a:ln/>
        </p:spPr>
      </p:sp>
      <p:sp>
        <p:nvSpPr>
          <p:cNvPr id="35" name="text-186"/>
          <p:cNvSpPr txBox="1"/>
          <p:nvPr/>
        </p:nvSpPr>
        <p:spPr>
          <a:xfrm>
            <a:off x="6507328" y="420624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Hibernate</a:t>
            </a:r>
            <a:endParaRPr lang="en-US" sz="1400" dirty="0"/>
          </a:p>
        </p:txBody>
      </p:sp>
      <p:sp>
        <p:nvSpPr>
          <p:cNvPr id="36" name="card-187"/>
          <p:cNvSpPr/>
          <p:nvPr/>
        </p:nvSpPr>
        <p:spPr>
          <a:xfrm>
            <a:off x="6507328" y="4754880"/>
            <a:ext cx="2019224" cy="411480"/>
          </a:xfrm>
          <a:prstGeom prst="roundRect">
            <a:avLst>
              <a:gd name="adj" fmla="val 26667"/>
            </a:avLst>
          </a:prstGeom>
          <a:solidFill>
            <a:schemeClr val="bg1"/>
          </a:solidFill>
          <a:ln/>
        </p:spPr>
      </p:sp>
      <p:sp>
        <p:nvSpPr>
          <p:cNvPr id="37" name="text-188"/>
          <p:cNvSpPr txBox="1"/>
          <p:nvPr/>
        </p:nvSpPr>
        <p:spPr>
          <a:xfrm>
            <a:off x="6507328" y="475488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JWT (jjwt)</a:t>
            </a:r>
            <a:endParaRPr lang="en-US" sz="1400" dirty="0"/>
          </a:p>
        </p:txBody>
      </p:sp>
      <p:sp>
        <p:nvSpPr>
          <p:cNvPr id="38" name="card-189"/>
          <p:cNvSpPr/>
          <p:nvPr/>
        </p:nvSpPr>
        <p:spPr>
          <a:xfrm>
            <a:off x="6507328" y="5303520"/>
            <a:ext cx="2019224" cy="411480"/>
          </a:xfrm>
          <a:prstGeom prst="roundRect">
            <a:avLst>
              <a:gd name="adj" fmla="val 26667"/>
            </a:avLst>
          </a:prstGeom>
          <a:solidFill>
            <a:schemeClr val="bg1"/>
          </a:solidFill>
          <a:ln/>
        </p:spPr>
      </p:sp>
      <p:sp>
        <p:nvSpPr>
          <p:cNvPr id="39" name="text-190"/>
          <p:cNvSpPr txBox="1"/>
          <p:nvPr/>
        </p:nvSpPr>
        <p:spPr>
          <a:xfrm>
            <a:off x="6507328" y="530352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BCrypt</a:t>
            </a:r>
            <a:endParaRPr lang="en-US" sz="1400" dirty="0"/>
          </a:p>
        </p:txBody>
      </p:sp>
      <p:sp>
        <p:nvSpPr>
          <p:cNvPr id="40" name="card-191"/>
          <p:cNvSpPr/>
          <p:nvPr/>
        </p:nvSpPr>
        <p:spPr>
          <a:xfrm>
            <a:off x="9075191" y="1783080"/>
            <a:ext cx="2567864" cy="4206240"/>
          </a:xfrm>
          <a:prstGeom prst="roundRect">
            <a:avLst>
              <a:gd name="adj" fmla="val 4273"/>
            </a:avLst>
          </a:prstGeom>
          <a:solidFill>
            <a:schemeClr val="bg2"/>
          </a:solidFill>
          <a:ln/>
        </p:spPr>
      </p:sp>
      <p:sp>
        <p:nvSpPr>
          <p:cNvPr id="41" name="icon-bg-192"/>
          <p:cNvSpPr/>
          <p:nvPr/>
        </p:nvSpPr>
        <p:spPr>
          <a:xfrm>
            <a:off x="9970503" y="2103120"/>
            <a:ext cx="777240" cy="777240"/>
          </a:xfrm>
          <a:prstGeom prst="ellipse">
            <a:avLst/>
          </a:prstGeom>
          <a:solidFill>
            <a:schemeClr val="accent1"/>
          </a:solidFill>
          <a:ln/>
        </p:spPr>
      </p:sp>
      <p:pic>
        <p:nvPicPr>
          <p:cNvPr id="42" name="icon-193" descr="preencoded.png">    </p:cNvPr>
          <p:cNvPicPr>
            <a:picLocks noChangeAspect="1"/>
          </p:cNvPicPr>
          <p:nvPr/>
        </p:nvPicPr>
        <p:blipFill>
          <a:blip r:embed="rId4"/>
          <a:stretch>
            <a:fillRect/>
          </a:stretch>
        </p:blipFill>
        <p:spPr>
          <a:xfrm>
            <a:off x="10172586" y="2305202"/>
            <a:ext cx="373075" cy="373075"/>
          </a:xfrm>
          <a:prstGeom prst="rect">
            <a:avLst/>
          </a:prstGeom>
        </p:spPr>
      </p:pic>
      <p:sp>
        <p:nvSpPr>
          <p:cNvPr id="43" name="text-194"/>
          <p:cNvSpPr txBox="1"/>
          <p:nvPr/>
        </p:nvSpPr>
        <p:spPr>
          <a:xfrm>
            <a:off x="9258071" y="3063240"/>
            <a:ext cx="2202104" cy="411480"/>
          </a:xfrm>
          <a:prstGeom prst="rect">
            <a:avLst/>
          </a:prstGeom>
          <a:noFill/>
          <a:ln/>
        </p:spPr>
        <p:txBody>
          <a:bodyPr wrap="square" lIns="0" tIns="0" rIns="0" bIns="0" rtlCol="0" anchor="t"/>
          <a:lstStyle/>
          <a:p>
            <a:pPr algn="ctr" indent="0" marL="0">
              <a:buNone/>
            </a:pPr>
            <a:r>
              <a:rPr lang="en-US" sz="1900" b="1" dirty="0">
                <a:solidFill>
                  <a:schemeClr val="tx1"/>
                </a:solidFill>
              </a:rPr>
              <a:t>AI &amp; tooling</a:t>
            </a:r>
            <a:endParaRPr lang="en-US" sz="1900" dirty="0"/>
          </a:p>
        </p:txBody>
      </p:sp>
      <p:sp>
        <p:nvSpPr>
          <p:cNvPr id="44" name="card-195"/>
          <p:cNvSpPr/>
          <p:nvPr/>
        </p:nvSpPr>
        <p:spPr>
          <a:xfrm>
            <a:off x="9349511" y="3657600"/>
            <a:ext cx="2019224" cy="411480"/>
          </a:xfrm>
          <a:prstGeom prst="roundRect">
            <a:avLst>
              <a:gd name="adj" fmla="val 26667"/>
            </a:avLst>
          </a:prstGeom>
          <a:solidFill>
            <a:schemeClr val="bg1"/>
          </a:solidFill>
          <a:ln/>
        </p:spPr>
      </p:sp>
      <p:sp>
        <p:nvSpPr>
          <p:cNvPr id="45" name="text-196"/>
          <p:cNvSpPr txBox="1"/>
          <p:nvPr/>
        </p:nvSpPr>
        <p:spPr>
          <a:xfrm>
            <a:off x="9349511" y="365760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Groq API (gpt-oss-120b)</a:t>
            </a:r>
            <a:endParaRPr lang="en-US" sz="1400" dirty="0"/>
          </a:p>
        </p:txBody>
      </p:sp>
      <p:sp>
        <p:nvSpPr>
          <p:cNvPr id="46" name="card-197"/>
          <p:cNvSpPr/>
          <p:nvPr/>
        </p:nvSpPr>
        <p:spPr>
          <a:xfrm>
            <a:off x="9349511" y="4206240"/>
            <a:ext cx="2019224" cy="411480"/>
          </a:xfrm>
          <a:prstGeom prst="roundRect">
            <a:avLst>
              <a:gd name="adj" fmla="val 26667"/>
            </a:avLst>
          </a:prstGeom>
          <a:solidFill>
            <a:schemeClr val="bg1"/>
          </a:solidFill>
          <a:ln/>
        </p:spPr>
      </p:sp>
      <p:sp>
        <p:nvSpPr>
          <p:cNvPr id="47" name="text-198"/>
          <p:cNvSpPr txBox="1"/>
          <p:nvPr/>
        </p:nvSpPr>
        <p:spPr>
          <a:xfrm>
            <a:off x="9349511" y="420624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Maven, Angular CLI</a:t>
            </a:r>
            <a:endParaRPr lang="en-US" sz="1400" dirty="0"/>
          </a:p>
        </p:txBody>
      </p:sp>
      <p:sp>
        <p:nvSpPr>
          <p:cNvPr id="48" name="card-199"/>
          <p:cNvSpPr/>
          <p:nvPr/>
        </p:nvSpPr>
        <p:spPr>
          <a:xfrm>
            <a:off x="9349511" y="4754880"/>
            <a:ext cx="2019224" cy="411480"/>
          </a:xfrm>
          <a:prstGeom prst="roundRect">
            <a:avLst>
              <a:gd name="adj" fmla="val 26667"/>
            </a:avLst>
          </a:prstGeom>
          <a:solidFill>
            <a:schemeClr val="bg1"/>
          </a:solidFill>
          <a:ln/>
        </p:spPr>
      </p:sp>
      <p:sp>
        <p:nvSpPr>
          <p:cNvPr id="49" name="text-200"/>
          <p:cNvSpPr txBox="1"/>
          <p:nvPr/>
        </p:nvSpPr>
        <p:spPr>
          <a:xfrm>
            <a:off x="9349511" y="475488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Git and GitHub</a:t>
            </a:r>
            <a:endParaRPr lang="en-US" sz="1400" dirty="0"/>
          </a:p>
        </p:txBody>
      </p:sp>
      <p:sp>
        <p:nvSpPr>
          <p:cNvPr id="50" name="card-201"/>
          <p:cNvSpPr/>
          <p:nvPr/>
        </p:nvSpPr>
        <p:spPr>
          <a:xfrm>
            <a:off x="9349511" y="5303520"/>
            <a:ext cx="2019224" cy="411480"/>
          </a:xfrm>
          <a:prstGeom prst="roundRect">
            <a:avLst>
              <a:gd name="adj" fmla="val 26667"/>
            </a:avLst>
          </a:prstGeom>
          <a:solidFill>
            <a:schemeClr val="bg1"/>
          </a:solidFill>
          <a:ln/>
        </p:spPr>
      </p:sp>
      <p:sp>
        <p:nvSpPr>
          <p:cNvPr id="51" name="text-202"/>
          <p:cNvSpPr txBox="1"/>
          <p:nvPr/>
        </p:nvSpPr>
        <p:spPr>
          <a:xfrm>
            <a:off x="9349511" y="5303520"/>
            <a:ext cx="2019224" cy="411480"/>
          </a:xfrm>
          <a:prstGeom prst="rect">
            <a:avLst/>
          </a:prstGeom>
          <a:noFill/>
          <a:ln/>
        </p:spPr>
        <p:txBody>
          <a:bodyPr wrap="square" lIns="0" tIns="0" rIns="0" bIns="0" rtlCol="0" anchor="ctr"/>
          <a:lstStyle/>
          <a:p>
            <a:pPr algn="ctr" indent="0" marL="0">
              <a:buNone/>
            </a:pPr>
            <a:r>
              <a:rPr lang="en-US" sz="1400" dirty="0">
                <a:solidFill>
                  <a:schemeClr val="tx1"/>
                </a:solidFill>
              </a:rPr>
              <a:t>Postman, Karma</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Data model</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Six JPA entities; records are soft-deleted so history is never lost</a:t>
            </a:r>
            <a:endParaRPr lang="en-US" sz="1600" dirty="0"/>
          </a:p>
        </p:txBody>
      </p:sp>
      <p:graphicFrame>
        <p:nvGraphicFramePr>
          <p:cNvPr id="15" name="data-model-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94560"/>
                <a:gridCol w="4937760"/>
                <a:gridCol w="3959352"/>
              </a:tblGrid>
              <a:tr h="56692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Entity</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15A22"/>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Key fields</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15A22"/>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Relationships</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15A22"/>
                    </a:solidFill>
                  </a:tcPr>
                </a:tc>
              </a:tr>
              <a:tr h="566928">
                <a:tc>
                  <a:txBody>
                    <a:bodyPr/>
                    <a:lstStyle/>
                    <a:p>
                      <a:pPr indent="0" marL="0">
                        <a:buNone/>
                      </a:pPr>
                      <a:r>
                        <a:rPr lang="en-US" sz="1400" b="1" dirty="0">
                          <a:solidFill>
                            <a:srgbClr val="B3261E"/>
                          </a:solidFill>
                          <a:latin typeface="Arial" pitchFamily="34" charset="0"/>
                          <a:ea typeface="Arial" pitchFamily="34" charset="-122"/>
                          <a:cs typeface="Arial" pitchFamily="34" charset="-120"/>
                        </a:rPr>
                        <a:t>User</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email (unique), username, mobileNumber, password (BCrypt), userRole</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Has many inquiries and feedback</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3261E"/>
                          </a:solidFill>
                          <a:latin typeface="Arial" pitchFamily="34" charset="0"/>
                          <a:ea typeface="Arial" pitchFamily="34" charset="-122"/>
                          <a:cs typeface="Arial" pitchFamily="34" charset="-120"/>
                        </a:rPr>
                        <a:t>Architect</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name, expertise, location, rating, portfolioLink, status</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Has many inquiries and feedback</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r h="566928">
                <a:tc>
                  <a:txBody>
                    <a:bodyPr/>
                    <a:lstStyle/>
                    <a:p>
                      <a:pPr indent="0" marL="0">
                        <a:buNone/>
                      </a:pPr>
                      <a:r>
                        <a:rPr lang="en-US" sz="1400" b="1" dirty="0">
                          <a:solidFill>
                            <a:srgbClr val="B3261E"/>
                          </a:solidFill>
                          <a:latin typeface="Arial" pitchFamily="34" charset="0"/>
                          <a:ea typeface="Arial" pitchFamily="34" charset="-122"/>
                          <a:cs typeface="Arial" pitchFamily="34" charset="-120"/>
                        </a:rPr>
                        <a:t>ArchitectInquiry</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message, status, priority, contactDetails</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Belongs to User and Architect; has SubInquiries</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3261E"/>
                          </a:solidFill>
                          <a:latin typeface="Arial" pitchFamily="34" charset="0"/>
                          <a:ea typeface="Arial" pitchFamily="34" charset="-122"/>
                          <a:cs typeface="Arial" pitchFamily="34" charset="-120"/>
                        </a:rPr>
                        <a:t>SubInquiry</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message, sender, createdAt</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Follow-up thread inside an inquiry</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r h="566928">
                <a:tc>
                  <a:txBody>
                    <a:bodyPr/>
                    <a:lstStyle/>
                    <a:p>
                      <a:pPr indent="0" marL="0">
                        <a:buNone/>
                      </a:pPr>
                      <a:r>
                        <a:rPr lang="en-US" sz="1400" b="1" dirty="0">
                          <a:solidFill>
                            <a:srgbClr val="B3261E"/>
                          </a:solidFill>
                          <a:latin typeface="Arial" pitchFamily="34" charset="0"/>
                          <a:ea typeface="Arial" pitchFamily="34" charset="-122"/>
                          <a:cs typeface="Arial" pitchFamily="34" charset="-120"/>
                        </a:rPr>
                        <a:t>Feedback</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feedbackText, category, rating, date, inquiryId</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Belongs to User and Architect</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B3261E"/>
                          </a:solidFill>
                          <a:latin typeface="Arial" pitchFamily="34" charset="0"/>
                          <a:ea typeface="Arial" pitchFamily="34" charset="-122"/>
                          <a:cs typeface="Arial" pitchFamily="34" charset="-120"/>
                        </a:rPr>
                        <a:t>Otp</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email, codeHash, sentAt, expiresAt, attempts, verified</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One active code per email</a:t>
                      </a:r>
                      <a:endParaRPr lang="en-US" sz="1400" dirty="0">
                        <a:latin typeface="Arial" charset="0"/>
                        <a:ea typeface="Arial" charset="0"/>
                        <a:cs typeface="Arial" charset="0"/>
                      </a:endParaRPr>
                    </a:p>
                  </a:txBody>
                  <a:tcPr marL="137160" marR="137160" marT="0" marB="0"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Project in numbers</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28 REST endpoints across 6 controllers, all secured with JWT</a:t>
            </a:r>
            <a:endParaRPr lang="en-US" sz="1600" dirty="0"/>
          </a:p>
        </p:txBody>
      </p:sp>
      <p:sp>
        <p:nvSpPr>
          <p:cNvPr id="4" name="card-203"/>
          <p:cNvSpPr/>
          <p:nvPr/>
        </p:nvSpPr>
        <p:spPr>
          <a:xfrm>
            <a:off x="548640" y="1783080"/>
            <a:ext cx="2468880" cy="1965960"/>
          </a:xfrm>
          <a:prstGeom prst="roundRect">
            <a:avLst>
              <a:gd name="adj" fmla="val 5581"/>
            </a:avLst>
          </a:prstGeom>
          <a:solidFill>
            <a:schemeClr val="bg2"/>
          </a:solidFill>
          <a:ln/>
        </p:spPr>
      </p:sp>
      <p:sp>
        <p:nvSpPr>
          <p:cNvPr id="5" name="text-204"/>
          <p:cNvSpPr txBox="1"/>
          <p:nvPr/>
        </p:nvSpPr>
        <p:spPr>
          <a:xfrm>
            <a:off x="777240" y="2011680"/>
            <a:ext cx="2011680" cy="1005840"/>
          </a:xfrm>
          <a:prstGeom prst="rect">
            <a:avLst/>
          </a:prstGeom>
          <a:noFill/>
          <a:ln/>
        </p:spPr>
        <p:txBody>
          <a:bodyPr wrap="square" lIns="0" tIns="0" rIns="0" bIns="0" rtlCol="0" anchor="ctr"/>
          <a:lstStyle/>
          <a:p>
            <a:pPr indent="0" marL="0">
              <a:buNone/>
            </a:pPr>
            <a:r>
              <a:rPr lang="en-US" sz="6000" b="1" dirty="0">
                <a:solidFill>
                  <a:schemeClr val="accent1"/>
                </a:solidFill>
              </a:rPr>
              <a:t>30</a:t>
            </a:r>
            <a:endParaRPr lang="en-US" sz="6000" dirty="0"/>
          </a:p>
        </p:txBody>
      </p:sp>
      <p:sp>
        <p:nvSpPr>
          <p:cNvPr id="6" name="text-205"/>
          <p:cNvSpPr txBox="1"/>
          <p:nvPr/>
        </p:nvSpPr>
        <p:spPr>
          <a:xfrm>
            <a:off x="777240" y="3063240"/>
            <a:ext cx="2011680" cy="457200"/>
          </a:xfrm>
          <a:prstGeom prst="rect">
            <a:avLst/>
          </a:prstGeom>
          <a:noFill/>
          <a:ln/>
        </p:spPr>
        <p:txBody>
          <a:bodyPr wrap="square" lIns="0" tIns="0" rIns="0" bIns="0" rtlCol="0" anchor="t"/>
          <a:lstStyle/>
          <a:p>
            <a:pPr indent="0" marL="0">
              <a:buNone/>
            </a:pPr>
            <a:r>
              <a:rPr lang="en-US" sz="1500" dirty="0">
                <a:solidFill>
                  <a:schemeClr val="accent6"/>
                </a:solidFill>
              </a:rPr>
              <a:t>Angular components</a:t>
            </a:r>
            <a:endParaRPr lang="en-US" sz="1500" dirty="0"/>
          </a:p>
        </p:txBody>
      </p:sp>
      <p:sp>
        <p:nvSpPr>
          <p:cNvPr id="7" name="card-206"/>
          <p:cNvSpPr/>
          <p:nvPr/>
        </p:nvSpPr>
        <p:spPr>
          <a:xfrm>
            <a:off x="3200400" y="1783080"/>
            <a:ext cx="2468880" cy="1965960"/>
          </a:xfrm>
          <a:prstGeom prst="roundRect">
            <a:avLst>
              <a:gd name="adj" fmla="val 5581"/>
            </a:avLst>
          </a:prstGeom>
          <a:solidFill>
            <a:schemeClr val="bg2"/>
          </a:solidFill>
          <a:ln/>
        </p:spPr>
      </p:sp>
      <p:sp>
        <p:nvSpPr>
          <p:cNvPr id="8" name="text-207"/>
          <p:cNvSpPr txBox="1"/>
          <p:nvPr/>
        </p:nvSpPr>
        <p:spPr>
          <a:xfrm>
            <a:off x="3429000" y="2011680"/>
            <a:ext cx="2011680" cy="1005840"/>
          </a:xfrm>
          <a:prstGeom prst="rect">
            <a:avLst/>
          </a:prstGeom>
          <a:noFill/>
          <a:ln/>
        </p:spPr>
        <p:txBody>
          <a:bodyPr wrap="square" lIns="0" tIns="0" rIns="0" bIns="0" rtlCol="0" anchor="ctr"/>
          <a:lstStyle/>
          <a:p>
            <a:pPr indent="0" marL="0">
              <a:buNone/>
            </a:pPr>
            <a:r>
              <a:rPr lang="en-US" sz="6000" b="1" dirty="0">
                <a:solidFill>
                  <a:schemeClr val="accent1"/>
                </a:solidFill>
              </a:rPr>
              <a:t>28</a:t>
            </a:r>
            <a:endParaRPr lang="en-US" sz="6000" dirty="0"/>
          </a:p>
        </p:txBody>
      </p:sp>
      <p:sp>
        <p:nvSpPr>
          <p:cNvPr id="9" name="text-208"/>
          <p:cNvSpPr txBox="1"/>
          <p:nvPr/>
        </p:nvSpPr>
        <p:spPr>
          <a:xfrm>
            <a:off x="3429000" y="3063240"/>
            <a:ext cx="2011680" cy="457200"/>
          </a:xfrm>
          <a:prstGeom prst="rect">
            <a:avLst/>
          </a:prstGeom>
          <a:noFill/>
          <a:ln/>
        </p:spPr>
        <p:txBody>
          <a:bodyPr wrap="square" lIns="0" tIns="0" rIns="0" bIns="0" rtlCol="0" anchor="t"/>
          <a:lstStyle/>
          <a:p>
            <a:pPr indent="0" marL="0">
              <a:buNone/>
            </a:pPr>
            <a:r>
              <a:rPr lang="en-US" sz="1500" dirty="0">
                <a:solidFill>
                  <a:schemeClr val="accent6"/>
                </a:solidFill>
              </a:rPr>
              <a:t>REST endpoints</a:t>
            </a:r>
            <a:endParaRPr lang="en-US" sz="1500" dirty="0"/>
          </a:p>
        </p:txBody>
      </p:sp>
      <p:sp>
        <p:nvSpPr>
          <p:cNvPr id="10" name="card-209"/>
          <p:cNvSpPr/>
          <p:nvPr/>
        </p:nvSpPr>
        <p:spPr>
          <a:xfrm>
            <a:off x="548640" y="3931920"/>
            <a:ext cx="2468880" cy="1965960"/>
          </a:xfrm>
          <a:prstGeom prst="roundRect">
            <a:avLst>
              <a:gd name="adj" fmla="val 5581"/>
            </a:avLst>
          </a:prstGeom>
          <a:solidFill>
            <a:schemeClr val="bg2"/>
          </a:solidFill>
          <a:ln/>
        </p:spPr>
      </p:sp>
      <p:sp>
        <p:nvSpPr>
          <p:cNvPr id="11" name="text-210"/>
          <p:cNvSpPr txBox="1"/>
          <p:nvPr/>
        </p:nvSpPr>
        <p:spPr>
          <a:xfrm>
            <a:off x="777240" y="4160520"/>
            <a:ext cx="2011680" cy="1005840"/>
          </a:xfrm>
          <a:prstGeom prst="rect">
            <a:avLst/>
          </a:prstGeom>
          <a:noFill/>
          <a:ln/>
        </p:spPr>
        <p:txBody>
          <a:bodyPr wrap="square" lIns="0" tIns="0" rIns="0" bIns="0" rtlCol="0" anchor="ctr"/>
          <a:lstStyle/>
          <a:p>
            <a:pPr indent="0" marL="0">
              <a:buNone/>
            </a:pPr>
            <a:r>
              <a:rPr lang="en-US" sz="6000" b="1" dirty="0">
                <a:solidFill>
                  <a:schemeClr val="accent1"/>
                </a:solidFill>
              </a:rPr>
              <a:t>6</a:t>
            </a:r>
            <a:endParaRPr lang="en-US" sz="6000" dirty="0"/>
          </a:p>
        </p:txBody>
      </p:sp>
      <p:sp>
        <p:nvSpPr>
          <p:cNvPr id="12" name="text-211"/>
          <p:cNvSpPr txBox="1"/>
          <p:nvPr/>
        </p:nvSpPr>
        <p:spPr>
          <a:xfrm>
            <a:off x="777240" y="5212080"/>
            <a:ext cx="2011680" cy="457200"/>
          </a:xfrm>
          <a:prstGeom prst="rect">
            <a:avLst/>
          </a:prstGeom>
          <a:noFill/>
          <a:ln/>
        </p:spPr>
        <p:txBody>
          <a:bodyPr wrap="square" lIns="0" tIns="0" rIns="0" bIns="0" rtlCol="0" anchor="t"/>
          <a:lstStyle/>
          <a:p>
            <a:pPr indent="0" marL="0">
              <a:buNone/>
            </a:pPr>
            <a:r>
              <a:rPr lang="en-US" sz="1500" dirty="0">
                <a:solidFill>
                  <a:schemeClr val="accent6"/>
                </a:solidFill>
              </a:rPr>
              <a:t>JPA entities</a:t>
            </a:r>
            <a:endParaRPr lang="en-US" sz="1500" dirty="0"/>
          </a:p>
        </p:txBody>
      </p:sp>
      <p:sp>
        <p:nvSpPr>
          <p:cNvPr id="13" name="card-212"/>
          <p:cNvSpPr/>
          <p:nvPr/>
        </p:nvSpPr>
        <p:spPr>
          <a:xfrm>
            <a:off x="3200400" y="3931920"/>
            <a:ext cx="2468880" cy="1965960"/>
          </a:xfrm>
          <a:prstGeom prst="roundRect">
            <a:avLst>
              <a:gd name="adj" fmla="val 5581"/>
            </a:avLst>
          </a:prstGeom>
          <a:solidFill>
            <a:schemeClr val="bg2"/>
          </a:solidFill>
          <a:ln/>
        </p:spPr>
      </p:sp>
      <p:sp>
        <p:nvSpPr>
          <p:cNvPr id="14" name="text-213"/>
          <p:cNvSpPr txBox="1"/>
          <p:nvPr/>
        </p:nvSpPr>
        <p:spPr>
          <a:xfrm>
            <a:off x="3429000" y="4160520"/>
            <a:ext cx="2011680" cy="1005840"/>
          </a:xfrm>
          <a:prstGeom prst="rect">
            <a:avLst/>
          </a:prstGeom>
          <a:noFill/>
          <a:ln/>
        </p:spPr>
        <p:txBody>
          <a:bodyPr wrap="square" lIns="0" tIns="0" rIns="0" bIns="0" rtlCol="0" anchor="ctr"/>
          <a:lstStyle/>
          <a:p>
            <a:pPr indent="0" marL="0">
              <a:buNone/>
            </a:pPr>
            <a:r>
              <a:rPr lang="en-US" sz="6000" b="1" dirty="0">
                <a:solidFill>
                  <a:schemeClr val="accent1"/>
                </a:solidFill>
              </a:rPr>
              <a:t>2</a:t>
            </a:r>
            <a:endParaRPr lang="en-US" sz="6000" dirty="0"/>
          </a:p>
        </p:txBody>
      </p:sp>
      <p:sp>
        <p:nvSpPr>
          <p:cNvPr id="15" name="text-214"/>
          <p:cNvSpPr txBox="1"/>
          <p:nvPr/>
        </p:nvSpPr>
        <p:spPr>
          <a:xfrm>
            <a:off x="3429000" y="5212080"/>
            <a:ext cx="2011680" cy="457200"/>
          </a:xfrm>
          <a:prstGeom prst="rect">
            <a:avLst/>
          </a:prstGeom>
          <a:noFill/>
          <a:ln/>
        </p:spPr>
        <p:txBody>
          <a:bodyPr wrap="square" lIns="0" tIns="0" rIns="0" bIns="0" rtlCol="0" anchor="t"/>
          <a:lstStyle/>
          <a:p>
            <a:pPr indent="0" marL="0">
              <a:buNone/>
            </a:pPr>
            <a:r>
              <a:rPr lang="en-US" sz="1500" dirty="0">
                <a:solidFill>
                  <a:schemeClr val="accent6"/>
                </a:solidFill>
              </a:rPr>
              <a:t>User roles</a:t>
            </a:r>
            <a:endParaRPr lang="en-US" sz="1500" dirty="0"/>
          </a:p>
        </p:txBody>
      </p:sp>
      <p:sp>
        <p:nvSpPr>
          <p:cNvPr id="16" name="card-215"/>
          <p:cNvSpPr/>
          <p:nvPr/>
        </p:nvSpPr>
        <p:spPr>
          <a:xfrm>
            <a:off x="6035040" y="1783080"/>
            <a:ext cx="5608015" cy="4114800"/>
          </a:xfrm>
          <a:prstGeom prst="roundRect">
            <a:avLst>
              <a:gd name="adj" fmla="val 2667"/>
            </a:avLst>
          </a:prstGeom>
          <a:solidFill>
            <a:schemeClr val="bg2"/>
          </a:solidFill>
          <a:ln/>
        </p:spPr>
      </p:sp>
      <p:graphicFrame>
        <p:nvGraphicFramePr>
          <p:cNvPr id="17" name="endpoints-chart" descr=""/>
          <p:cNvGraphicFramePr/>
          <p:nvPr/>
        </p:nvGraphicFramePr>
        <p:xfrm>
          <a:off x="6217920" y="1874520"/>
          <a:ext cx="5242255" cy="39319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Security built in, not bolted on</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Five layers protect every account, every request and every secret</a:t>
            </a:r>
            <a:endParaRPr lang="en-US" sz="1600" dirty="0"/>
          </a:p>
        </p:txBody>
      </p:sp>
      <p:sp>
        <p:nvSpPr>
          <p:cNvPr id="4" name="card-216"/>
          <p:cNvSpPr/>
          <p:nvPr/>
        </p:nvSpPr>
        <p:spPr>
          <a:xfrm>
            <a:off x="548640" y="1737360"/>
            <a:ext cx="5410048" cy="1280160"/>
          </a:xfrm>
          <a:prstGeom prst="roundRect">
            <a:avLst>
              <a:gd name="adj" fmla="val 8571"/>
            </a:avLst>
          </a:prstGeom>
          <a:solidFill>
            <a:schemeClr val="bg2"/>
          </a:solidFill>
          <a:ln/>
        </p:spPr>
      </p:sp>
      <p:sp>
        <p:nvSpPr>
          <p:cNvPr id="5" name="icon-bg-217"/>
          <p:cNvSpPr/>
          <p:nvPr/>
        </p:nvSpPr>
        <p:spPr>
          <a:xfrm>
            <a:off x="822960" y="2084832"/>
            <a:ext cx="594360" cy="594360"/>
          </a:xfrm>
          <a:prstGeom prst="ellipse">
            <a:avLst/>
          </a:prstGeom>
          <a:solidFill>
            <a:schemeClr val="accent1"/>
          </a:solidFill>
          <a:ln/>
        </p:spPr>
      </p:sp>
      <p:pic>
        <p:nvPicPr>
          <p:cNvPr id="6" name="icon-218" descr="preencoded.png">    </p:cNvPr>
          <p:cNvPicPr>
            <a:picLocks noChangeAspect="1"/>
          </p:cNvPicPr>
          <p:nvPr/>
        </p:nvPicPr>
        <p:blipFill>
          <a:blip r:embed="rId1"/>
          <a:stretch>
            <a:fillRect/>
          </a:stretch>
        </p:blipFill>
        <p:spPr>
          <a:xfrm>
            <a:off x="977494" y="2239366"/>
            <a:ext cx="285293" cy="285293"/>
          </a:xfrm>
          <a:prstGeom prst="rect">
            <a:avLst/>
          </a:prstGeom>
        </p:spPr>
      </p:pic>
      <p:sp>
        <p:nvSpPr>
          <p:cNvPr id="7" name="text-219"/>
          <p:cNvSpPr txBox="1"/>
          <p:nvPr/>
        </p:nvSpPr>
        <p:spPr>
          <a:xfrm>
            <a:off x="1645920" y="1920240"/>
            <a:ext cx="4038448" cy="365760"/>
          </a:xfrm>
          <a:prstGeom prst="rect">
            <a:avLst/>
          </a:prstGeom>
          <a:noFill/>
          <a:ln/>
        </p:spPr>
        <p:txBody>
          <a:bodyPr wrap="square" lIns="0" tIns="0" rIns="0" bIns="0" rtlCol="0" anchor="t"/>
          <a:lstStyle/>
          <a:p>
            <a:pPr indent="0" marL="0">
              <a:buNone/>
            </a:pPr>
            <a:r>
              <a:rPr lang="en-US" sz="1700" b="1" dirty="0">
                <a:solidFill>
                  <a:schemeClr val="tx1"/>
                </a:solidFill>
              </a:rPr>
              <a:t>Stateless JWT</a:t>
            </a:r>
            <a:endParaRPr lang="en-US" sz="1700" dirty="0"/>
          </a:p>
        </p:txBody>
      </p:sp>
      <p:sp>
        <p:nvSpPr>
          <p:cNvPr id="8" name="text-220"/>
          <p:cNvSpPr txBox="1"/>
          <p:nvPr/>
        </p:nvSpPr>
        <p:spPr>
          <a:xfrm>
            <a:off x="1645920" y="2304288"/>
            <a:ext cx="4038448" cy="640080"/>
          </a:xfrm>
          <a:prstGeom prst="rect">
            <a:avLst/>
          </a:prstGeom>
          <a:noFill/>
          <a:ln/>
        </p:spPr>
        <p:txBody>
          <a:bodyPr wrap="square" lIns="0" tIns="0" rIns="0" bIns="0" rtlCol="0" anchor="t"/>
          <a:lstStyle/>
          <a:p>
            <a:pPr indent="0" marL="0">
              <a:buNone/>
            </a:pPr>
            <a:r>
              <a:rPr lang="en-US" sz="1400" dirty="0">
                <a:solidFill>
                  <a:schemeClr val="accent6"/>
                </a:solidFill>
              </a:rPr>
              <a:t>Signed token issued at login and sent on every call by an Angular interceptor. No server sessions.</a:t>
            </a:r>
            <a:endParaRPr lang="en-US" sz="1400" dirty="0"/>
          </a:p>
        </p:txBody>
      </p:sp>
      <p:sp>
        <p:nvSpPr>
          <p:cNvPr id="9" name="card-221"/>
          <p:cNvSpPr/>
          <p:nvPr/>
        </p:nvSpPr>
        <p:spPr>
          <a:xfrm>
            <a:off x="6233008" y="1737360"/>
            <a:ext cx="5410048" cy="1280160"/>
          </a:xfrm>
          <a:prstGeom prst="roundRect">
            <a:avLst>
              <a:gd name="adj" fmla="val 8571"/>
            </a:avLst>
          </a:prstGeom>
          <a:solidFill>
            <a:schemeClr val="bg2"/>
          </a:solidFill>
          <a:ln/>
        </p:spPr>
      </p:sp>
      <p:sp>
        <p:nvSpPr>
          <p:cNvPr id="10" name="icon-bg-222"/>
          <p:cNvSpPr/>
          <p:nvPr/>
        </p:nvSpPr>
        <p:spPr>
          <a:xfrm>
            <a:off x="6507328" y="2084832"/>
            <a:ext cx="594360" cy="594360"/>
          </a:xfrm>
          <a:prstGeom prst="ellipse">
            <a:avLst/>
          </a:prstGeom>
          <a:solidFill>
            <a:schemeClr val="accent1"/>
          </a:solidFill>
          <a:ln/>
        </p:spPr>
      </p:sp>
      <p:pic>
        <p:nvPicPr>
          <p:cNvPr id="11" name="icon-223" descr="preencoded.png">    </p:cNvPr>
          <p:cNvPicPr>
            <a:picLocks noChangeAspect="1"/>
          </p:cNvPicPr>
          <p:nvPr/>
        </p:nvPicPr>
        <p:blipFill>
          <a:blip r:embed="rId2"/>
          <a:stretch>
            <a:fillRect/>
          </a:stretch>
        </p:blipFill>
        <p:spPr>
          <a:xfrm>
            <a:off x="6661861" y="2239366"/>
            <a:ext cx="285293" cy="285293"/>
          </a:xfrm>
          <a:prstGeom prst="rect">
            <a:avLst/>
          </a:prstGeom>
        </p:spPr>
      </p:pic>
      <p:sp>
        <p:nvSpPr>
          <p:cNvPr id="12" name="text-224"/>
          <p:cNvSpPr txBox="1"/>
          <p:nvPr/>
        </p:nvSpPr>
        <p:spPr>
          <a:xfrm>
            <a:off x="7330288" y="1920240"/>
            <a:ext cx="4038448" cy="365760"/>
          </a:xfrm>
          <a:prstGeom prst="rect">
            <a:avLst/>
          </a:prstGeom>
          <a:noFill/>
          <a:ln/>
        </p:spPr>
        <p:txBody>
          <a:bodyPr wrap="square" lIns="0" tIns="0" rIns="0" bIns="0" rtlCol="0" anchor="t"/>
          <a:lstStyle/>
          <a:p>
            <a:pPr indent="0" marL="0">
              <a:buNone/>
            </a:pPr>
            <a:r>
              <a:rPr lang="en-US" sz="1700" b="1" dirty="0">
                <a:solidFill>
                  <a:schemeClr val="tx1"/>
                </a:solidFill>
              </a:rPr>
              <a:t>BCrypt passwords</a:t>
            </a:r>
            <a:endParaRPr lang="en-US" sz="1700" dirty="0"/>
          </a:p>
        </p:txBody>
      </p:sp>
      <p:sp>
        <p:nvSpPr>
          <p:cNvPr id="13" name="text-225"/>
          <p:cNvSpPr txBox="1"/>
          <p:nvPr/>
        </p:nvSpPr>
        <p:spPr>
          <a:xfrm>
            <a:off x="7330288" y="2304288"/>
            <a:ext cx="4038448" cy="640080"/>
          </a:xfrm>
          <a:prstGeom prst="rect">
            <a:avLst/>
          </a:prstGeom>
          <a:noFill/>
          <a:ln/>
        </p:spPr>
        <p:txBody>
          <a:bodyPr wrap="square" lIns="0" tIns="0" rIns="0" bIns="0" rtlCol="0" anchor="t"/>
          <a:lstStyle/>
          <a:p>
            <a:pPr indent="0" marL="0">
              <a:buNone/>
            </a:pPr>
            <a:r>
              <a:rPr lang="en-US" sz="1400" dirty="0">
                <a:solidFill>
                  <a:schemeClr val="accent6"/>
                </a:solidFill>
              </a:rPr>
              <a:t>Passwords are hashed with BCrypt before storage. Change-password checks the old one first.</a:t>
            </a:r>
            <a:endParaRPr lang="en-US" sz="1400" dirty="0"/>
          </a:p>
        </p:txBody>
      </p:sp>
      <p:sp>
        <p:nvSpPr>
          <p:cNvPr id="14" name="card-226"/>
          <p:cNvSpPr/>
          <p:nvPr/>
        </p:nvSpPr>
        <p:spPr>
          <a:xfrm>
            <a:off x="548640" y="3200400"/>
            <a:ext cx="5410048" cy="1280160"/>
          </a:xfrm>
          <a:prstGeom prst="roundRect">
            <a:avLst>
              <a:gd name="adj" fmla="val 8571"/>
            </a:avLst>
          </a:prstGeom>
          <a:solidFill>
            <a:schemeClr val="bg2"/>
          </a:solidFill>
          <a:ln/>
        </p:spPr>
      </p:sp>
      <p:sp>
        <p:nvSpPr>
          <p:cNvPr id="15" name="icon-bg-227"/>
          <p:cNvSpPr/>
          <p:nvPr/>
        </p:nvSpPr>
        <p:spPr>
          <a:xfrm>
            <a:off x="822960" y="3547872"/>
            <a:ext cx="594360" cy="594360"/>
          </a:xfrm>
          <a:prstGeom prst="ellipse">
            <a:avLst/>
          </a:prstGeom>
          <a:solidFill>
            <a:schemeClr val="accent1"/>
          </a:solidFill>
          <a:ln/>
        </p:spPr>
      </p:sp>
      <p:pic>
        <p:nvPicPr>
          <p:cNvPr id="16" name="icon-228" descr="preencoded.png">    </p:cNvPr>
          <p:cNvPicPr>
            <a:picLocks noChangeAspect="1"/>
          </p:cNvPicPr>
          <p:nvPr/>
        </p:nvPicPr>
        <p:blipFill>
          <a:blip r:embed="rId3"/>
          <a:stretch>
            <a:fillRect/>
          </a:stretch>
        </p:blipFill>
        <p:spPr>
          <a:xfrm>
            <a:off x="977494" y="3702406"/>
            <a:ext cx="285293" cy="285293"/>
          </a:xfrm>
          <a:prstGeom prst="rect">
            <a:avLst/>
          </a:prstGeom>
        </p:spPr>
      </p:pic>
      <p:sp>
        <p:nvSpPr>
          <p:cNvPr id="17" name="text-229"/>
          <p:cNvSpPr txBox="1"/>
          <p:nvPr/>
        </p:nvSpPr>
        <p:spPr>
          <a:xfrm>
            <a:off x="1645920" y="3383280"/>
            <a:ext cx="4038448" cy="365760"/>
          </a:xfrm>
          <a:prstGeom prst="rect">
            <a:avLst/>
          </a:prstGeom>
          <a:noFill/>
          <a:ln/>
        </p:spPr>
        <p:txBody>
          <a:bodyPr wrap="square" lIns="0" tIns="0" rIns="0" bIns="0" rtlCol="0" anchor="t"/>
          <a:lstStyle/>
          <a:p>
            <a:pPr indent="0" marL="0">
              <a:buNone/>
            </a:pPr>
            <a:r>
              <a:rPr lang="en-US" sz="1700" b="1" dirty="0">
                <a:solidFill>
                  <a:schemeClr val="tx1"/>
                </a:solidFill>
              </a:rPr>
              <a:t>Role-based access</a:t>
            </a:r>
            <a:endParaRPr lang="en-US" sz="1700" dirty="0"/>
          </a:p>
        </p:txBody>
      </p:sp>
      <p:sp>
        <p:nvSpPr>
          <p:cNvPr id="18" name="text-230"/>
          <p:cNvSpPr txBox="1"/>
          <p:nvPr/>
        </p:nvSpPr>
        <p:spPr>
          <a:xfrm>
            <a:off x="1645920" y="3767328"/>
            <a:ext cx="4038448" cy="640080"/>
          </a:xfrm>
          <a:prstGeom prst="rect">
            <a:avLst/>
          </a:prstGeom>
          <a:noFill/>
          <a:ln/>
        </p:spPr>
        <p:txBody>
          <a:bodyPr wrap="square" lIns="0" tIns="0" rIns="0" bIns="0" rtlCol="0" anchor="t"/>
          <a:lstStyle/>
          <a:p>
            <a:pPr indent="0" marL="0">
              <a:buNone/>
            </a:pPr>
            <a:r>
              <a:rPr lang="en-US" sz="1400" dirty="0">
                <a:solidFill>
                  <a:schemeClr val="accent6"/>
                </a:solidFill>
              </a:rPr>
              <a:t>Admin and User rules in Spring Security, mirrored by Angular route guards and role-aware menus.</a:t>
            </a:r>
            <a:endParaRPr lang="en-US" sz="1400" dirty="0"/>
          </a:p>
        </p:txBody>
      </p:sp>
      <p:sp>
        <p:nvSpPr>
          <p:cNvPr id="19" name="card-231"/>
          <p:cNvSpPr/>
          <p:nvPr/>
        </p:nvSpPr>
        <p:spPr>
          <a:xfrm>
            <a:off x="6233008" y="3200400"/>
            <a:ext cx="5410048" cy="1280160"/>
          </a:xfrm>
          <a:prstGeom prst="roundRect">
            <a:avLst>
              <a:gd name="adj" fmla="val 8571"/>
            </a:avLst>
          </a:prstGeom>
          <a:solidFill>
            <a:schemeClr val="bg2"/>
          </a:solidFill>
          <a:ln/>
        </p:spPr>
      </p:sp>
      <p:sp>
        <p:nvSpPr>
          <p:cNvPr id="20" name="icon-bg-232"/>
          <p:cNvSpPr/>
          <p:nvPr/>
        </p:nvSpPr>
        <p:spPr>
          <a:xfrm>
            <a:off x="6507328" y="3547872"/>
            <a:ext cx="594360" cy="594360"/>
          </a:xfrm>
          <a:prstGeom prst="ellipse">
            <a:avLst/>
          </a:prstGeom>
          <a:solidFill>
            <a:schemeClr val="accent1"/>
          </a:solidFill>
          <a:ln/>
        </p:spPr>
      </p:sp>
      <p:pic>
        <p:nvPicPr>
          <p:cNvPr id="21" name="icon-233" descr="preencoded.png">    </p:cNvPr>
          <p:cNvPicPr>
            <a:picLocks noChangeAspect="1"/>
          </p:cNvPicPr>
          <p:nvPr/>
        </p:nvPicPr>
        <p:blipFill>
          <a:blip r:embed="rId4"/>
          <a:stretch>
            <a:fillRect/>
          </a:stretch>
        </p:blipFill>
        <p:spPr>
          <a:xfrm>
            <a:off x="6661861" y="3702406"/>
            <a:ext cx="285293" cy="285293"/>
          </a:xfrm>
          <a:prstGeom prst="rect">
            <a:avLst/>
          </a:prstGeom>
        </p:spPr>
      </p:pic>
      <p:sp>
        <p:nvSpPr>
          <p:cNvPr id="22" name="text-234"/>
          <p:cNvSpPr txBox="1"/>
          <p:nvPr/>
        </p:nvSpPr>
        <p:spPr>
          <a:xfrm>
            <a:off x="7330288" y="3383280"/>
            <a:ext cx="4038448" cy="365760"/>
          </a:xfrm>
          <a:prstGeom prst="rect">
            <a:avLst/>
          </a:prstGeom>
          <a:noFill/>
          <a:ln/>
        </p:spPr>
        <p:txBody>
          <a:bodyPr wrap="square" lIns="0" tIns="0" rIns="0" bIns="0" rtlCol="0" anchor="t"/>
          <a:lstStyle/>
          <a:p>
            <a:pPr indent="0" marL="0">
              <a:buNone/>
            </a:pPr>
            <a:r>
              <a:rPr lang="en-US" sz="1700" b="1" dirty="0">
                <a:solidFill>
                  <a:schemeClr val="tx1"/>
                </a:solidFill>
              </a:rPr>
              <a:t>Email OTP sign-up</a:t>
            </a:r>
            <a:endParaRPr lang="en-US" sz="1700" dirty="0"/>
          </a:p>
        </p:txBody>
      </p:sp>
      <p:sp>
        <p:nvSpPr>
          <p:cNvPr id="23" name="text-235"/>
          <p:cNvSpPr txBox="1"/>
          <p:nvPr/>
        </p:nvSpPr>
        <p:spPr>
          <a:xfrm>
            <a:off x="7330288" y="3767328"/>
            <a:ext cx="4038448" cy="640080"/>
          </a:xfrm>
          <a:prstGeom prst="rect">
            <a:avLst/>
          </a:prstGeom>
          <a:noFill/>
          <a:ln/>
        </p:spPr>
        <p:txBody>
          <a:bodyPr wrap="square" lIns="0" tIns="0" rIns="0" bIns="0" rtlCol="0" anchor="t"/>
          <a:lstStyle/>
          <a:p>
            <a:pPr indent="0" marL="0">
              <a:buNone/>
            </a:pPr>
            <a:r>
              <a:rPr lang="en-US" sz="1400" dirty="0">
                <a:solidFill>
                  <a:schemeClr val="accent6"/>
                </a:solidFill>
              </a:rPr>
              <a:t>6-digit code stored as a hash, valid 5 minutes, 60-second resend cooldown, max 5 wrong tries.</a:t>
            </a:r>
            <a:endParaRPr lang="en-US" sz="1400" dirty="0"/>
          </a:p>
        </p:txBody>
      </p:sp>
      <p:sp>
        <p:nvSpPr>
          <p:cNvPr id="24" name="card-236"/>
          <p:cNvSpPr/>
          <p:nvPr/>
        </p:nvSpPr>
        <p:spPr>
          <a:xfrm>
            <a:off x="548640" y="4663440"/>
            <a:ext cx="11094415" cy="1280160"/>
          </a:xfrm>
          <a:prstGeom prst="roundRect">
            <a:avLst>
              <a:gd name="adj" fmla="val 8571"/>
            </a:avLst>
          </a:prstGeom>
          <a:solidFill>
            <a:srgbClr val="FDEEE7"/>
          </a:solidFill>
          <a:ln/>
        </p:spPr>
      </p:sp>
      <p:sp>
        <p:nvSpPr>
          <p:cNvPr id="25" name="icon-bg-237"/>
          <p:cNvSpPr/>
          <p:nvPr/>
        </p:nvSpPr>
        <p:spPr>
          <a:xfrm>
            <a:off x="822960" y="5010912"/>
            <a:ext cx="594360" cy="594360"/>
          </a:xfrm>
          <a:prstGeom prst="ellipse">
            <a:avLst/>
          </a:prstGeom>
          <a:solidFill>
            <a:schemeClr val="accent1"/>
          </a:solidFill>
          <a:ln/>
        </p:spPr>
      </p:sp>
      <p:pic>
        <p:nvPicPr>
          <p:cNvPr id="26" name="icon-238" descr="preencoded.png">    </p:cNvPr>
          <p:cNvPicPr>
            <a:picLocks noChangeAspect="1"/>
          </p:cNvPicPr>
          <p:nvPr/>
        </p:nvPicPr>
        <p:blipFill>
          <a:blip r:embed="rId5"/>
          <a:stretch>
            <a:fillRect/>
          </a:stretch>
        </p:blipFill>
        <p:spPr>
          <a:xfrm>
            <a:off x="977494" y="5165446"/>
            <a:ext cx="285293" cy="285293"/>
          </a:xfrm>
          <a:prstGeom prst="rect">
            <a:avLst/>
          </a:prstGeom>
        </p:spPr>
      </p:pic>
      <p:sp>
        <p:nvSpPr>
          <p:cNvPr id="27" name="text-239"/>
          <p:cNvSpPr txBox="1"/>
          <p:nvPr/>
        </p:nvSpPr>
        <p:spPr>
          <a:xfrm>
            <a:off x="1645920" y="4846320"/>
            <a:ext cx="9722815" cy="365760"/>
          </a:xfrm>
          <a:prstGeom prst="rect">
            <a:avLst/>
          </a:prstGeom>
          <a:noFill/>
          <a:ln/>
        </p:spPr>
        <p:txBody>
          <a:bodyPr wrap="square" lIns="0" tIns="0" rIns="0" bIns="0" rtlCol="0" anchor="t"/>
          <a:lstStyle/>
          <a:p>
            <a:pPr indent="0" marL="0">
              <a:buNone/>
            </a:pPr>
            <a:r>
              <a:rPr lang="en-US" sz="1700" b="1" dirty="0">
                <a:solidFill>
                  <a:schemeClr val="tx1"/>
                </a:solidFill>
              </a:rPr>
              <a:t>Safe AI</a:t>
            </a:r>
            <a:endParaRPr lang="en-US" sz="1700" dirty="0"/>
          </a:p>
        </p:txBody>
      </p:sp>
      <p:sp>
        <p:nvSpPr>
          <p:cNvPr id="28" name="text-240"/>
          <p:cNvSpPr txBox="1"/>
          <p:nvPr/>
        </p:nvSpPr>
        <p:spPr>
          <a:xfrm>
            <a:off x="1645920" y="5230368"/>
            <a:ext cx="9722815" cy="640080"/>
          </a:xfrm>
          <a:prstGeom prst="rect">
            <a:avLst/>
          </a:prstGeom>
          <a:noFill/>
          <a:ln/>
        </p:spPr>
        <p:txBody>
          <a:bodyPr wrap="square" lIns="0" tIns="0" rIns="0" bIns="0" rtlCol="0" anchor="t"/>
          <a:lstStyle/>
          <a:p>
            <a:pPr indent="0" marL="0">
              <a:buNone/>
            </a:pPr>
            <a:r>
              <a:rPr lang="en-US" sz="1400" dirty="0">
                <a:solidFill>
                  <a:schemeClr val="accent6"/>
                </a:solidFill>
              </a:rPr>
              <a:t>Archie only sees data the role may see. AI drafts are re-checked on the server; the API key stays out of git.</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868680"/>
            <a:ext cx="2743200" cy="1097280"/>
          </a:xfrm>
          <a:prstGeom prst="rect">
            <a:avLst/>
          </a:prstGeom>
          <a:noFill/>
          <a:ln/>
        </p:spPr>
        <p:txBody>
          <a:bodyPr wrap="square" lIns="0" tIns="0" rIns="0" bIns="0" rtlCol="0" anchor="b"/>
          <a:lstStyle/>
          <a:p>
            <a:pPr indent="0" marL="0">
              <a:buNone/>
            </a:pPr>
            <a:r>
              <a:rPr lang="en-US" sz="6000" b="1" dirty="0">
                <a:solidFill>
                  <a:schemeClr val="accent1"/>
                </a:solidFill>
              </a:rPr>
              <a:t>04</a:t>
            </a:r>
            <a:endParaRPr lang="en-US" sz="6000" dirty="0"/>
          </a:p>
        </p:txBody>
      </p:sp>
      <p:sp>
        <p:nvSpPr>
          <p:cNvPr id="3" name="Text 1"/>
          <p:cNvSpPr/>
          <p:nvPr>
            <p:ph idx="102" type="title" hasCustomPrompt="1"/>
          </p:nvPr>
        </p:nvSpPr>
        <p:spPr>
          <a:xfrm>
            <a:off x="548640" y="2011680"/>
            <a:ext cx="7315200" cy="914400"/>
          </a:xfrm>
          <a:prstGeom prst="rect">
            <a:avLst/>
          </a:prstGeom>
          <a:noFill/>
          <a:ln/>
        </p:spPr>
        <p:txBody>
          <a:bodyPr wrap="square" lIns="0" tIns="0" rIns="0" bIns="0" rtlCol="0" anchor="t"/>
          <a:lstStyle/>
          <a:p>
            <a:pPr indent="0" marL="0">
              <a:buNone/>
            </a:pPr>
            <a:r>
              <a:rPr lang="en-US" sz="4400" b="1" dirty="0">
                <a:solidFill>
                  <a:schemeClr val="bg1"/>
                </a:solidFill>
              </a:rPr>
              <a:t>Journey &amp; road ahead</a:t>
            </a:r>
            <a:endParaRPr lang="en-US" sz="4400" dirty="0"/>
          </a:p>
        </p:txBody>
      </p:sp>
      <p:sp>
        <p:nvSpPr>
          <p:cNvPr id="4" name="Text 1"/>
          <p:cNvSpPr/>
          <p:nvPr>
            <p:ph idx="103" type="body" hasCustomPrompt="1"/>
          </p:nvPr>
        </p:nvSpPr>
        <p:spPr>
          <a:xfrm>
            <a:off x="548640" y="2971800"/>
            <a:ext cx="6858000" cy="548640"/>
          </a:xfrm>
          <a:prstGeom prst="rect">
            <a:avLst/>
          </a:prstGeom>
          <a:noFill/>
          <a:ln/>
        </p:spPr>
        <p:txBody>
          <a:bodyPr wrap="square" lIns="0" tIns="0" rIns="0" bIns="0" rtlCol="0" anchor="t"/>
          <a:lstStyle/>
          <a:p>
            <a:pPr indent="0" marL="0">
              <a:buNone/>
            </a:pPr>
            <a:r>
              <a:rPr lang="en-US" sz="2000" dirty="0">
                <a:solidFill>
                  <a:schemeClr val="accent1"/>
                </a:solidFill>
              </a:rPr>
              <a:t>How people use it, what we learned, where it goes next</a:t>
            </a:r>
            <a:endParaRPr lang="en-US" sz="2000" dirty="0"/>
          </a:p>
        </p:txBody>
      </p:sp>
      <p:sp>
        <p:nvSpPr>
          <p:cNvPr id="5" name="Text 1"/>
          <p:cNvSpPr/>
          <p:nvPr>
            <p:ph idx="104" type="body" hasCustomPrompt="1"/>
          </p:nvPr>
        </p:nvSpPr>
        <p:spPr>
          <a:xfrm>
            <a:off x="548640" y="3794760"/>
            <a:ext cx="594360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User journey from sign-up to feedback</a:t>
            </a:r>
            <a:endParaRPr lang="en-US" sz="1600" dirty="0"/>
          </a:p>
          <a:p>
            <a:pPr marL="342900" indent="-342900">
              <a:spcAft>
                <a:spcPts val="600"/>
              </a:spcAft>
              <a:buSzPct val="100000"/>
              <a:buChar char="•"/>
            </a:pPr>
            <a:r>
              <a:rPr lang="en-US" sz="1600" dirty="0">
                <a:solidFill>
                  <a:schemeClr val="bg1"/>
                </a:solidFill>
              </a:rPr>
              <a:t>Challenges we solved and what we learned</a:t>
            </a:r>
            <a:endParaRPr lang="en-US" sz="1600" dirty="0"/>
          </a:p>
          <a:p>
            <a:pPr marL="342900" indent="-342900">
              <a:spcAft>
                <a:spcPts val="600"/>
              </a:spcAft>
              <a:buSzPct val="100000"/>
              <a:buChar char="•"/>
            </a:pPr>
            <a:r>
              <a:rPr lang="en-US" sz="1600" dirty="0">
                <a:solidFill>
                  <a:schemeClr val="bg1"/>
                </a:solidFill>
              </a:rPr>
              <a:t>Future scope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User journey</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From sign-up to feedback in seven steps; admins close the loop</a:t>
            </a:r>
            <a:endParaRPr lang="en-US" sz="1600" dirty="0"/>
          </a:p>
        </p:txBody>
      </p:sp>
      <p:sp>
        <p:nvSpPr>
          <p:cNvPr id="4" name="journey-line"/>
          <p:cNvSpPr/>
          <p:nvPr/>
        </p:nvSpPr>
        <p:spPr>
          <a:xfrm>
            <a:off x="1341098" y="2331720"/>
            <a:ext cx="9509499" cy="0"/>
          </a:xfrm>
          <a:prstGeom prst="line">
            <a:avLst/>
          </a:prstGeom>
          <a:noFill/>
          <a:ln w="25400">
            <a:solidFill>
              <a:srgbClr val="F15A22"/>
            </a:solidFill>
            <a:prstDash val="solid"/>
          </a:ln>
        </p:spPr>
      </p:sp>
      <p:sp>
        <p:nvSpPr>
          <p:cNvPr id="5" name="step-241"/>
          <p:cNvSpPr/>
          <p:nvPr/>
        </p:nvSpPr>
        <p:spPr>
          <a:xfrm>
            <a:off x="993626" y="1984248"/>
            <a:ext cx="694944" cy="694944"/>
          </a:xfrm>
          <a:prstGeom prst="ellipse">
            <a:avLst/>
          </a:prstGeom>
          <a:solidFill>
            <a:schemeClr val="accent1"/>
          </a:solidFill>
          <a:ln w="38100">
            <a:solidFill>
              <a:srgbClr val="FFFFFF"/>
            </a:solidFill>
            <a:prstDash val="solid"/>
          </a:ln>
        </p:spPr>
      </p:sp>
      <p:sp>
        <p:nvSpPr>
          <p:cNvPr id="6" name="text-242"/>
          <p:cNvSpPr txBox="1"/>
          <p:nvPr/>
        </p:nvSpPr>
        <p:spPr>
          <a:xfrm>
            <a:off x="993626"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243"/>
          <p:cNvSpPr txBox="1"/>
          <p:nvPr/>
        </p:nvSpPr>
        <p:spPr>
          <a:xfrm>
            <a:off x="548640"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Sign up</a:t>
            </a:r>
            <a:endParaRPr lang="en-US" sz="1500" dirty="0"/>
          </a:p>
        </p:txBody>
      </p:sp>
      <p:sp>
        <p:nvSpPr>
          <p:cNvPr id="8" name="step-244"/>
          <p:cNvSpPr/>
          <p:nvPr/>
        </p:nvSpPr>
        <p:spPr>
          <a:xfrm>
            <a:off x="2578543" y="1984248"/>
            <a:ext cx="694944" cy="694944"/>
          </a:xfrm>
          <a:prstGeom prst="ellipse">
            <a:avLst/>
          </a:prstGeom>
          <a:solidFill>
            <a:schemeClr val="accent1"/>
          </a:solidFill>
          <a:ln w="38100">
            <a:solidFill>
              <a:srgbClr val="FFFFFF"/>
            </a:solidFill>
            <a:prstDash val="solid"/>
          </a:ln>
        </p:spPr>
      </p:sp>
      <p:sp>
        <p:nvSpPr>
          <p:cNvPr id="9" name="text-245"/>
          <p:cNvSpPr txBox="1"/>
          <p:nvPr/>
        </p:nvSpPr>
        <p:spPr>
          <a:xfrm>
            <a:off x="2578543"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246"/>
          <p:cNvSpPr txBox="1"/>
          <p:nvPr/>
        </p:nvSpPr>
        <p:spPr>
          <a:xfrm>
            <a:off x="2133556"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Verify OTP</a:t>
            </a:r>
            <a:endParaRPr lang="en-US" sz="1500" dirty="0"/>
          </a:p>
        </p:txBody>
      </p:sp>
      <p:sp>
        <p:nvSpPr>
          <p:cNvPr id="11" name="step-247"/>
          <p:cNvSpPr/>
          <p:nvPr/>
        </p:nvSpPr>
        <p:spPr>
          <a:xfrm>
            <a:off x="4163459" y="1984248"/>
            <a:ext cx="694944" cy="694944"/>
          </a:xfrm>
          <a:prstGeom prst="ellipse">
            <a:avLst/>
          </a:prstGeom>
          <a:solidFill>
            <a:schemeClr val="accent1"/>
          </a:solidFill>
          <a:ln w="38100">
            <a:solidFill>
              <a:srgbClr val="FFFFFF"/>
            </a:solidFill>
            <a:prstDash val="solid"/>
          </a:ln>
        </p:spPr>
      </p:sp>
      <p:sp>
        <p:nvSpPr>
          <p:cNvPr id="12" name="text-248"/>
          <p:cNvSpPr txBox="1"/>
          <p:nvPr/>
        </p:nvSpPr>
        <p:spPr>
          <a:xfrm>
            <a:off x="4163459"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249"/>
          <p:cNvSpPr txBox="1"/>
          <p:nvPr/>
        </p:nvSpPr>
        <p:spPr>
          <a:xfrm>
            <a:off x="3718473"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Log in</a:t>
            </a:r>
            <a:endParaRPr lang="en-US" sz="1500" dirty="0"/>
          </a:p>
        </p:txBody>
      </p:sp>
      <p:sp>
        <p:nvSpPr>
          <p:cNvPr id="14" name="step-250"/>
          <p:cNvSpPr/>
          <p:nvPr/>
        </p:nvSpPr>
        <p:spPr>
          <a:xfrm>
            <a:off x="5748376" y="1984248"/>
            <a:ext cx="694944" cy="694944"/>
          </a:xfrm>
          <a:prstGeom prst="ellipse">
            <a:avLst/>
          </a:prstGeom>
          <a:solidFill>
            <a:schemeClr val="accent1"/>
          </a:solidFill>
          <a:ln w="38100">
            <a:solidFill>
              <a:srgbClr val="FFFFFF"/>
            </a:solidFill>
            <a:prstDash val="solid"/>
          </a:ln>
        </p:spPr>
      </p:sp>
      <p:sp>
        <p:nvSpPr>
          <p:cNvPr id="15" name="text-251"/>
          <p:cNvSpPr txBox="1"/>
          <p:nvPr/>
        </p:nvSpPr>
        <p:spPr>
          <a:xfrm>
            <a:off x="5748376"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6" name="text-252"/>
          <p:cNvSpPr txBox="1"/>
          <p:nvPr/>
        </p:nvSpPr>
        <p:spPr>
          <a:xfrm>
            <a:off x="5303389"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Find architect</a:t>
            </a:r>
            <a:endParaRPr lang="en-US" sz="1500" dirty="0"/>
          </a:p>
        </p:txBody>
      </p:sp>
      <p:sp>
        <p:nvSpPr>
          <p:cNvPr id="17" name="step-253"/>
          <p:cNvSpPr/>
          <p:nvPr/>
        </p:nvSpPr>
        <p:spPr>
          <a:xfrm>
            <a:off x="7333292" y="1984248"/>
            <a:ext cx="694944" cy="694944"/>
          </a:xfrm>
          <a:prstGeom prst="ellipse">
            <a:avLst/>
          </a:prstGeom>
          <a:solidFill>
            <a:schemeClr val="accent1"/>
          </a:solidFill>
          <a:ln w="38100">
            <a:solidFill>
              <a:srgbClr val="FFFFFF"/>
            </a:solidFill>
            <a:prstDash val="solid"/>
          </a:ln>
        </p:spPr>
      </p:sp>
      <p:sp>
        <p:nvSpPr>
          <p:cNvPr id="18" name="text-254"/>
          <p:cNvSpPr txBox="1"/>
          <p:nvPr/>
        </p:nvSpPr>
        <p:spPr>
          <a:xfrm>
            <a:off x="7333292"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9" name="text-255"/>
          <p:cNvSpPr txBox="1"/>
          <p:nvPr/>
        </p:nvSpPr>
        <p:spPr>
          <a:xfrm>
            <a:off x="6888306"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Send inquiry</a:t>
            </a:r>
            <a:endParaRPr lang="en-US" sz="1500" dirty="0"/>
          </a:p>
        </p:txBody>
      </p:sp>
      <p:sp>
        <p:nvSpPr>
          <p:cNvPr id="20" name="step-256"/>
          <p:cNvSpPr/>
          <p:nvPr/>
        </p:nvSpPr>
        <p:spPr>
          <a:xfrm>
            <a:off x="8918209" y="1984248"/>
            <a:ext cx="694944" cy="694944"/>
          </a:xfrm>
          <a:prstGeom prst="ellipse">
            <a:avLst/>
          </a:prstGeom>
          <a:solidFill>
            <a:schemeClr val="accent1"/>
          </a:solidFill>
          <a:ln w="38100">
            <a:solidFill>
              <a:srgbClr val="FFFFFF"/>
            </a:solidFill>
            <a:prstDash val="solid"/>
          </a:ln>
        </p:spPr>
      </p:sp>
      <p:sp>
        <p:nvSpPr>
          <p:cNvPr id="21" name="text-257"/>
          <p:cNvSpPr txBox="1"/>
          <p:nvPr/>
        </p:nvSpPr>
        <p:spPr>
          <a:xfrm>
            <a:off x="8918209"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2" name="text-258"/>
          <p:cNvSpPr txBox="1"/>
          <p:nvPr/>
        </p:nvSpPr>
        <p:spPr>
          <a:xfrm>
            <a:off x="8473222"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Follow up</a:t>
            </a:r>
            <a:endParaRPr lang="en-US" sz="1500" dirty="0"/>
          </a:p>
        </p:txBody>
      </p:sp>
      <p:sp>
        <p:nvSpPr>
          <p:cNvPr id="23" name="step-259"/>
          <p:cNvSpPr/>
          <p:nvPr/>
        </p:nvSpPr>
        <p:spPr>
          <a:xfrm>
            <a:off x="10503125" y="1984248"/>
            <a:ext cx="694944" cy="694944"/>
          </a:xfrm>
          <a:prstGeom prst="ellipse">
            <a:avLst/>
          </a:prstGeom>
          <a:solidFill>
            <a:schemeClr val="accent1"/>
          </a:solidFill>
          <a:ln w="38100">
            <a:solidFill>
              <a:srgbClr val="FFFFFF"/>
            </a:solidFill>
            <a:prstDash val="solid"/>
          </a:ln>
        </p:spPr>
      </p:sp>
      <p:sp>
        <p:nvSpPr>
          <p:cNvPr id="24" name="text-260"/>
          <p:cNvSpPr txBox="1"/>
          <p:nvPr/>
        </p:nvSpPr>
        <p:spPr>
          <a:xfrm>
            <a:off x="10503125" y="1984248"/>
            <a:ext cx="694944" cy="694944"/>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25" name="text-261"/>
          <p:cNvSpPr txBox="1"/>
          <p:nvPr/>
        </p:nvSpPr>
        <p:spPr>
          <a:xfrm>
            <a:off x="10058139" y="2816352"/>
            <a:ext cx="1584916" cy="365760"/>
          </a:xfrm>
          <a:prstGeom prst="rect">
            <a:avLst/>
          </a:prstGeom>
          <a:noFill/>
          <a:ln/>
        </p:spPr>
        <p:txBody>
          <a:bodyPr wrap="square" lIns="0" tIns="0" rIns="0" bIns="0" rtlCol="0" anchor="t"/>
          <a:lstStyle/>
          <a:p>
            <a:pPr algn="ctr" indent="0" marL="0">
              <a:buNone/>
            </a:pPr>
            <a:r>
              <a:rPr lang="en-US" sz="1500" b="1" dirty="0">
                <a:solidFill>
                  <a:schemeClr val="tx1"/>
                </a:solidFill>
              </a:rPr>
              <a:t>Give feedback</a:t>
            </a:r>
            <a:endParaRPr lang="en-US" sz="1500" dirty="0"/>
          </a:p>
        </p:txBody>
      </p:sp>
      <p:sp>
        <p:nvSpPr>
          <p:cNvPr id="26" name="text-262"/>
          <p:cNvSpPr txBox="1"/>
          <p:nvPr/>
        </p:nvSpPr>
        <p:spPr>
          <a:xfrm>
            <a:off x="548640" y="3291840"/>
            <a:ext cx="11094415" cy="365760"/>
          </a:xfrm>
          <a:prstGeom prst="rect">
            <a:avLst/>
          </a:prstGeom>
          <a:noFill/>
          <a:ln/>
        </p:spPr>
        <p:txBody>
          <a:bodyPr wrap="square" lIns="0" tIns="0" rIns="0" bIns="0" rtlCol="0" anchor="t"/>
          <a:lstStyle/>
          <a:p>
            <a:pPr algn="ctr" indent="0" marL="0">
              <a:buNone/>
            </a:pPr>
            <a:r>
              <a:rPr lang="en-US" sz="1400" i="1" dirty="0">
                <a:solidFill>
                  <a:schemeClr val="accent1"/>
                </a:solidFill>
              </a:rPr>
              <a:t>Archie can help at steps 4 to 7: suggest architects, write the inquiry, the follow-up and the feedback.</a:t>
            </a:r>
            <a:endParaRPr lang="en-US" sz="1400" dirty="0"/>
          </a:p>
        </p:txBody>
      </p:sp>
      <p:sp>
        <p:nvSpPr>
          <p:cNvPr id="27" name="text-263"/>
          <p:cNvSpPr txBox="1"/>
          <p:nvPr/>
        </p:nvSpPr>
        <p:spPr>
          <a:xfrm>
            <a:off x="548640" y="3931920"/>
            <a:ext cx="3657600" cy="365760"/>
          </a:xfrm>
          <a:prstGeom prst="rect">
            <a:avLst/>
          </a:prstGeom>
          <a:noFill/>
          <a:ln/>
        </p:spPr>
        <p:txBody>
          <a:bodyPr wrap="square" lIns="0" tIns="0" rIns="0" bIns="0" rtlCol="0" anchor="t"/>
          <a:lstStyle/>
          <a:p>
            <a:pPr indent="0" marL="0">
              <a:buNone/>
            </a:pPr>
            <a:r>
              <a:rPr lang="en-US" sz="1800" b="1" dirty="0">
                <a:solidFill>
                  <a:schemeClr val="tx1"/>
                </a:solidFill>
              </a:rPr>
              <a:t>Admin side</a:t>
            </a:r>
            <a:endParaRPr lang="en-US" sz="1800" dirty="0"/>
          </a:p>
        </p:txBody>
      </p:sp>
      <p:sp>
        <p:nvSpPr>
          <p:cNvPr id="28" name="card-264"/>
          <p:cNvSpPr/>
          <p:nvPr/>
        </p:nvSpPr>
        <p:spPr>
          <a:xfrm>
            <a:off x="548640" y="4434840"/>
            <a:ext cx="3515258" cy="1463040"/>
          </a:xfrm>
          <a:prstGeom prst="roundRect">
            <a:avLst>
              <a:gd name="adj" fmla="val 7500"/>
            </a:avLst>
          </a:prstGeom>
          <a:solidFill>
            <a:schemeClr val="bg2"/>
          </a:solidFill>
          <a:ln/>
        </p:spPr>
      </p:sp>
      <p:sp>
        <p:nvSpPr>
          <p:cNvPr id="29" name="icon-bg-265"/>
          <p:cNvSpPr/>
          <p:nvPr/>
        </p:nvSpPr>
        <p:spPr>
          <a:xfrm>
            <a:off x="822960" y="4709160"/>
            <a:ext cx="548640" cy="548640"/>
          </a:xfrm>
          <a:prstGeom prst="ellipse">
            <a:avLst/>
          </a:prstGeom>
          <a:solidFill>
            <a:schemeClr val="accent1"/>
          </a:solidFill>
          <a:ln/>
        </p:spPr>
      </p:sp>
      <p:pic>
        <p:nvPicPr>
          <p:cNvPr id="30" name="icon-266" descr="preencoded.png">    </p:cNvPr>
          <p:cNvPicPr>
            <a:picLocks noChangeAspect="1"/>
          </p:cNvPicPr>
          <p:nvPr/>
        </p:nvPicPr>
        <p:blipFill>
          <a:blip r:embed="rId1"/>
          <a:stretch>
            <a:fillRect/>
          </a:stretch>
        </p:blipFill>
        <p:spPr>
          <a:xfrm>
            <a:off x="965606" y="4851806"/>
            <a:ext cx="263347" cy="263347"/>
          </a:xfrm>
          <a:prstGeom prst="rect">
            <a:avLst/>
          </a:prstGeom>
        </p:spPr>
      </p:pic>
      <p:sp>
        <p:nvSpPr>
          <p:cNvPr id="31" name="text-267"/>
          <p:cNvSpPr txBox="1"/>
          <p:nvPr/>
        </p:nvSpPr>
        <p:spPr>
          <a:xfrm>
            <a:off x="1554480" y="4617720"/>
            <a:ext cx="2326538" cy="365760"/>
          </a:xfrm>
          <a:prstGeom prst="rect">
            <a:avLst/>
          </a:prstGeom>
          <a:noFill/>
          <a:ln/>
        </p:spPr>
        <p:txBody>
          <a:bodyPr wrap="square" lIns="0" tIns="0" rIns="0" bIns="0" rtlCol="0" anchor="t"/>
          <a:lstStyle/>
          <a:p>
            <a:pPr indent="0" marL="0">
              <a:buNone/>
            </a:pPr>
            <a:r>
              <a:rPr lang="en-US" sz="1600" b="1" dirty="0">
                <a:solidFill>
                  <a:schemeClr val="tx1"/>
                </a:solidFill>
              </a:rPr>
              <a:t>Manage architects</a:t>
            </a:r>
            <a:endParaRPr lang="en-US" sz="1600" dirty="0"/>
          </a:p>
        </p:txBody>
      </p:sp>
      <p:sp>
        <p:nvSpPr>
          <p:cNvPr id="32" name="text-268"/>
          <p:cNvSpPr txBox="1"/>
          <p:nvPr/>
        </p:nvSpPr>
        <p:spPr>
          <a:xfrm>
            <a:off x="1554480" y="5001768"/>
            <a:ext cx="2326538" cy="731520"/>
          </a:xfrm>
          <a:prstGeom prst="rect">
            <a:avLst/>
          </a:prstGeom>
          <a:noFill/>
          <a:ln/>
        </p:spPr>
        <p:txBody>
          <a:bodyPr wrap="square" lIns="0" tIns="0" rIns="0" bIns="0" rtlCol="0" anchor="t"/>
          <a:lstStyle/>
          <a:p>
            <a:pPr indent="0" marL="0">
              <a:buNone/>
            </a:pPr>
            <a:r>
              <a:rPr lang="en-US" sz="1400" dirty="0">
                <a:solidFill>
                  <a:schemeClr val="accent6"/>
                </a:solidFill>
              </a:rPr>
              <a:t>Add, edit or remove listings and portfolios</a:t>
            </a:r>
            <a:endParaRPr lang="en-US" sz="1400" dirty="0"/>
          </a:p>
        </p:txBody>
      </p:sp>
      <p:sp>
        <p:nvSpPr>
          <p:cNvPr id="33" name="card-269"/>
          <p:cNvSpPr/>
          <p:nvPr/>
        </p:nvSpPr>
        <p:spPr>
          <a:xfrm>
            <a:off x="4338218" y="4434840"/>
            <a:ext cx="3515258" cy="1463040"/>
          </a:xfrm>
          <a:prstGeom prst="roundRect">
            <a:avLst>
              <a:gd name="adj" fmla="val 7500"/>
            </a:avLst>
          </a:prstGeom>
          <a:solidFill>
            <a:schemeClr val="bg2"/>
          </a:solidFill>
          <a:ln/>
        </p:spPr>
      </p:sp>
      <p:sp>
        <p:nvSpPr>
          <p:cNvPr id="34" name="icon-bg-270"/>
          <p:cNvSpPr/>
          <p:nvPr/>
        </p:nvSpPr>
        <p:spPr>
          <a:xfrm>
            <a:off x="4612538" y="4709160"/>
            <a:ext cx="548640" cy="548640"/>
          </a:xfrm>
          <a:prstGeom prst="ellipse">
            <a:avLst/>
          </a:prstGeom>
          <a:solidFill>
            <a:schemeClr val="accent1"/>
          </a:solidFill>
          <a:ln/>
        </p:spPr>
      </p:sp>
      <p:pic>
        <p:nvPicPr>
          <p:cNvPr id="35" name="icon-271" descr="preencoded.png">    </p:cNvPr>
          <p:cNvPicPr>
            <a:picLocks noChangeAspect="1"/>
          </p:cNvPicPr>
          <p:nvPr/>
        </p:nvPicPr>
        <p:blipFill>
          <a:blip r:embed="rId2"/>
          <a:stretch>
            <a:fillRect/>
          </a:stretch>
        </p:blipFill>
        <p:spPr>
          <a:xfrm>
            <a:off x="4755185" y="4851806"/>
            <a:ext cx="263347" cy="263347"/>
          </a:xfrm>
          <a:prstGeom prst="rect">
            <a:avLst/>
          </a:prstGeom>
        </p:spPr>
      </p:pic>
      <p:sp>
        <p:nvSpPr>
          <p:cNvPr id="36" name="text-272"/>
          <p:cNvSpPr txBox="1"/>
          <p:nvPr/>
        </p:nvSpPr>
        <p:spPr>
          <a:xfrm>
            <a:off x="5344058" y="4617720"/>
            <a:ext cx="2326538" cy="365760"/>
          </a:xfrm>
          <a:prstGeom prst="rect">
            <a:avLst/>
          </a:prstGeom>
          <a:noFill/>
          <a:ln/>
        </p:spPr>
        <p:txBody>
          <a:bodyPr wrap="square" lIns="0" tIns="0" rIns="0" bIns="0" rtlCol="0" anchor="t"/>
          <a:lstStyle/>
          <a:p>
            <a:pPr indent="0" marL="0">
              <a:buNone/>
            </a:pPr>
            <a:r>
              <a:rPr lang="en-US" sz="1600" b="1" dirty="0">
                <a:solidFill>
                  <a:schemeClr val="tx1"/>
                </a:solidFill>
              </a:rPr>
              <a:t>Handle inquiries</a:t>
            </a:r>
            <a:endParaRPr lang="en-US" sz="1600" dirty="0"/>
          </a:p>
        </p:txBody>
      </p:sp>
      <p:sp>
        <p:nvSpPr>
          <p:cNvPr id="37" name="text-273"/>
          <p:cNvSpPr txBox="1"/>
          <p:nvPr/>
        </p:nvSpPr>
        <p:spPr>
          <a:xfrm>
            <a:off x="5344058" y="5001768"/>
            <a:ext cx="2326538" cy="731520"/>
          </a:xfrm>
          <a:prstGeom prst="rect">
            <a:avLst/>
          </a:prstGeom>
          <a:noFill/>
          <a:ln/>
        </p:spPr>
        <p:txBody>
          <a:bodyPr wrap="square" lIns="0" tIns="0" rIns="0" bIns="0" rtlCol="0" anchor="t"/>
          <a:lstStyle/>
          <a:p>
            <a:pPr indent="0" marL="0">
              <a:buNone/>
            </a:pPr>
            <a:r>
              <a:rPr lang="en-US" sz="1400" dirty="0">
                <a:solidFill>
                  <a:schemeClr val="accent6"/>
                </a:solidFill>
              </a:rPr>
              <a:t>Update status and reply in the thread, with AI drafts</a:t>
            </a:r>
            <a:endParaRPr lang="en-US" sz="1400" dirty="0"/>
          </a:p>
        </p:txBody>
      </p:sp>
      <p:sp>
        <p:nvSpPr>
          <p:cNvPr id="38" name="card-274"/>
          <p:cNvSpPr/>
          <p:nvPr/>
        </p:nvSpPr>
        <p:spPr>
          <a:xfrm>
            <a:off x="8127797" y="4434840"/>
            <a:ext cx="3515258" cy="1463040"/>
          </a:xfrm>
          <a:prstGeom prst="roundRect">
            <a:avLst>
              <a:gd name="adj" fmla="val 7500"/>
            </a:avLst>
          </a:prstGeom>
          <a:solidFill>
            <a:schemeClr val="bg2"/>
          </a:solidFill>
          <a:ln/>
        </p:spPr>
      </p:sp>
      <p:sp>
        <p:nvSpPr>
          <p:cNvPr id="39" name="icon-bg-275"/>
          <p:cNvSpPr/>
          <p:nvPr/>
        </p:nvSpPr>
        <p:spPr>
          <a:xfrm>
            <a:off x="8402117" y="4709160"/>
            <a:ext cx="548640" cy="548640"/>
          </a:xfrm>
          <a:prstGeom prst="ellipse">
            <a:avLst/>
          </a:prstGeom>
          <a:solidFill>
            <a:schemeClr val="accent1"/>
          </a:solidFill>
          <a:ln/>
        </p:spPr>
      </p:sp>
      <p:pic>
        <p:nvPicPr>
          <p:cNvPr id="40" name="icon-276" descr="preencoded.png">    </p:cNvPr>
          <p:cNvPicPr>
            <a:picLocks noChangeAspect="1"/>
          </p:cNvPicPr>
          <p:nvPr/>
        </p:nvPicPr>
        <p:blipFill>
          <a:blip r:embed="rId3"/>
          <a:stretch>
            <a:fillRect/>
          </a:stretch>
        </p:blipFill>
        <p:spPr>
          <a:xfrm>
            <a:off x="8544763" y="4851806"/>
            <a:ext cx="263347" cy="263347"/>
          </a:xfrm>
          <a:prstGeom prst="rect">
            <a:avLst/>
          </a:prstGeom>
        </p:spPr>
      </p:pic>
      <p:sp>
        <p:nvSpPr>
          <p:cNvPr id="41" name="text-277"/>
          <p:cNvSpPr txBox="1"/>
          <p:nvPr/>
        </p:nvSpPr>
        <p:spPr>
          <a:xfrm>
            <a:off x="9133637" y="4617720"/>
            <a:ext cx="2326538" cy="365760"/>
          </a:xfrm>
          <a:prstGeom prst="rect">
            <a:avLst/>
          </a:prstGeom>
          <a:noFill/>
          <a:ln/>
        </p:spPr>
        <p:txBody>
          <a:bodyPr wrap="square" lIns="0" tIns="0" rIns="0" bIns="0" rtlCol="0" anchor="t"/>
          <a:lstStyle/>
          <a:p>
            <a:pPr indent="0" marL="0">
              <a:buNone/>
            </a:pPr>
            <a:r>
              <a:rPr lang="en-US" sz="1600" b="1" dirty="0">
                <a:solidFill>
                  <a:schemeClr val="tx1"/>
                </a:solidFill>
              </a:rPr>
              <a:t>Track quality</a:t>
            </a:r>
            <a:endParaRPr lang="en-US" sz="1600" dirty="0"/>
          </a:p>
        </p:txBody>
      </p:sp>
      <p:sp>
        <p:nvSpPr>
          <p:cNvPr id="42" name="text-278"/>
          <p:cNvSpPr txBox="1"/>
          <p:nvPr/>
        </p:nvSpPr>
        <p:spPr>
          <a:xfrm>
            <a:off x="9133637" y="5001768"/>
            <a:ext cx="2326538" cy="731520"/>
          </a:xfrm>
          <a:prstGeom prst="rect">
            <a:avLst/>
          </a:prstGeom>
          <a:noFill/>
          <a:ln/>
        </p:spPr>
        <p:txBody>
          <a:bodyPr wrap="square" lIns="0" tIns="0" rIns="0" bIns="0" rtlCol="0" anchor="t"/>
          <a:lstStyle/>
          <a:p>
            <a:pPr indent="0" marL="0">
              <a:buNone/>
            </a:pPr>
            <a:r>
              <a:rPr lang="en-US" sz="1400" dirty="0">
                <a:solidFill>
                  <a:schemeClr val="accent6"/>
                </a:solidFill>
              </a:rPr>
              <a:t>Read feedback, dashboard charts and AI summaries</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Challenges and learnings</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What pushed us, and what we take away</a:t>
            </a:r>
            <a:endParaRPr lang="en-US" sz="1600" dirty="0"/>
          </a:p>
        </p:txBody>
      </p:sp>
      <p:sp>
        <p:nvSpPr>
          <p:cNvPr id="4" name="text-279"/>
          <p:cNvSpPr txBox="1"/>
          <p:nvPr/>
        </p:nvSpPr>
        <p:spPr>
          <a:xfrm>
            <a:off x="548640" y="1691640"/>
            <a:ext cx="5364328" cy="411480"/>
          </a:xfrm>
          <a:prstGeom prst="rect">
            <a:avLst/>
          </a:prstGeom>
          <a:noFill/>
          <a:ln/>
        </p:spPr>
        <p:txBody>
          <a:bodyPr wrap="square" lIns="0" tIns="0" rIns="0" bIns="0" rtlCol="0" anchor="t"/>
          <a:lstStyle/>
          <a:p>
            <a:pPr indent="0" marL="0">
              <a:buNone/>
            </a:pPr>
            <a:r>
              <a:rPr lang="en-US" sz="2000" b="1" dirty="0">
                <a:solidFill>
                  <a:schemeClr val="accent2"/>
                </a:solidFill>
              </a:rPr>
              <a:t>Challenges</a:t>
            </a:r>
            <a:endParaRPr lang="en-US" sz="2000" dirty="0"/>
          </a:p>
        </p:txBody>
      </p:sp>
      <p:sp>
        <p:nvSpPr>
          <p:cNvPr id="5" name="card-280"/>
          <p:cNvSpPr/>
          <p:nvPr/>
        </p:nvSpPr>
        <p:spPr>
          <a:xfrm>
            <a:off x="548640" y="2194560"/>
            <a:ext cx="5364328" cy="868680"/>
          </a:xfrm>
          <a:prstGeom prst="roundRect">
            <a:avLst>
              <a:gd name="adj" fmla="val 12632"/>
            </a:avLst>
          </a:prstGeom>
          <a:solidFill>
            <a:schemeClr val="bg2"/>
          </a:solidFill>
          <a:ln/>
        </p:spPr>
      </p:sp>
      <p:sp>
        <p:nvSpPr>
          <p:cNvPr id="6" name="text-281"/>
          <p:cNvSpPr txBox="1"/>
          <p:nvPr/>
        </p:nvSpPr>
        <p:spPr>
          <a:xfrm>
            <a:off x="777240" y="2194560"/>
            <a:ext cx="548640" cy="868680"/>
          </a:xfrm>
          <a:prstGeom prst="rect">
            <a:avLst/>
          </a:prstGeom>
          <a:noFill/>
          <a:ln/>
        </p:spPr>
        <p:txBody>
          <a:bodyPr wrap="square" lIns="0" tIns="0" rIns="0" bIns="0" rtlCol="0" anchor="ctr"/>
          <a:lstStyle/>
          <a:p>
            <a:pPr indent="0" marL="0">
              <a:buNone/>
            </a:pPr>
            <a:r>
              <a:rPr lang="en-US" sz="2000" b="1" dirty="0">
                <a:solidFill>
                  <a:schemeClr val="accent2"/>
                </a:solidFill>
              </a:rPr>
              <a:t>01</a:t>
            </a:r>
            <a:endParaRPr lang="en-US" sz="2000" dirty="0"/>
          </a:p>
        </p:txBody>
      </p:sp>
      <p:sp>
        <p:nvSpPr>
          <p:cNvPr id="7" name="text-282"/>
          <p:cNvSpPr txBox="1"/>
          <p:nvPr/>
        </p:nvSpPr>
        <p:spPr>
          <a:xfrm>
            <a:off x="1417320" y="2304288"/>
            <a:ext cx="4267048" cy="320040"/>
          </a:xfrm>
          <a:prstGeom prst="rect">
            <a:avLst/>
          </a:prstGeom>
          <a:noFill/>
          <a:ln/>
        </p:spPr>
        <p:txBody>
          <a:bodyPr wrap="square" lIns="0" tIns="0" rIns="0" bIns="0" rtlCol="0" anchor="t"/>
          <a:lstStyle/>
          <a:p>
            <a:pPr indent="0" marL="0">
              <a:buNone/>
            </a:pPr>
            <a:r>
              <a:rPr lang="en-US" sz="1500" b="1" dirty="0">
                <a:solidFill>
                  <a:schemeClr val="tx1"/>
                </a:solidFill>
              </a:rPr>
              <a:t>JWT + CORS across two servers</a:t>
            </a:r>
            <a:endParaRPr lang="en-US" sz="1500" dirty="0"/>
          </a:p>
        </p:txBody>
      </p:sp>
      <p:sp>
        <p:nvSpPr>
          <p:cNvPr id="8" name="text-283"/>
          <p:cNvSpPr txBox="1"/>
          <p:nvPr/>
        </p:nvSpPr>
        <p:spPr>
          <a:xfrm>
            <a:off x="1417320" y="2633472"/>
            <a:ext cx="4267048" cy="365760"/>
          </a:xfrm>
          <a:prstGeom prst="rect">
            <a:avLst/>
          </a:prstGeom>
          <a:noFill/>
          <a:ln/>
        </p:spPr>
        <p:txBody>
          <a:bodyPr wrap="square" lIns="0" tIns="0" rIns="0" bIns="0" rtlCol="0" anchor="t"/>
          <a:lstStyle/>
          <a:p>
            <a:pPr indent="0" marL="0">
              <a:buNone/>
            </a:pPr>
            <a:r>
              <a:rPr lang="en-US" sz="1300" dirty="0">
                <a:solidFill>
                  <a:schemeClr val="accent6"/>
                </a:solidFill>
              </a:rPr>
              <a:t>Tokens, roles and CORS between ports 4200 and 8080</a:t>
            </a:r>
            <a:endParaRPr lang="en-US" sz="1300" dirty="0"/>
          </a:p>
        </p:txBody>
      </p:sp>
      <p:sp>
        <p:nvSpPr>
          <p:cNvPr id="9" name="card-284"/>
          <p:cNvSpPr/>
          <p:nvPr/>
        </p:nvSpPr>
        <p:spPr>
          <a:xfrm>
            <a:off x="548640" y="3182112"/>
            <a:ext cx="5364328" cy="868680"/>
          </a:xfrm>
          <a:prstGeom prst="roundRect">
            <a:avLst>
              <a:gd name="adj" fmla="val 12632"/>
            </a:avLst>
          </a:prstGeom>
          <a:solidFill>
            <a:schemeClr val="bg2"/>
          </a:solidFill>
          <a:ln/>
        </p:spPr>
      </p:sp>
      <p:sp>
        <p:nvSpPr>
          <p:cNvPr id="10" name="text-285"/>
          <p:cNvSpPr txBox="1"/>
          <p:nvPr/>
        </p:nvSpPr>
        <p:spPr>
          <a:xfrm>
            <a:off x="777240" y="3182112"/>
            <a:ext cx="548640" cy="868680"/>
          </a:xfrm>
          <a:prstGeom prst="rect">
            <a:avLst/>
          </a:prstGeom>
          <a:noFill/>
          <a:ln/>
        </p:spPr>
        <p:txBody>
          <a:bodyPr wrap="square" lIns="0" tIns="0" rIns="0" bIns="0" rtlCol="0" anchor="ctr"/>
          <a:lstStyle/>
          <a:p>
            <a:pPr indent="0" marL="0">
              <a:buNone/>
            </a:pPr>
            <a:r>
              <a:rPr lang="en-US" sz="2000" b="1" dirty="0">
                <a:solidFill>
                  <a:schemeClr val="accent2"/>
                </a:solidFill>
              </a:rPr>
              <a:t>02</a:t>
            </a:r>
            <a:endParaRPr lang="en-US" sz="2000" dirty="0"/>
          </a:p>
        </p:txBody>
      </p:sp>
      <p:sp>
        <p:nvSpPr>
          <p:cNvPr id="11" name="text-286"/>
          <p:cNvSpPr txBox="1"/>
          <p:nvPr/>
        </p:nvSpPr>
        <p:spPr>
          <a:xfrm>
            <a:off x="1417320" y="3291840"/>
            <a:ext cx="4267048" cy="320040"/>
          </a:xfrm>
          <a:prstGeom prst="rect">
            <a:avLst/>
          </a:prstGeom>
          <a:noFill/>
          <a:ln/>
        </p:spPr>
        <p:txBody>
          <a:bodyPr wrap="square" lIns="0" tIns="0" rIns="0" bIns="0" rtlCol="0" anchor="t"/>
          <a:lstStyle/>
          <a:p>
            <a:pPr indent="0" marL="0">
              <a:buNone/>
            </a:pPr>
            <a:r>
              <a:rPr lang="en-US" sz="1500" b="1" dirty="0">
                <a:solidFill>
                  <a:schemeClr val="tx1"/>
                </a:solidFill>
              </a:rPr>
              <a:t>Safe OTP design</a:t>
            </a:r>
            <a:endParaRPr lang="en-US" sz="1500" dirty="0"/>
          </a:p>
        </p:txBody>
      </p:sp>
      <p:sp>
        <p:nvSpPr>
          <p:cNvPr id="12" name="text-287"/>
          <p:cNvSpPr txBox="1"/>
          <p:nvPr/>
        </p:nvSpPr>
        <p:spPr>
          <a:xfrm>
            <a:off x="1417320" y="3621024"/>
            <a:ext cx="4267048" cy="365760"/>
          </a:xfrm>
          <a:prstGeom prst="rect">
            <a:avLst/>
          </a:prstGeom>
          <a:noFill/>
          <a:ln/>
        </p:spPr>
        <p:txBody>
          <a:bodyPr wrap="square" lIns="0" tIns="0" rIns="0" bIns="0" rtlCol="0" anchor="t"/>
          <a:lstStyle/>
          <a:p>
            <a:pPr indent="0" marL="0">
              <a:buNone/>
            </a:pPr>
            <a:r>
              <a:rPr lang="en-US" sz="1300" dirty="0">
                <a:solidFill>
                  <a:schemeClr val="accent6"/>
                </a:solidFill>
              </a:rPr>
              <a:t>Hashed codes, expiry, cooldown and try limits</a:t>
            </a:r>
            <a:endParaRPr lang="en-US" sz="1300" dirty="0"/>
          </a:p>
        </p:txBody>
      </p:sp>
      <p:sp>
        <p:nvSpPr>
          <p:cNvPr id="13" name="card-288"/>
          <p:cNvSpPr/>
          <p:nvPr/>
        </p:nvSpPr>
        <p:spPr>
          <a:xfrm>
            <a:off x="548640" y="4169664"/>
            <a:ext cx="5364328" cy="868680"/>
          </a:xfrm>
          <a:prstGeom prst="roundRect">
            <a:avLst>
              <a:gd name="adj" fmla="val 12632"/>
            </a:avLst>
          </a:prstGeom>
          <a:solidFill>
            <a:schemeClr val="bg2"/>
          </a:solidFill>
          <a:ln/>
        </p:spPr>
      </p:sp>
      <p:sp>
        <p:nvSpPr>
          <p:cNvPr id="14" name="text-289"/>
          <p:cNvSpPr txBox="1"/>
          <p:nvPr/>
        </p:nvSpPr>
        <p:spPr>
          <a:xfrm>
            <a:off x="777240" y="4169664"/>
            <a:ext cx="548640" cy="868680"/>
          </a:xfrm>
          <a:prstGeom prst="rect">
            <a:avLst/>
          </a:prstGeom>
          <a:noFill/>
          <a:ln/>
        </p:spPr>
        <p:txBody>
          <a:bodyPr wrap="square" lIns="0" tIns="0" rIns="0" bIns="0" rtlCol="0" anchor="ctr"/>
          <a:lstStyle/>
          <a:p>
            <a:pPr indent="0" marL="0">
              <a:buNone/>
            </a:pPr>
            <a:r>
              <a:rPr lang="en-US" sz="2000" b="1" dirty="0">
                <a:solidFill>
                  <a:schemeClr val="accent2"/>
                </a:solidFill>
              </a:rPr>
              <a:t>03</a:t>
            </a:r>
            <a:endParaRPr lang="en-US" sz="2000" dirty="0"/>
          </a:p>
        </p:txBody>
      </p:sp>
      <p:sp>
        <p:nvSpPr>
          <p:cNvPr id="15" name="text-290"/>
          <p:cNvSpPr txBox="1"/>
          <p:nvPr/>
        </p:nvSpPr>
        <p:spPr>
          <a:xfrm>
            <a:off x="1417320" y="4279392"/>
            <a:ext cx="4267048" cy="320040"/>
          </a:xfrm>
          <a:prstGeom prst="rect">
            <a:avLst/>
          </a:prstGeom>
          <a:noFill/>
          <a:ln/>
        </p:spPr>
        <p:txBody>
          <a:bodyPr wrap="square" lIns="0" tIns="0" rIns="0" bIns="0" rtlCol="0" anchor="t"/>
          <a:lstStyle/>
          <a:p>
            <a:pPr indent="0" marL="0">
              <a:buNone/>
            </a:pPr>
            <a:r>
              <a:rPr lang="en-US" sz="1500" b="1" dirty="0">
                <a:solidFill>
                  <a:schemeClr val="tx1"/>
                </a:solidFill>
              </a:rPr>
              <a:t>Reliable AI answers</a:t>
            </a:r>
            <a:endParaRPr lang="en-US" sz="1500" dirty="0"/>
          </a:p>
        </p:txBody>
      </p:sp>
      <p:sp>
        <p:nvSpPr>
          <p:cNvPr id="16" name="text-291"/>
          <p:cNvSpPr txBox="1"/>
          <p:nvPr/>
        </p:nvSpPr>
        <p:spPr>
          <a:xfrm>
            <a:off x="1417320" y="4608576"/>
            <a:ext cx="4267048" cy="365760"/>
          </a:xfrm>
          <a:prstGeom prst="rect">
            <a:avLst/>
          </a:prstGeom>
          <a:noFill/>
          <a:ln/>
        </p:spPr>
        <p:txBody>
          <a:bodyPr wrap="square" lIns="0" tIns="0" rIns="0" bIns="0" rtlCol="0" anchor="t"/>
          <a:lstStyle/>
          <a:p>
            <a:pPr indent="0" marL="0">
              <a:buNone/>
            </a:pPr>
            <a:r>
              <a:rPr lang="en-US" sz="1300" dirty="0">
                <a:solidFill>
                  <a:schemeClr val="accent6"/>
                </a:solidFill>
              </a:rPr>
              <a:t>Keeping Archie to real data and handling API rate limits</a:t>
            </a:r>
            <a:endParaRPr lang="en-US" sz="1300" dirty="0"/>
          </a:p>
        </p:txBody>
      </p:sp>
      <p:sp>
        <p:nvSpPr>
          <p:cNvPr id="17" name="card-292"/>
          <p:cNvSpPr/>
          <p:nvPr/>
        </p:nvSpPr>
        <p:spPr>
          <a:xfrm>
            <a:off x="548640" y="5157216"/>
            <a:ext cx="5364328" cy="868680"/>
          </a:xfrm>
          <a:prstGeom prst="roundRect">
            <a:avLst>
              <a:gd name="adj" fmla="val 12632"/>
            </a:avLst>
          </a:prstGeom>
          <a:solidFill>
            <a:schemeClr val="bg2"/>
          </a:solidFill>
          <a:ln/>
        </p:spPr>
      </p:sp>
      <p:sp>
        <p:nvSpPr>
          <p:cNvPr id="18" name="text-293"/>
          <p:cNvSpPr txBox="1"/>
          <p:nvPr/>
        </p:nvSpPr>
        <p:spPr>
          <a:xfrm>
            <a:off x="777240" y="5157216"/>
            <a:ext cx="548640" cy="868680"/>
          </a:xfrm>
          <a:prstGeom prst="rect">
            <a:avLst/>
          </a:prstGeom>
          <a:noFill/>
          <a:ln/>
        </p:spPr>
        <p:txBody>
          <a:bodyPr wrap="square" lIns="0" tIns="0" rIns="0" bIns="0" rtlCol="0" anchor="ctr"/>
          <a:lstStyle/>
          <a:p>
            <a:pPr indent="0" marL="0">
              <a:buNone/>
            </a:pPr>
            <a:r>
              <a:rPr lang="en-US" sz="2000" b="1" dirty="0">
                <a:solidFill>
                  <a:schemeClr val="accent2"/>
                </a:solidFill>
              </a:rPr>
              <a:t>04</a:t>
            </a:r>
            <a:endParaRPr lang="en-US" sz="2000" dirty="0"/>
          </a:p>
        </p:txBody>
      </p:sp>
      <p:sp>
        <p:nvSpPr>
          <p:cNvPr id="19" name="text-294"/>
          <p:cNvSpPr txBox="1"/>
          <p:nvPr/>
        </p:nvSpPr>
        <p:spPr>
          <a:xfrm>
            <a:off x="1417320" y="5266944"/>
            <a:ext cx="4267048" cy="320040"/>
          </a:xfrm>
          <a:prstGeom prst="rect">
            <a:avLst/>
          </a:prstGeom>
          <a:noFill/>
          <a:ln/>
        </p:spPr>
        <p:txBody>
          <a:bodyPr wrap="square" lIns="0" tIns="0" rIns="0" bIns="0" rtlCol="0" anchor="t"/>
          <a:lstStyle/>
          <a:p>
            <a:pPr indent="0" marL="0">
              <a:buNone/>
            </a:pPr>
            <a:r>
              <a:rPr lang="en-US" sz="1500" b="1" dirty="0">
                <a:solidFill>
                  <a:schemeClr val="tx1"/>
                </a:solidFill>
              </a:rPr>
              <a:t>Seven people, one codebase</a:t>
            </a:r>
            <a:endParaRPr lang="en-US" sz="1500" dirty="0"/>
          </a:p>
        </p:txBody>
      </p:sp>
      <p:sp>
        <p:nvSpPr>
          <p:cNvPr id="20" name="text-295"/>
          <p:cNvSpPr txBox="1"/>
          <p:nvPr/>
        </p:nvSpPr>
        <p:spPr>
          <a:xfrm>
            <a:off x="1417320" y="5596128"/>
            <a:ext cx="4267048" cy="365760"/>
          </a:xfrm>
          <a:prstGeom prst="rect">
            <a:avLst/>
          </a:prstGeom>
          <a:noFill/>
          <a:ln/>
        </p:spPr>
        <p:txBody>
          <a:bodyPr wrap="square" lIns="0" tIns="0" rIns="0" bIns="0" rtlCol="0" anchor="t"/>
          <a:lstStyle/>
          <a:p>
            <a:pPr indent="0" marL="0">
              <a:buNone/>
            </a:pPr>
            <a:r>
              <a:rPr lang="en-US" sz="1300" dirty="0">
                <a:solidFill>
                  <a:schemeClr val="accent6"/>
                </a:solidFill>
              </a:rPr>
              <a:t>Feature-wise split while keeping APIs and UI consistent</a:t>
            </a:r>
            <a:endParaRPr lang="en-US" sz="1300" dirty="0"/>
          </a:p>
        </p:txBody>
      </p:sp>
      <p:sp>
        <p:nvSpPr>
          <p:cNvPr id="21" name="text-296"/>
          <p:cNvSpPr txBox="1"/>
          <p:nvPr/>
        </p:nvSpPr>
        <p:spPr>
          <a:xfrm>
            <a:off x="6278728" y="1691640"/>
            <a:ext cx="5364328" cy="411480"/>
          </a:xfrm>
          <a:prstGeom prst="rect">
            <a:avLst/>
          </a:prstGeom>
          <a:noFill/>
          <a:ln/>
        </p:spPr>
        <p:txBody>
          <a:bodyPr wrap="square" lIns="0" tIns="0" rIns="0" bIns="0" rtlCol="0" anchor="t"/>
          <a:lstStyle/>
          <a:p>
            <a:pPr indent="0" marL="0">
              <a:buNone/>
            </a:pPr>
            <a:r>
              <a:rPr lang="en-US" sz="2000" b="1" dirty="0">
                <a:solidFill>
                  <a:schemeClr val="accent5"/>
                </a:solidFill>
              </a:rPr>
              <a:t>Learnings</a:t>
            </a:r>
            <a:endParaRPr lang="en-US" sz="2000" dirty="0"/>
          </a:p>
        </p:txBody>
      </p:sp>
      <p:sp>
        <p:nvSpPr>
          <p:cNvPr id="22" name="card-297"/>
          <p:cNvSpPr/>
          <p:nvPr/>
        </p:nvSpPr>
        <p:spPr>
          <a:xfrm>
            <a:off x="6278728" y="2194560"/>
            <a:ext cx="5364328" cy="868680"/>
          </a:xfrm>
          <a:prstGeom prst="roundRect">
            <a:avLst>
              <a:gd name="adj" fmla="val 12632"/>
            </a:avLst>
          </a:prstGeom>
          <a:solidFill>
            <a:schemeClr val="bg2"/>
          </a:solidFill>
          <a:ln/>
        </p:spPr>
      </p:sp>
      <p:sp>
        <p:nvSpPr>
          <p:cNvPr id="23" name="text-298"/>
          <p:cNvSpPr txBox="1"/>
          <p:nvPr/>
        </p:nvSpPr>
        <p:spPr>
          <a:xfrm>
            <a:off x="6507328" y="2194560"/>
            <a:ext cx="548640" cy="868680"/>
          </a:xfrm>
          <a:prstGeom prst="rect">
            <a:avLst/>
          </a:prstGeom>
          <a:noFill/>
          <a:ln/>
        </p:spPr>
        <p:txBody>
          <a:bodyPr wrap="square" lIns="0" tIns="0" rIns="0" bIns="0" rtlCol="0" anchor="ctr"/>
          <a:lstStyle/>
          <a:p>
            <a:pPr indent="0" marL="0">
              <a:buNone/>
            </a:pPr>
            <a:r>
              <a:rPr lang="en-US" sz="2000" b="1" dirty="0">
                <a:solidFill>
                  <a:schemeClr val="accent5"/>
                </a:solidFill>
              </a:rPr>
              <a:t>01</a:t>
            </a:r>
            <a:endParaRPr lang="en-US" sz="2000" dirty="0"/>
          </a:p>
        </p:txBody>
      </p:sp>
      <p:sp>
        <p:nvSpPr>
          <p:cNvPr id="24" name="text-299"/>
          <p:cNvSpPr txBox="1"/>
          <p:nvPr/>
        </p:nvSpPr>
        <p:spPr>
          <a:xfrm>
            <a:off x="7147408" y="2304288"/>
            <a:ext cx="4267048" cy="320040"/>
          </a:xfrm>
          <a:prstGeom prst="rect">
            <a:avLst/>
          </a:prstGeom>
          <a:noFill/>
          <a:ln/>
        </p:spPr>
        <p:txBody>
          <a:bodyPr wrap="square" lIns="0" tIns="0" rIns="0" bIns="0" rtlCol="0" anchor="t"/>
          <a:lstStyle/>
          <a:p>
            <a:pPr indent="0" marL="0">
              <a:buNone/>
            </a:pPr>
            <a:r>
              <a:rPr lang="en-US" sz="1500" b="1" dirty="0">
                <a:solidFill>
                  <a:schemeClr val="tx1"/>
                </a:solidFill>
              </a:rPr>
              <a:t>Layered Spring architecture</a:t>
            </a:r>
            <a:endParaRPr lang="en-US" sz="1500" dirty="0"/>
          </a:p>
        </p:txBody>
      </p:sp>
      <p:sp>
        <p:nvSpPr>
          <p:cNvPr id="25" name="text-300"/>
          <p:cNvSpPr txBox="1"/>
          <p:nvPr/>
        </p:nvSpPr>
        <p:spPr>
          <a:xfrm>
            <a:off x="7147408" y="2633472"/>
            <a:ext cx="4267048" cy="365760"/>
          </a:xfrm>
          <a:prstGeom prst="rect">
            <a:avLst/>
          </a:prstGeom>
          <a:noFill/>
          <a:ln/>
        </p:spPr>
        <p:txBody>
          <a:bodyPr wrap="square" lIns="0" tIns="0" rIns="0" bIns="0" rtlCol="0" anchor="t"/>
          <a:lstStyle/>
          <a:p>
            <a:pPr indent="0" marL="0">
              <a:buNone/>
            </a:pPr>
            <a:r>
              <a:rPr lang="en-US" sz="1300" dirty="0">
                <a:solidFill>
                  <a:schemeClr val="accent6"/>
                </a:solidFill>
              </a:rPr>
              <a:t>Controller, service, repository and global error handling</a:t>
            </a:r>
            <a:endParaRPr lang="en-US" sz="1300" dirty="0"/>
          </a:p>
        </p:txBody>
      </p:sp>
      <p:sp>
        <p:nvSpPr>
          <p:cNvPr id="26" name="card-301"/>
          <p:cNvSpPr/>
          <p:nvPr/>
        </p:nvSpPr>
        <p:spPr>
          <a:xfrm>
            <a:off x="6278728" y="3182112"/>
            <a:ext cx="5364328" cy="868680"/>
          </a:xfrm>
          <a:prstGeom prst="roundRect">
            <a:avLst>
              <a:gd name="adj" fmla="val 12632"/>
            </a:avLst>
          </a:prstGeom>
          <a:solidFill>
            <a:schemeClr val="bg2"/>
          </a:solidFill>
          <a:ln/>
        </p:spPr>
      </p:sp>
      <p:sp>
        <p:nvSpPr>
          <p:cNvPr id="27" name="text-302"/>
          <p:cNvSpPr txBox="1"/>
          <p:nvPr/>
        </p:nvSpPr>
        <p:spPr>
          <a:xfrm>
            <a:off x="6507328" y="3182112"/>
            <a:ext cx="548640" cy="868680"/>
          </a:xfrm>
          <a:prstGeom prst="rect">
            <a:avLst/>
          </a:prstGeom>
          <a:noFill/>
          <a:ln/>
        </p:spPr>
        <p:txBody>
          <a:bodyPr wrap="square" lIns="0" tIns="0" rIns="0" bIns="0" rtlCol="0" anchor="ctr"/>
          <a:lstStyle/>
          <a:p>
            <a:pPr indent="0" marL="0">
              <a:buNone/>
            </a:pPr>
            <a:r>
              <a:rPr lang="en-US" sz="2000" b="1" dirty="0">
                <a:solidFill>
                  <a:schemeClr val="accent5"/>
                </a:solidFill>
              </a:rPr>
              <a:t>02</a:t>
            </a:r>
            <a:endParaRPr lang="en-US" sz="2000" dirty="0"/>
          </a:p>
        </p:txBody>
      </p:sp>
      <p:sp>
        <p:nvSpPr>
          <p:cNvPr id="28" name="text-303"/>
          <p:cNvSpPr txBox="1"/>
          <p:nvPr/>
        </p:nvSpPr>
        <p:spPr>
          <a:xfrm>
            <a:off x="7147408" y="3291840"/>
            <a:ext cx="4267048" cy="320040"/>
          </a:xfrm>
          <a:prstGeom prst="rect">
            <a:avLst/>
          </a:prstGeom>
          <a:noFill/>
          <a:ln/>
        </p:spPr>
        <p:txBody>
          <a:bodyPr wrap="square" lIns="0" tIns="0" rIns="0" bIns="0" rtlCol="0" anchor="t"/>
          <a:lstStyle/>
          <a:p>
            <a:pPr indent="0" marL="0">
              <a:buNone/>
            </a:pPr>
            <a:r>
              <a:rPr lang="en-US" sz="1500" b="1" dirty="0">
                <a:solidFill>
                  <a:schemeClr val="tx1"/>
                </a:solidFill>
              </a:rPr>
              <a:t>Angular at scale</a:t>
            </a:r>
            <a:endParaRPr lang="en-US" sz="1500" dirty="0"/>
          </a:p>
        </p:txBody>
      </p:sp>
      <p:sp>
        <p:nvSpPr>
          <p:cNvPr id="29" name="text-304"/>
          <p:cNvSpPr txBox="1"/>
          <p:nvPr/>
        </p:nvSpPr>
        <p:spPr>
          <a:xfrm>
            <a:off x="7147408" y="3621024"/>
            <a:ext cx="4267048" cy="365760"/>
          </a:xfrm>
          <a:prstGeom prst="rect">
            <a:avLst/>
          </a:prstGeom>
          <a:noFill/>
          <a:ln/>
        </p:spPr>
        <p:txBody>
          <a:bodyPr wrap="square" lIns="0" tIns="0" rIns="0" bIns="0" rtlCol="0" anchor="t"/>
          <a:lstStyle/>
          <a:p>
            <a:pPr indent="0" marL="0">
              <a:buNone/>
            </a:pPr>
            <a:r>
              <a:rPr lang="en-US" sz="1300" dirty="0">
                <a:solidFill>
                  <a:schemeClr val="accent6"/>
                </a:solidFill>
              </a:rPr>
              <a:t>Guards, interceptors, services and reusable components</a:t>
            </a:r>
            <a:endParaRPr lang="en-US" sz="1300" dirty="0"/>
          </a:p>
        </p:txBody>
      </p:sp>
      <p:sp>
        <p:nvSpPr>
          <p:cNvPr id="30" name="card-305"/>
          <p:cNvSpPr/>
          <p:nvPr/>
        </p:nvSpPr>
        <p:spPr>
          <a:xfrm>
            <a:off x="6278728" y="4169664"/>
            <a:ext cx="5364328" cy="868680"/>
          </a:xfrm>
          <a:prstGeom prst="roundRect">
            <a:avLst>
              <a:gd name="adj" fmla="val 12632"/>
            </a:avLst>
          </a:prstGeom>
          <a:solidFill>
            <a:schemeClr val="bg2"/>
          </a:solidFill>
          <a:ln/>
        </p:spPr>
      </p:sp>
      <p:sp>
        <p:nvSpPr>
          <p:cNvPr id="31" name="text-306"/>
          <p:cNvSpPr txBox="1"/>
          <p:nvPr/>
        </p:nvSpPr>
        <p:spPr>
          <a:xfrm>
            <a:off x="6507328" y="4169664"/>
            <a:ext cx="548640" cy="868680"/>
          </a:xfrm>
          <a:prstGeom prst="rect">
            <a:avLst/>
          </a:prstGeom>
          <a:noFill/>
          <a:ln/>
        </p:spPr>
        <p:txBody>
          <a:bodyPr wrap="square" lIns="0" tIns="0" rIns="0" bIns="0" rtlCol="0" anchor="ctr"/>
          <a:lstStyle/>
          <a:p>
            <a:pPr indent="0" marL="0">
              <a:buNone/>
            </a:pPr>
            <a:r>
              <a:rPr lang="en-US" sz="2000" b="1" dirty="0">
                <a:solidFill>
                  <a:schemeClr val="accent5"/>
                </a:solidFill>
              </a:rPr>
              <a:t>03</a:t>
            </a:r>
            <a:endParaRPr lang="en-US" sz="2000" dirty="0"/>
          </a:p>
        </p:txBody>
      </p:sp>
      <p:sp>
        <p:nvSpPr>
          <p:cNvPr id="32" name="text-307"/>
          <p:cNvSpPr txBox="1"/>
          <p:nvPr/>
        </p:nvSpPr>
        <p:spPr>
          <a:xfrm>
            <a:off x="7147408" y="4279392"/>
            <a:ext cx="4267048" cy="320040"/>
          </a:xfrm>
          <a:prstGeom prst="rect">
            <a:avLst/>
          </a:prstGeom>
          <a:noFill/>
          <a:ln/>
        </p:spPr>
        <p:txBody>
          <a:bodyPr wrap="square" lIns="0" tIns="0" rIns="0" bIns="0" rtlCol="0" anchor="t"/>
          <a:lstStyle/>
          <a:p>
            <a:pPr indent="0" marL="0">
              <a:buNone/>
            </a:pPr>
            <a:r>
              <a:rPr lang="en-US" sz="1500" b="1" dirty="0">
                <a:solidFill>
                  <a:schemeClr val="tx1"/>
                </a:solidFill>
              </a:rPr>
              <a:t>Working with LLM APIs</a:t>
            </a:r>
            <a:endParaRPr lang="en-US" sz="1500" dirty="0"/>
          </a:p>
        </p:txBody>
      </p:sp>
      <p:sp>
        <p:nvSpPr>
          <p:cNvPr id="33" name="text-308"/>
          <p:cNvSpPr txBox="1"/>
          <p:nvPr/>
        </p:nvSpPr>
        <p:spPr>
          <a:xfrm>
            <a:off x="7147408" y="4608576"/>
            <a:ext cx="4267048" cy="365760"/>
          </a:xfrm>
          <a:prstGeom prst="rect">
            <a:avLst/>
          </a:prstGeom>
          <a:noFill/>
          <a:ln/>
        </p:spPr>
        <p:txBody>
          <a:bodyPr wrap="square" lIns="0" tIns="0" rIns="0" bIns="0" rtlCol="0" anchor="t"/>
          <a:lstStyle/>
          <a:p>
            <a:pPr indent="0" marL="0">
              <a:buNone/>
            </a:pPr>
            <a:r>
              <a:rPr lang="en-US" sz="1300" dirty="0">
                <a:solidFill>
                  <a:schemeClr val="accent6"/>
                </a:solidFill>
              </a:rPr>
              <a:t>Prompts, JSON replies and checking AI output</a:t>
            </a:r>
            <a:endParaRPr lang="en-US" sz="1300" dirty="0"/>
          </a:p>
        </p:txBody>
      </p:sp>
      <p:sp>
        <p:nvSpPr>
          <p:cNvPr id="34" name="card-309"/>
          <p:cNvSpPr/>
          <p:nvPr/>
        </p:nvSpPr>
        <p:spPr>
          <a:xfrm>
            <a:off x="6278728" y="5157216"/>
            <a:ext cx="5364328" cy="868680"/>
          </a:xfrm>
          <a:prstGeom prst="roundRect">
            <a:avLst>
              <a:gd name="adj" fmla="val 12632"/>
            </a:avLst>
          </a:prstGeom>
          <a:solidFill>
            <a:schemeClr val="bg2"/>
          </a:solidFill>
          <a:ln/>
        </p:spPr>
      </p:sp>
      <p:sp>
        <p:nvSpPr>
          <p:cNvPr id="35" name="text-310"/>
          <p:cNvSpPr txBox="1"/>
          <p:nvPr/>
        </p:nvSpPr>
        <p:spPr>
          <a:xfrm>
            <a:off x="6507328" y="5157216"/>
            <a:ext cx="548640" cy="868680"/>
          </a:xfrm>
          <a:prstGeom prst="rect">
            <a:avLst/>
          </a:prstGeom>
          <a:noFill/>
          <a:ln/>
        </p:spPr>
        <p:txBody>
          <a:bodyPr wrap="square" lIns="0" tIns="0" rIns="0" bIns="0" rtlCol="0" anchor="ctr"/>
          <a:lstStyle/>
          <a:p>
            <a:pPr indent="0" marL="0">
              <a:buNone/>
            </a:pPr>
            <a:r>
              <a:rPr lang="en-US" sz="2000" b="1" dirty="0">
                <a:solidFill>
                  <a:schemeClr val="accent5"/>
                </a:solidFill>
              </a:rPr>
              <a:t>04</a:t>
            </a:r>
            <a:endParaRPr lang="en-US" sz="2000" dirty="0"/>
          </a:p>
        </p:txBody>
      </p:sp>
      <p:sp>
        <p:nvSpPr>
          <p:cNvPr id="36" name="text-311"/>
          <p:cNvSpPr txBox="1"/>
          <p:nvPr/>
        </p:nvSpPr>
        <p:spPr>
          <a:xfrm>
            <a:off x="7147408" y="5266944"/>
            <a:ext cx="4267048" cy="320040"/>
          </a:xfrm>
          <a:prstGeom prst="rect">
            <a:avLst/>
          </a:prstGeom>
          <a:noFill/>
          <a:ln/>
        </p:spPr>
        <p:txBody>
          <a:bodyPr wrap="square" lIns="0" tIns="0" rIns="0" bIns="0" rtlCol="0" anchor="t"/>
          <a:lstStyle/>
          <a:p>
            <a:pPr indent="0" marL="0">
              <a:buNone/>
            </a:pPr>
            <a:r>
              <a:rPr lang="en-US" sz="1500" b="1" dirty="0">
                <a:solidFill>
                  <a:schemeClr val="tx1"/>
                </a:solidFill>
              </a:rPr>
              <a:t>Teamwork in practice</a:t>
            </a:r>
            <a:endParaRPr lang="en-US" sz="1500" dirty="0"/>
          </a:p>
        </p:txBody>
      </p:sp>
      <p:sp>
        <p:nvSpPr>
          <p:cNvPr id="37" name="text-312"/>
          <p:cNvSpPr txBox="1"/>
          <p:nvPr/>
        </p:nvSpPr>
        <p:spPr>
          <a:xfrm>
            <a:off x="7147408" y="5596128"/>
            <a:ext cx="4267048" cy="365760"/>
          </a:xfrm>
          <a:prstGeom prst="rect">
            <a:avLst/>
          </a:prstGeom>
          <a:noFill/>
          <a:ln/>
        </p:spPr>
        <p:txBody>
          <a:bodyPr wrap="square" lIns="0" tIns="0" rIns="0" bIns="0" rtlCol="0" anchor="t"/>
          <a:lstStyle/>
          <a:p>
            <a:pPr indent="0" marL="0">
              <a:buNone/>
            </a:pPr>
            <a:r>
              <a:rPr lang="en-US" sz="1300" dirty="0">
                <a:solidFill>
                  <a:schemeClr val="accent6"/>
                </a:solidFill>
              </a:rPr>
              <a:t>Git, code reviews and testing with Postman and Karma</a:t>
            </a:r>
            <a:endParaRPr lang="en-US" sz="13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chemeClr val="tx1"/>
                </a:solidFill>
              </a:rPr>
              <a:t>Future scope</a:t>
            </a:r>
            <a:endParaRPr lang="en-US" sz="3200" dirty="0"/>
          </a:p>
        </p:txBody>
      </p:sp>
      <p:sp>
        <p:nvSpPr>
          <p:cNvPr id="3" name="Text 2"/>
          <p:cNvSpPr/>
          <p:nvPr>
            <p:ph idx="103" type="body" hasCustomPrompt="1"/>
          </p:nvPr>
        </p:nvSpPr>
        <p:spPr>
          <a:xfrm>
            <a:off x="548640" y="1051560"/>
            <a:ext cx="11094415" cy="411480"/>
          </a:xfrm>
          <a:prstGeom prst="rect">
            <a:avLst/>
          </a:prstGeom>
          <a:noFill/>
          <a:ln/>
        </p:spPr>
        <p:txBody>
          <a:bodyPr wrap="square" lIns="0" tIns="0" rIns="0" bIns="0" rtlCol="0" anchor="t"/>
          <a:lstStyle/>
          <a:p>
            <a:pPr indent="0" marL="0">
              <a:buNone/>
            </a:pPr>
            <a:r>
              <a:rPr lang="en-US" sz="1600" dirty="0">
                <a:solidFill>
                  <a:schemeClr val="accent6"/>
                </a:solidFill>
              </a:rPr>
              <a:t>Where ArchitectPoint goes next</a:t>
            </a:r>
            <a:endParaRPr lang="en-US" sz="1600" dirty="0"/>
          </a:p>
        </p:txBody>
      </p:sp>
      <p:sp>
        <p:nvSpPr>
          <p:cNvPr id="4" name="card-313"/>
          <p:cNvSpPr/>
          <p:nvPr/>
        </p:nvSpPr>
        <p:spPr>
          <a:xfrm>
            <a:off x="548640" y="1737360"/>
            <a:ext cx="3515258" cy="1965960"/>
          </a:xfrm>
          <a:prstGeom prst="roundRect">
            <a:avLst>
              <a:gd name="adj" fmla="val 5581"/>
            </a:avLst>
          </a:prstGeom>
          <a:solidFill>
            <a:schemeClr val="bg2"/>
          </a:solidFill>
          <a:ln/>
        </p:spPr>
      </p:sp>
      <p:sp>
        <p:nvSpPr>
          <p:cNvPr id="5" name="icon-bg-314"/>
          <p:cNvSpPr/>
          <p:nvPr/>
        </p:nvSpPr>
        <p:spPr>
          <a:xfrm>
            <a:off x="822960" y="2011680"/>
            <a:ext cx="640080" cy="640080"/>
          </a:xfrm>
          <a:prstGeom prst="ellipse">
            <a:avLst/>
          </a:prstGeom>
          <a:solidFill>
            <a:schemeClr val="accent1"/>
          </a:solidFill>
          <a:ln/>
        </p:spPr>
      </p:sp>
      <p:pic>
        <p:nvPicPr>
          <p:cNvPr id="6" name="icon-315" descr="preencoded.png">    </p:cNvPr>
          <p:cNvPicPr>
            <a:picLocks noChangeAspect="1"/>
          </p:cNvPicPr>
          <p:nvPr/>
        </p:nvPicPr>
        <p:blipFill>
          <a:blip r:embed="rId1"/>
          <a:stretch>
            <a:fillRect/>
          </a:stretch>
        </p:blipFill>
        <p:spPr>
          <a:xfrm>
            <a:off x="989381" y="2178101"/>
            <a:ext cx="307238" cy="307238"/>
          </a:xfrm>
          <a:prstGeom prst="rect">
            <a:avLst/>
          </a:prstGeom>
        </p:spPr>
      </p:pic>
      <p:sp>
        <p:nvSpPr>
          <p:cNvPr id="7" name="text-316"/>
          <p:cNvSpPr txBox="1"/>
          <p:nvPr/>
        </p:nvSpPr>
        <p:spPr>
          <a:xfrm>
            <a:off x="822960" y="2743200"/>
            <a:ext cx="2966618" cy="365760"/>
          </a:xfrm>
          <a:prstGeom prst="rect">
            <a:avLst/>
          </a:prstGeom>
          <a:noFill/>
          <a:ln/>
        </p:spPr>
        <p:txBody>
          <a:bodyPr wrap="square" lIns="0" tIns="0" rIns="0" bIns="0" rtlCol="0" anchor="t"/>
          <a:lstStyle/>
          <a:p>
            <a:pPr indent="0" marL="0">
              <a:buNone/>
            </a:pPr>
            <a:r>
              <a:rPr lang="en-US" sz="1700" b="1" dirty="0">
                <a:solidFill>
                  <a:schemeClr val="tx1"/>
                </a:solidFill>
              </a:rPr>
              <a:t>Appointment booking</a:t>
            </a:r>
            <a:endParaRPr lang="en-US" sz="1700" dirty="0"/>
          </a:p>
        </p:txBody>
      </p:sp>
      <p:sp>
        <p:nvSpPr>
          <p:cNvPr id="8" name="text-317"/>
          <p:cNvSpPr txBox="1"/>
          <p:nvPr/>
        </p:nvSpPr>
        <p:spPr>
          <a:xfrm>
            <a:off x="822960" y="310896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Book site visits and consultations with calendar slots</a:t>
            </a:r>
            <a:endParaRPr lang="en-US" sz="1400" dirty="0"/>
          </a:p>
        </p:txBody>
      </p:sp>
      <p:sp>
        <p:nvSpPr>
          <p:cNvPr id="9" name="card-318"/>
          <p:cNvSpPr/>
          <p:nvPr/>
        </p:nvSpPr>
        <p:spPr>
          <a:xfrm>
            <a:off x="4338218" y="1737360"/>
            <a:ext cx="3515258" cy="1965960"/>
          </a:xfrm>
          <a:prstGeom prst="roundRect">
            <a:avLst>
              <a:gd name="adj" fmla="val 5581"/>
            </a:avLst>
          </a:prstGeom>
          <a:solidFill>
            <a:schemeClr val="bg2"/>
          </a:solidFill>
          <a:ln/>
        </p:spPr>
      </p:sp>
      <p:sp>
        <p:nvSpPr>
          <p:cNvPr id="10" name="icon-bg-319"/>
          <p:cNvSpPr/>
          <p:nvPr/>
        </p:nvSpPr>
        <p:spPr>
          <a:xfrm>
            <a:off x="4612538" y="2011680"/>
            <a:ext cx="640080" cy="640080"/>
          </a:xfrm>
          <a:prstGeom prst="ellipse">
            <a:avLst/>
          </a:prstGeom>
          <a:solidFill>
            <a:schemeClr val="accent1"/>
          </a:solidFill>
          <a:ln/>
        </p:spPr>
      </p:sp>
      <p:pic>
        <p:nvPicPr>
          <p:cNvPr id="11" name="icon-320" descr="preencoded.png">    </p:cNvPr>
          <p:cNvPicPr>
            <a:picLocks noChangeAspect="1"/>
          </p:cNvPicPr>
          <p:nvPr/>
        </p:nvPicPr>
        <p:blipFill>
          <a:blip r:embed="rId2"/>
          <a:stretch>
            <a:fillRect/>
          </a:stretch>
        </p:blipFill>
        <p:spPr>
          <a:xfrm>
            <a:off x="4778959" y="2178101"/>
            <a:ext cx="307238" cy="307238"/>
          </a:xfrm>
          <a:prstGeom prst="rect">
            <a:avLst/>
          </a:prstGeom>
        </p:spPr>
      </p:pic>
      <p:sp>
        <p:nvSpPr>
          <p:cNvPr id="12" name="text-321"/>
          <p:cNvSpPr txBox="1"/>
          <p:nvPr/>
        </p:nvSpPr>
        <p:spPr>
          <a:xfrm>
            <a:off x="4612538" y="2743200"/>
            <a:ext cx="2966618" cy="365760"/>
          </a:xfrm>
          <a:prstGeom prst="rect">
            <a:avLst/>
          </a:prstGeom>
          <a:noFill/>
          <a:ln/>
        </p:spPr>
        <p:txBody>
          <a:bodyPr wrap="square" lIns="0" tIns="0" rIns="0" bIns="0" rtlCol="0" anchor="t"/>
          <a:lstStyle/>
          <a:p>
            <a:pPr indent="0" marL="0">
              <a:buNone/>
            </a:pPr>
            <a:r>
              <a:rPr lang="en-US" sz="1700" b="1" dirty="0">
                <a:solidFill>
                  <a:schemeClr val="tx1"/>
                </a:solidFill>
              </a:rPr>
              <a:t>Real-time chat</a:t>
            </a:r>
            <a:endParaRPr lang="en-US" sz="1700" dirty="0"/>
          </a:p>
        </p:txBody>
      </p:sp>
      <p:sp>
        <p:nvSpPr>
          <p:cNvPr id="13" name="text-322"/>
          <p:cNvSpPr txBox="1"/>
          <p:nvPr/>
        </p:nvSpPr>
        <p:spPr>
          <a:xfrm>
            <a:off x="4612538" y="310896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WebSocket messaging and in-app notifications</a:t>
            </a:r>
            <a:endParaRPr lang="en-US" sz="1400" dirty="0"/>
          </a:p>
        </p:txBody>
      </p:sp>
      <p:sp>
        <p:nvSpPr>
          <p:cNvPr id="14" name="card-323"/>
          <p:cNvSpPr/>
          <p:nvPr/>
        </p:nvSpPr>
        <p:spPr>
          <a:xfrm>
            <a:off x="8127797" y="1737360"/>
            <a:ext cx="3515258" cy="1965960"/>
          </a:xfrm>
          <a:prstGeom prst="roundRect">
            <a:avLst>
              <a:gd name="adj" fmla="val 5581"/>
            </a:avLst>
          </a:prstGeom>
          <a:solidFill>
            <a:schemeClr val="bg2"/>
          </a:solidFill>
          <a:ln/>
        </p:spPr>
      </p:sp>
      <p:sp>
        <p:nvSpPr>
          <p:cNvPr id="15" name="icon-bg-324"/>
          <p:cNvSpPr/>
          <p:nvPr/>
        </p:nvSpPr>
        <p:spPr>
          <a:xfrm>
            <a:off x="8402117" y="2011680"/>
            <a:ext cx="640080" cy="640080"/>
          </a:xfrm>
          <a:prstGeom prst="ellipse">
            <a:avLst/>
          </a:prstGeom>
          <a:solidFill>
            <a:schemeClr val="accent1"/>
          </a:solidFill>
          <a:ln/>
        </p:spPr>
      </p:sp>
      <p:pic>
        <p:nvPicPr>
          <p:cNvPr id="16" name="icon-325" descr="preencoded.png">    </p:cNvPr>
          <p:cNvPicPr>
            <a:picLocks noChangeAspect="1"/>
          </p:cNvPicPr>
          <p:nvPr/>
        </p:nvPicPr>
        <p:blipFill>
          <a:blip r:embed="rId3"/>
          <a:stretch>
            <a:fillRect/>
          </a:stretch>
        </p:blipFill>
        <p:spPr>
          <a:xfrm>
            <a:off x="8568538" y="2178101"/>
            <a:ext cx="307238" cy="307238"/>
          </a:xfrm>
          <a:prstGeom prst="rect">
            <a:avLst/>
          </a:prstGeom>
        </p:spPr>
      </p:pic>
      <p:sp>
        <p:nvSpPr>
          <p:cNvPr id="17" name="text-326"/>
          <p:cNvSpPr txBox="1"/>
          <p:nvPr/>
        </p:nvSpPr>
        <p:spPr>
          <a:xfrm>
            <a:off x="8402117" y="2743200"/>
            <a:ext cx="2966618" cy="365760"/>
          </a:xfrm>
          <a:prstGeom prst="rect">
            <a:avLst/>
          </a:prstGeom>
          <a:noFill/>
          <a:ln/>
        </p:spPr>
        <p:txBody>
          <a:bodyPr wrap="square" lIns="0" tIns="0" rIns="0" bIns="0" rtlCol="0" anchor="t"/>
          <a:lstStyle/>
          <a:p>
            <a:pPr indent="0" marL="0">
              <a:buNone/>
            </a:pPr>
            <a:r>
              <a:rPr lang="en-US" sz="1700" b="1" dirty="0">
                <a:solidFill>
                  <a:schemeClr val="tx1"/>
                </a:solidFill>
              </a:rPr>
              <a:t>Rich portfolios</a:t>
            </a:r>
            <a:endParaRPr lang="en-US" sz="1700" dirty="0"/>
          </a:p>
        </p:txBody>
      </p:sp>
      <p:sp>
        <p:nvSpPr>
          <p:cNvPr id="18" name="text-327"/>
          <p:cNvSpPr txBox="1"/>
          <p:nvPr/>
        </p:nvSpPr>
        <p:spPr>
          <a:xfrm>
            <a:off x="8402117" y="310896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Upload project images and documents to cloud storage</a:t>
            </a:r>
            <a:endParaRPr lang="en-US" sz="1400" dirty="0"/>
          </a:p>
        </p:txBody>
      </p:sp>
      <p:sp>
        <p:nvSpPr>
          <p:cNvPr id="19" name="card-328"/>
          <p:cNvSpPr/>
          <p:nvPr/>
        </p:nvSpPr>
        <p:spPr>
          <a:xfrm>
            <a:off x="548640" y="3886200"/>
            <a:ext cx="3515258" cy="1965960"/>
          </a:xfrm>
          <a:prstGeom prst="roundRect">
            <a:avLst>
              <a:gd name="adj" fmla="val 5581"/>
            </a:avLst>
          </a:prstGeom>
          <a:solidFill>
            <a:schemeClr val="bg2"/>
          </a:solidFill>
          <a:ln/>
        </p:spPr>
      </p:sp>
      <p:sp>
        <p:nvSpPr>
          <p:cNvPr id="20" name="icon-bg-329"/>
          <p:cNvSpPr/>
          <p:nvPr/>
        </p:nvSpPr>
        <p:spPr>
          <a:xfrm>
            <a:off x="822960" y="4160520"/>
            <a:ext cx="640080" cy="640080"/>
          </a:xfrm>
          <a:prstGeom prst="ellipse">
            <a:avLst/>
          </a:prstGeom>
          <a:solidFill>
            <a:schemeClr val="accent1"/>
          </a:solidFill>
          <a:ln/>
        </p:spPr>
      </p:sp>
      <p:pic>
        <p:nvPicPr>
          <p:cNvPr id="21" name="icon-330" descr="preencoded.png">    </p:cNvPr>
          <p:cNvPicPr>
            <a:picLocks noChangeAspect="1"/>
          </p:cNvPicPr>
          <p:nvPr/>
        </p:nvPicPr>
        <p:blipFill>
          <a:blip r:embed="rId4"/>
          <a:stretch>
            <a:fillRect/>
          </a:stretch>
        </p:blipFill>
        <p:spPr>
          <a:xfrm>
            <a:off x="989381" y="4326941"/>
            <a:ext cx="307238" cy="307238"/>
          </a:xfrm>
          <a:prstGeom prst="rect">
            <a:avLst/>
          </a:prstGeom>
        </p:spPr>
      </p:pic>
      <p:sp>
        <p:nvSpPr>
          <p:cNvPr id="22" name="text-331"/>
          <p:cNvSpPr txBox="1"/>
          <p:nvPr/>
        </p:nvSpPr>
        <p:spPr>
          <a:xfrm>
            <a:off x="822960" y="4892040"/>
            <a:ext cx="2966618" cy="365760"/>
          </a:xfrm>
          <a:prstGeom prst="rect">
            <a:avLst/>
          </a:prstGeom>
          <a:noFill/>
          <a:ln/>
        </p:spPr>
        <p:txBody>
          <a:bodyPr wrap="square" lIns="0" tIns="0" rIns="0" bIns="0" rtlCol="0" anchor="t"/>
          <a:lstStyle/>
          <a:p>
            <a:pPr indent="0" marL="0">
              <a:buNone/>
            </a:pPr>
            <a:r>
              <a:rPr lang="en-US" sz="1700" b="1" dirty="0">
                <a:solidFill>
                  <a:schemeClr val="tx1"/>
                </a:solidFill>
              </a:rPr>
              <a:t>Smarter Archie</a:t>
            </a:r>
            <a:endParaRPr lang="en-US" sz="1700" dirty="0"/>
          </a:p>
        </p:txBody>
      </p:sp>
      <p:sp>
        <p:nvSpPr>
          <p:cNvPr id="23" name="text-332"/>
          <p:cNvSpPr txBox="1"/>
          <p:nvPr/>
        </p:nvSpPr>
        <p:spPr>
          <a:xfrm>
            <a:off x="822960" y="525780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Match by budget, style and history; voice and multilingual chat</a:t>
            </a:r>
            <a:endParaRPr lang="en-US" sz="1400" dirty="0"/>
          </a:p>
        </p:txBody>
      </p:sp>
      <p:sp>
        <p:nvSpPr>
          <p:cNvPr id="24" name="card-333"/>
          <p:cNvSpPr/>
          <p:nvPr/>
        </p:nvSpPr>
        <p:spPr>
          <a:xfrm>
            <a:off x="4338218" y="3886200"/>
            <a:ext cx="3515258" cy="1965960"/>
          </a:xfrm>
          <a:prstGeom prst="roundRect">
            <a:avLst>
              <a:gd name="adj" fmla="val 5581"/>
            </a:avLst>
          </a:prstGeom>
          <a:solidFill>
            <a:schemeClr val="bg2"/>
          </a:solidFill>
          <a:ln/>
        </p:spPr>
      </p:sp>
      <p:sp>
        <p:nvSpPr>
          <p:cNvPr id="25" name="icon-bg-334"/>
          <p:cNvSpPr/>
          <p:nvPr/>
        </p:nvSpPr>
        <p:spPr>
          <a:xfrm>
            <a:off x="4612538" y="4160520"/>
            <a:ext cx="640080" cy="640080"/>
          </a:xfrm>
          <a:prstGeom prst="ellipse">
            <a:avLst/>
          </a:prstGeom>
          <a:solidFill>
            <a:schemeClr val="accent1"/>
          </a:solidFill>
          <a:ln/>
        </p:spPr>
      </p:sp>
      <p:pic>
        <p:nvPicPr>
          <p:cNvPr id="26" name="icon-335" descr="preencoded.png">    </p:cNvPr>
          <p:cNvPicPr>
            <a:picLocks noChangeAspect="1"/>
          </p:cNvPicPr>
          <p:nvPr/>
        </p:nvPicPr>
        <p:blipFill>
          <a:blip r:embed="rId5"/>
          <a:stretch>
            <a:fillRect/>
          </a:stretch>
        </p:blipFill>
        <p:spPr>
          <a:xfrm>
            <a:off x="4778959" y="4326941"/>
            <a:ext cx="307238" cy="307238"/>
          </a:xfrm>
          <a:prstGeom prst="rect">
            <a:avLst/>
          </a:prstGeom>
        </p:spPr>
      </p:pic>
      <p:sp>
        <p:nvSpPr>
          <p:cNvPr id="27" name="text-336"/>
          <p:cNvSpPr txBox="1"/>
          <p:nvPr/>
        </p:nvSpPr>
        <p:spPr>
          <a:xfrm>
            <a:off x="4612538" y="4892040"/>
            <a:ext cx="2966618" cy="365760"/>
          </a:xfrm>
          <a:prstGeom prst="rect">
            <a:avLst/>
          </a:prstGeom>
          <a:noFill/>
          <a:ln/>
        </p:spPr>
        <p:txBody>
          <a:bodyPr wrap="square" lIns="0" tIns="0" rIns="0" bIns="0" rtlCol="0" anchor="t"/>
          <a:lstStyle/>
          <a:p>
            <a:pPr indent="0" marL="0">
              <a:buNone/>
            </a:pPr>
            <a:r>
              <a:rPr lang="en-US" sz="1700" b="1" dirty="0">
                <a:solidFill>
                  <a:schemeClr val="tx1"/>
                </a:solidFill>
              </a:rPr>
              <a:t>Cloud deployment</a:t>
            </a:r>
            <a:endParaRPr lang="en-US" sz="1700" dirty="0"/>
          </a:p>
        </p:txBody>
      </p:sp>
      <p:sp>
        <p:nvSpPr>
          <p:cNvPr id="28" name="text-337"/>
          <p:cNvSpPr txBox="1"/>
          <p:nvPr/>
        </p:nvSpPr>
        <p:spPr>
          <a:xfrm>
            <a:off x="4612538" y="525780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Docker containers on AWS or Azure with CI/CD pipelines</a:t>
            </a:r>
            <a:endParaRPr lang="en-US" sz="1400" dirty="0"/>
          </a:p>
        </p:txBody>
      </p:sp>
      <p:sp>
        <p:nvSpPr>
          <p:cNvPr id="29" name="card-338"/>
          <p:cNvSpPr/>
          <p:nvPr/>
        </p:nvSpPr>
        <p:spPr>
          <a:xfrm>
            <a:off x="8127797" y="3886200"/>
            <a:ext cx="3515258" cy="1965960"/>
          </a:xfrm>
          <a:prstGeom prst="roundRect">
            <a:avLst>
              <a:gd name="adj" fmla="val 5581"/>
            </a:avLst>
          </a:prstGeom>
          <a:solidFill>
            <a:schemeClr val="bg2"/>
          </a:solidFill>
          <a:ln/>
        </p:spPr>
      </p:sp>
      <p:sp>
        <p:nvSpPr>
          <p:cNvPr id="30" name="icon-bg-339"/>
          <p:cNvSpPr/>
          <p:nvPr/>
        </p:nvSpPr>
        <p:spPr>
          <a:xfrm>
            <a:off x="8402117" y="4160520"/>
            <a:ext cx="640080" cy="640080"/>
          </a:xfrm>
          <a:prstGeom prst="ellipse">
            <a:avLst/>
          </a:prstGeom>
          <a:solidFill>
            <a:schemeClr val="accent1"/>
          </a:solidFill>
          <a:ln/>
        </p:spPr>
      </p:sp>
      <p:pic>
        <p:nvPicPr>
          <p:cNvPr id="31" name="icon-340" descr="preencoded.png">    </p:cNvPr>
          <p:cNvPicPr>
            <a:picLocks noChangeAspect="1"/>
          </p:cNvPicPr>
          <p:nvPr/>
        </p:nvPicPr>
        <p:blipFill>
          <a:blip r:embed="rId6"/>
          <a:stretch>
            <a:fillRect/>
          </a:stretch>
        </p:blipFill>
        <p:spPr>
          <a:xfrm>
            <a:off x="8568538" y="4326941"/>
            <a:ext cx="307238" cy="307238"/>
          </a:xfrm>
          <a:prstGeom prst="rect">
            <a:avLst/>
          </a:prstGeom>
        </p:spPr>
      </p:pic>
      <p:sp>
        <p:nvSpPr>
          <p:cNvPr id="32" name="text-341"/>
          <p:cNvSpPr txBox="1"/>
          <p:nvPr/>
        </p:nvSpPr>
        <p:spPr>
          <a:xfrm>
            <a:off x="8402117" y="4892040"/>
            <a:ext cx="2966618" cy="365760"/>
          </a:xfrm>
          <a:prstGeom prst="rect">
            <a:avLst/>
          </a:prstGeom>
          <a:noFill/>
          <a:ln/>
        </p:spPr>
        <p:txBody>
          <a:bodyPr wrap="square" lIns="0" tIns="0" rIns="0" bIns="0" rtlCol="0" anchor="t"/>
          <a:lstStyle/>
          <a:p>
            <a:pPr indent="0" marL="0">
              <a:buNone/>
            </a:pPr>
            <a:r>
              <a:rPr lang="en-US" sz="1700" b="1" dirty="0">
                <a:solidFill>
                  <a:schemeClr val="tx1"/>
                </a:solidFill>
              </a:rPr>
              <a:t>Mobile app</a:t>
            </a:r>
            <a:endParaRPr lang="en-US" sz="1700" dirty="0"/>
          </a:p>
        </p:txBody>
      </p:sp>
      <p:sp>
        <p:nvSpPr>
          <p:cNvPr id="33" name="text-342"/>
          <p:cNvSpPr txBox="1"/>
          <p:nvPr/>
        </p:nvSpPr>
        <p:spPr>
          <a:xfrm>
            <a:off x="8402117" y="5257800"/>
            <a:ext cx="2966618" cy="502920"/>
          </a:xfrm>
          <a:prstGeom prst="rect">
            <a:avLst/>
          </a:prstGeom>
          <a:noFill/>
          <a:ln/>
        </p:spPr>
        <p:txBody>
          <a:bodyPr wrap="square" lIns="0" tIns="0" rIns="0" bIns="0" rtlCol="0" anchor="t"/>
          <a:lstStyle/>
          <a:p>
            <a:pPr indent="0" marL="0">
              <a:buNone/>
            </a:pPr>
            <a:r>
              <a:rPr lang="en-US" sz="1400" dirty="0">
                <a:solidFill>
                  <a:schemeClr val="accent6"/>
                </a:solidFill>
              </a:rPr>
              <a:t>Installable PWA or native app for clients on the go</a:t>
            </a:r>
            <a:endParaRPr lang="en-US" sz="1400" dirty="0"/>
          </a:p>
        </p:txBody>
      </p:sp>
      <p:sp>
        <p:nvSpPr>
          <p:cNvPr id="25" name="Slide Number Placeholder 0"/>
          <p:cNvSpPr>
            <a:spLocks noGrp="1"/>
          </p:cNvSpPr>
          <p:nvPr>
            <p:ph type="sldNum" sz="quarter" idx="4294967295"/>
          </p:nvPr>
        </p:nvSpPr>
        <p:spPr>
          <a:xfrm>
            <a:off x="11201400"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1371600"/>
            <a:ext cx="7315200" cy="2011680"/>
          </a:xfrm>
          <a:prstGeom prst="rect">
            <a:avLst/>
          </a:prstGeom>
          <a:noFill/>
          <a:ln/>
        </p:spPr>
        <p:txBody>
          <a:bodyPr wrap="square" lIns="0" tIns="0" rIns="0" bIns="0" rtlCol="0" anchor="b"/>
          <a:lstStyle/>
          <a:p>
            <a:pPr indent="0" marL="0">
              <a:buNone/>
            </a:pPr>
            <a:r>
              <a:rPr lang="en-US" sz="5400" b="1" dirty="0">
                <a:solidFill>
                  <a:schemeClr val="bg1"/>
                </a:solidFill>
              </a:rPr>
              <a:t>It’s time to</a:t>
            </a:r>
            <a:endParaRPr lang="en-US" sz="5400" dirty="0"/>
          </a:p>
          <a:p>
            <a:pPr indent="0" marL="0">
              <a:buNone/>
            </a:pPr>
            <a:r>
              <a:rPr lang="en-US" sz="5400" b="1" dirty="0">
                <a:solidFill>
                  <a:srgbClr val="F15A22"/>
                </a:solidFill>
              </a:rPr>
              <a:t>Outcreate</a:t>
            </a:r>
            <a:endParaRPr lang="en-US" sz="5400" dirty="0"/>
          </a:p>
        </p:txBody>
      </p:sp>
      <p:sp>
        <p:nvSpPr>
          <p:cNvPr id="3" name="Text 1"/>
          <p:cNvSpPr/>
          <p:nvPr>
            <p:ph idx="102" type="body" hasCustomPrompt="1"/>
          </p:nvPr>
        </p:nvSpPr>
        <p:spPr>
          <a:xfrm>
            <a:off x="548640" y="3657600"/>
            <a:ext cx="7315200" cy="731520"/>
          </a:xfrm>
          <a:prstGeom prst="rect">
            <a:avLst/>
          </a:prstGeom>
          <a:noFill/>
          <a:ln/>
        </p:spPr>
        <p:txBody>
          <a:bodyPr wrap="square" lIns="0" tIns="0" rIns="0" bIns="0" rtlCol="0" anchor="t"/>
          <a:lstStyle/>
          <a:p>
            <a:pPr indent="0" marL="0">
              <a:buNone/>
            </a:pPr>
            <a:r>
              <a:rPr lang="en-US" sz="2600" dirty="0">
                <a:solidFill>
                  <a:schemeClr val="bg1"/>
                </a:solidFill>
              </a:rPr>
              <a:t>Thank you. Questions?</a:t>
            </a:r>
            <a:endParaRPr lang="en-US" sz="2600" dirty="0"/>
          </a:p>
        </p:txBody>
      </p:sp>
      <p:sp>
        <p:nvSpPr>
          <p:cNvPr id="4" name="Text 1"/>
          <p:cNvSpPr/>
          <p:nvPr>
            <p:ph idx="103" type="body" hasCustomPrompt="1"/>
          </p:nvPr>
        </p:nvSpPr>
        <p:spPr>
          <a:xfrm>
            <a:off x="548640" y="5394960"/>
            <a:ext cx="7315200" cy="457200"/>
          </a:xfrm>
          <a:prstGeom prst="rect">
            <a:avLst/>
          </a:prstGeom>
          <a:noFill/>
          <a:ln/>
        </p:spPr>
        <p:txBody>
          <a:bodyPr wrap="square" lIns="0" tIns="0" rIns="0" bIns="0" rtlCol="0" anchor="t"/>
          <a:lstStyle/>
          <a:p>
            <a:pPr indent="0" marL="0">
              <a:buNone/>
            </a:pPr>
            <a:r>
              <a:rPr lang="en-US" sz="1400" dirty="0">
                <a:solidFill>
                  <a:schemeClr val="bg1"/>
                </a:solidFill>
              </a:rPr>
              <a:t>Team Spring Warriors · ArchitectPoint</a:t>
            </a:r>
            <a:endParaRPr lang="en-US" sz="1400" dirty="0"/>
          </a:p>
        </p:txBody>
      </p:sp>
    </p:spTree>
  </p:cSld>
  <p:clrMapOvr>
    <a:masterClrMapping/>
  </p:clrMapOvr>
</p:sld>
</file>

<file path=ppt/theme/theme1.xml><?xml version="1.0" encoding="utf-8"?>
<a:theme xmlns:a="http://schemas.openxmlformats.org/drawingml/2006/main" name="LTM ArchitectPoint">
  <a:themeElements>
    <a:clrScheme name="LTM ArchitectPoint">
      <a:dk1>
        <a:srgbClr val="1A1A1A"/>
      </a:dk1>
      <a:lt1>
        <a:srgbClr val="FFFFFF"/>
      </a:lt1>
      <a:dk2>
        <a:srgbClr val="0E0B14"/>
      </a:dk2>
      <a:lt2>
        <a:srgbClr val="F3F4F6"/>
      </a:lt2>
      <a:accent1>
        <a:srgbClr val="F15A22"/>
      </a:accent1>
      <a:accent2>
        <a:srgbClr val="B3261E"/>
      </a:accent2>
      <a:accent3>
        <a:srgbClr val="1F2A6B"/>
      </a:accent3>
      <a:accent4>
        <a:srgbClr val="5B8DC9"/>
      </a:accent4>
      <a:accent5>
        <a:srgbClr val="2E6B3F"/>
      </a:accent5>
      <a:accent6>
        <a:srgbClr val="6B7280"/>
      </a:accent6>
      <a:hlink>
        <a:srgbClr val="F15A22"/>
      </a:hlink>
      <a:folHlink>
        <a:srgbClr val="B3261E"/>
      </a:folHlink>
    </a:clrScheme>
    <a:fontScheme name="LTM ArchitectPoi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ArchitectPoint - Project presentation</dc:title>
  <dc:subject>PptxGenJS Presentation</dc:subject>
  <dc:creator>Team Spring Warriors</dc:creator>
  <cp:lastModifiedBy>Team Spring Warriors</cp:lastModifiedBy>
  <cp:revision>1</cp:revision>
  <dcterms:created xsi:type="dcterms:W3CDTF">2026-10-12T03:26:20Z</dcterms:created>
  <dcterms:modified xsi:type="dcterms:W3CDTF">2026-10-12T03:26:20Z</dcterms:modified>
</cp:coreProperties>
</file>